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one project in two stages. Task 4 cleaned 36 years of Cairo weather, explored it, asked six questions and set the numbers to beat. Task 5 used those findings to forecast tomorrow’s mean temperature, and tested every Task 4 answer on years the model never saw. Headline: 0.94 °C typical error on 2023–2025, about 10 % better than simply repeating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tasks use the same clean daily data and the same split by years. The difference is the question. Task 4 described the past and set the bar: repeating today gives a 1.04 °C error. Task 5 built a model that beats that bar on unseen years, in every one of 13 walk-forward years, and re-tested every Task 4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4’s main insights. The year repeats the same way: a 19 °C swing, with the 2020s having the hottest summers and rain falling from October to April. Today and tomorrow are linked at 0.97; even with the season removed it is 0.77, and the link fades within about five days and is gone after a year. Rain comes in groups: 39 % chance after a rain day against 5 % normally. Every Task 5 input comes from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Task 4 results that shaped Task 5. Cairo is warming, nights faster than days, and the test years 2023–2025 are the warmest, so a model trained on earlier years may run cold. Very hot days jumped from 7 in 2013 to 38 in 2024, but one or two extreme years are not yet a trend. And the rain record doubles at one single year, 2016, while storm strength stays flat: most likely a change in the data, so all rain work uses 2016–2025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ended with simple forecasts that need no learning. For temperature, repeating today wins clearly: 1.07 °C on validation and 1.04 °C on test. Last year’s same day is mostly luck. For rain, “always no rain” reaches 96 % accuracy while catching zero rain days, which is why rain is judged by hits, misses and F1. These two numbers are the bars Task 5 has to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Task 4 questions and their answers. H3 was the key finding: the 2016 rain jump is most likely a change in the data. H5 is the one Task 5 sharpens most: Task 4 looked at each sign alone, and every correlation with a coming storm was below 0.06. Every answer came from the same 36 years it describes; Task 5 tests them by forecasting years the model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thing Task 4 taught me is that the exploration is not a side step: it writes the model. The decomposition shows a huge fixed season, a slow trend and about 2.2 °C of daily noise, which is all a model really has to learn. Persistence became the bar, extremes stayed in the data, the 2016 rain change fixed the rain years, and the leakage I found in my own normals made every Task 5 normal and scaler use training years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did not change; the question did. Task 4 described, Task 5 predicts. To predict honestly, normals had to come from training years only, the validation had to repeat over many years, and the test years had to be touched once. The storm question moved from one sign at a time to signs together, and the extremes Task 4 only counted became the days on which Task 5 judges its forecasts. Because the split stays the same, every number can be compared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developed the questions. Each Task 4 question taught me something about asking: fix one definition, combine weak signs, ask about events frequent enough to learn from, choose the days you judge on in advance, and ask what can be known before it happens. Each lesson turned into a sharper question with a measurable answer. H6 could not be sharpened: Khamasin needs wind direction, which is missing after 2012, so I only ask what the daily data can show. The next three slides open the storm, heat and cold-bias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asked whether storms have a signature and tested each sign alone; every correlation was below 0.06, so the answer was “almost no warning”. In Task 5 I asked the sharper question: what is the chance of a storm tomorrow for each combination of signs today? Rain today alone raises it 15 times; rain plus falling pressure raises it about 30 times, to one day in five, covering 10 of the 25 storms. Humidity adds nothing once it rains. A dry day gives no warning at all. A logistic model trained on only 15 storms was not better than this readable rule, so the rule is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answered H2 with “partly”. With Task 4’s own fixed definition, max above 40.1 °C, Cairo had 16 to 19 very hot days a year in every period up to 2022, and 31 a year in 2023–2025. So the sharper question became useful: can we warn of such a day in advance? A logistic regression trained on 1990–2019, with its threshold picked on 2020–2022, catches 72 of 93 test days one day ahead against 57 for persistence, and still beats persistence two and three days ahead. It turns two Task 4 answers, more hot days and heat builds up, into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warned the test years are the warmest, so I checked for a cold bias. Steps 8 and 9 first suggested the model is almost 0.9 °C too cold on the hottest days and 2 °C too cold on the first day of heat waves. That was a trap: those days were chosen because they turned out hotter than expected, so any forecast looks too cold on them. Judged on hot days chosen in advance, the bias is only 0.11 to 0.16 °C, the same as on all days. Telling the model a warm spell is running changed nothing. I corrected my own earlier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Task 5 pipeline on one slide, each step with its headline result. Steps 1 to 6 build and choose the model on the training and validation years; step 7 repeats the check year by year; step 8 is the single run on the test years; steps 9 to 12 test the Task 4 questions. The rules at the bottom are what make the numbers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loads the clean Task 4 data and sets a daily frequency; it adds no new gaps. No missing values in the used columns, no impossible values. The rolling 31-day z-score finds sudden warm days that a fixed threshold misses, because no single temperature is extreme for the whole year; they are kept, because these are exactly the days the project wants to forecast. Rain starts in 2016 because the rain data changed that year, and rain tomorrow is only 3.9 to 6 % of days, so it is judged by hits and F1, never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tests on the training years only. ADF rejects a unit root for the raw, the season-free and the differenced series. KPSS with a constant accepts the raw series but rejects the season-free one, and KPSS with a trend accepts all three. That pattern means stationary around a trend: once the 19 °C yearly wave is removed, the slow warming becomes visible, which is what the red line in the figure shows. So no differencing, the season as inputs, and a trend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seasonal ARIMA would need a season of 365 days, far too heavy to fit on almost 11,000 days. Instead the year goes in as sine and cosine waves. One pair already explains 88 % of the daily temperature; three pairs are enough, and a fourth only follows noise. In the figure, the red line is the calendar plus the trend for 2019: it follows the year closely, and what is left are the day-to-day swings, biggest in spring. The learned trend, +0.27 °C per decade, matches Task 4’s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season and trend removed, the ACF falls slowly while the PACF has three clear bars and then stops. That is the textbook sign of an AR(3) process: today depends directly on the last three days, and the lag-1 value matches Task 4. I wrote this choice down before running auto_arima, so the comparison is honest. auto_arima added three moving-average terms that catch the weeks-long warm and cold spells; the AIC likes them, the BIC barely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are fitted on 1990–2019: M1 without the season, M2 the manual choice, M3 auto_arima’s, and M4 which adds yesterday’s humidity and pressure. Adding the season lowers the AIC by about 1,300, and M2 and M4 pass Ljung-Box at lag 7; M1 fails, and M3 fails only because six terms leave one degree of freedom. The plots show residuals centred on zero with a flat correlogram, but heavy tails: big misses happen more often than a normal curve expects, and they cluster in spring. Yesterday’s pressure helps in training, humidity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keeps what it learned on 1990–2019 and forecasts tomorrow for every day of 2020–2022, using only the days up to today. The gain over persistence is small but real: the model knows a day warmer than normal tends to move back toward normal, and persistence does not. The three seasonal models are only 0.004 °C apart, so the rule I wrote before seeing the scores picks the simplest one, M2. The March–April zoom shows the main weakness: the first day of a sudden jump is missed, then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hides the seasons, so the errors are split by month. Spring is the hardest, exactly as Task 4 said: errors of 1.25 to 1.74 °C from March to June against about 0.6 °C from July to October. The 95 % interval is right on average, 94.3 %, but it has the same 5.6 °C width all year while April misses are about three times August’s, so it is too narrow in spring and too wide in summer. There is no cold bias on the validation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Forecasting further ahead answers sharper question Q1: how far ahead is the forecast useful? The model beats persistence at every horizon and beats the calendar normal up to about six days ahead. From day 7 the model and climatology are equal, because the weather’s memory lasts only a few days; after that the best guess is the date, and the model knows it. Persistence does not, so it keeps getting worse. This sets the limit for any warning built on daily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validation period gives one number, and one number can be luck. So the check is repeated one year at a time: refit on every year before, forecast the next year, as the model would really be used. On three folds the models stay within 0.003 °C of each other and beat persistence every year. Run on 13 years, M2 beats persistence in all 13, by 8.8 % on average. Calm years leave less to gain; hard years like 2021 are hard for every method. The test years are still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run on the test years, fixed in advance: M2, refit on 1990–2022. It forecasts tomorrow’s mean temperature with a typical error of 0.94 °C, 9.5 % below persistence, and wins in each of 2023, 2024 and 2025, matching the 8.8 % from the walk-forward. The interval holds overall but is too narrow in spring, where the biggest misses are, for example 12 May 2025. There is a small overall cold bias of 0.13 °C in every year: the warming of 2023–2025 running ahead of the learned trend, as Task 4 warned.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measures the chosen model on exactly Task 4’s events. On ordinary days it beats persistence, 0.93 against 1.04 °C. On the 13 storm days of 2020–2025 its error jumps to 1.65 °C and persistence is better; the day before and the day after are back to normal. The March 2020 storm, Task 4’s lowest pressure in 36 years, shows it day by day: the model saw the warm-up of 11 March and expected it to continue, missed the storm day by 2.95 °C, and was right again the next day. Heat-wave first days are worse still, 2.06 °C, which the cold-bias slide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Task 4’s storm score as a label of how unusual each day was, the error is U-shaped: lowest in the middle, higher for the stormiest days and highest for the calmest ones. A low storm score means rising pressure, a jump in max temperature and dry air: the sudden warm, dry pattern of heat waves. It looks like Task 4’s Khamasin days, but that definition needs a south wind, and wind direction is missing after 2012, so H6 cannot be tested here. On the rain side, 13 of the 25 storms came after a rain day, so “rain today” is the only warning daily data gives for about half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bonus networks get a fair shot: the last 30 days plus the day of year, a scaler fitted on training years only, early stopping on 2017–2019, then a refit on 1990–2022 for the test. Both stop learning within a few epochs. On test the LSTM is lowest, 0.929 °C, but only 0.011 °C below M2, and its forecasts differ from M2 by just 0.21 °C a day: they learned the same thing, recent days plus a pull back toward normal. With one daily series and a three-day memory there is little left for a network to find, so M2 stays the chosen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and baseline on the same 1,095 test days. Every model beats every baseline; the six models sit within 0.06 °C, and the only clear gap is the model without the season, M1. So knowing where “normal” is matters far more than which model learns the last few days. On the 35 Task 4 event days the order flips and persistence is best, but those days are picked by what happened, which favours forecasts that lean less toward normal, as the cold-bias slide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4 question, answered twice. H1: the warming is real and still running ahead of the learned trend, since forecasts for 2023–2025 are 0.13 °C too cold in every year; nights versus days is not tested because the target is the daily mean. H2 is stronger: with Task 4’s own definition, very hot days almost doubled. H3 is used as a decision, not re-tested. H4: rarer, with cold years still possible. H5 is refined: storms after rain give a one-day warning, storms after a dry day give none. H6 cannot be tested after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Task 5 represents the target more accurately than Task 4. First, it is judged on the future: the test years were used once. Second, no future value leaks into any normal, scaler or model, which Task 4’s EDA normals did. Third, the result is repeated over 13 years, so it is not one lucky number. Fourth, every answer becomes an error in degrees with an interval, by month and by event. Fifth, the verdicts are fair: days are chosen in advance, which turned a 0.88 °C “bias” into 0.11. Sixth, signs are combined, which turned “no warning” into a 30-fold storm risk after rain and falling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Task 5 taught me. A simple model I can explain was as good as a neural network. Writing the decision rule before seeing the scores kept the test honest. A good average hides the days that matter: storms and heat waves are where every model fails. How I choose the days I judge on decides the verdict, as the cold-bias trap showed. Rare events cannot train a model, so for storms a readable rule beats a fitted one, and heat, which is frequent, is where a warning works. And a forecast has limits: about a week, and a spring interval that is too narrow.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ended with “the calendar and yesterday carry most of the signal”. Task 5 turned that into a model and proved it on years it never saw: 0.94 °C, about 10 % better than repeating today, in every test year. It also turned two Task 4 answers into warnings, for very hot days and for storms that start after rain, and was honest about where forecasts fail: sudden jumps, spring, and storms that start on a dry day. Next steps are a season-dependent interval, finer data for sudden changes, and checking the warnings on more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EEE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88059"/>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27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39899"/>
            <a:ext cx="10566400" cy="4305301"/>
          </a:xfrm>
          <a:prstGeom prst="rect">
            <a:avLst/>
          </a:prstGeom>
          <a:noFill/>
          <a:ln/>
        </p:spPr>
        <p:txBody>
          <a:bodyPr wrap="square" lIns="0" tIns="0" rIns="0" bIns="0" rtlCol="0" anchor="t"/>
          <a:lstStyle>
            <a:lvl1pPr algn="l" indent="0" marL="0">
              <a:lnSpc>
                <a:spcPct val="140000"/>
              </a:lnSpc>
              <a:buNone/>
              <a:defRPr lang="en-US" sz="1600" dirty="0">
                <a:solidFill>
                  <a:srgbClr val="1B27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EE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88059"/>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27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39899"/>
            <a:ext cx="10566400" cy="4305301"/>
          </a:xfrm>
          <a:prstGeom prst="rect">
            <a:avLst/>
          </a:prstGeom>
          <a:noFill/>
          <a:ln/>
        </p:spPr>
        <p:txBody>
          <a:bodyPr wrap="square" lIns="0" tIns="0" rIns="0" bIns="0" rtlCol="0" anchor="t"/>
          <a:lstStyle>
            <a:lvl1pPr algn="l" indent="0" marL="0">
              <a:lnSpc>
                <a:spcPct val="140000"/>
              </a:lnSpc>
              <a:buNone/>
              <a:defRPr lang="en-US" sz="1600" dirty="0">
                <a:solidFill>
                  <a:srgbClr val="1B27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A"/>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17685" r="17685" t="0" b="0"/>
          <a:stretch/>
        </p:blipFill>
        <p:spPr>
          <a:xfrm>
            <a:off x="7302500" y="0"/>
            <a:ext cx="4889500" cy="6858000"/>
          </a:xfrm>
          <a:prstGeom prst="rect">
            <a:avLst/>
          </a:prstGeom>
        </p:spPr>
      </p:pic>
      <p:sp>
        <p:nvSpPr>
          <p:cNvPr id="3" name="Shape 0"/>
          <p:cNvSpPr/>
          <p:nvPr/>
        </p:nvSpPr>
        <p:spPr>
          <a:xfrm>
            <a:off x="7302500" y="0"/>
            <a:ext cx="2032000" cy="6858000"/>
          </a:xfrm>
          <a:prstGeom prst="rect">
            <a:avLst/>
          </a:prstGeom>
          <a:gradFill rotWithShape="1">
            <a:gsLst>
              <a:gs pos="0">
                <a:srgbClr val="14263A"/>
              </a:gs>
              <a:gs pos="100000">
                <a:srgbClr val="14263A">
                  <a:alpha val="0"/>
                </a:srgbClr>
              </a:gs>
            </a:gsLst>
            <a:lin ang="0" scaled="0"/>
          </a:gradFill>
          <a:ln/>
        </p:spPr>
      </p:sp>
      <p:sp>
        <p:nvSpPr>
          <p:cNvPr id="4" name="Text 1"/>
          <p:cNvSpPr/>
          <p:nvPr/>
        </p:nvSpPr>
        <p:spPr>
          <a:xfrm>
            <a:off x="812800" y="812800"/>
            <a:ext cx="62788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CAIRO · 1990–2025 · TASK 4 → TASK 5</a:t>
            </a:r>
            <a:endParaRPr lang="en-US" sz="1200" dirty="0"/>
          </a:p>
        </p:txBody>
      </p:sp>
      <p:sp>
        <p:nvSpPr>
          <p:cNvPr id="5" name="Text 2"/>
          <p:cNvSpPr/>
          <p:nvPr>
            <p:ph type="title"/>
          </p:nvPr>
        </p:nvSpPr>
        <p:spPr>
          <a:xfrm>
            <a:off x="812800" y="1203960"/>
            <a:ext cx="6278880" cy="194564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FFDF8"/>
                </a:solidFill>
                <a:latin typeface="Source Serif 4" pitchFamily="18" charset="0"/>
                <a:ea typeface="Source Serif 4" pitchFamily="18" charset="-122"/>
                <a:cs typeface="Source Serif 4" pitchFamily="18" charset="-120"/>
              </a:rPr>
              <a:t>From exploring the past to forecasting tomorrow</a:t>
            </a:r>
            <a:endParaRPr lang="en-US" sz="4800" dirty="0"/>
          </a:p>
        </p:txBody>
      </p:sp>
      <p:sp>
        <p:nvSpPr>
          <p:cNvPr id="6" name="Text 3"/>
          <p:cNvSpPr/>
          <p:nvPr/>
        </p:nvSpPr>
        <p:spPr>
          <a:xfrm>
            <a:off x="812800" y="3302000"/>
            <a:ext cx="62788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8"/>
                </a:solidFill>
                <a:latin typeface="IBM Plex Sans" pitchFamily="34" charset="0"/>
                <a:ea typeface="IBM Plex Sans" pitchFamily="34" charset="-122"/>
                <a:cs typeface="IBM Plex Sans" pitchFamily="34" charset="-120"/>
              </a:rPr>
              <a:t>36 years of daily NASA data: what Task 4 found, what Task 5 forecast, and what each one taught me.</a:t>
            </a:r>
            <a:endParaRPr lang="en-US" sz="1400" dirty="0"/>
          </a:p>
        </p:txBody>
      </p:sp>
      <p:sp>
        <p:nvSpPr>
          <p:cNvPr id="7" name="Shape 4"/>
          <p:cNvSpPr/>
          <p:nvPr/>
        </p:nvSpPr>
        <p:spPr>
          <a:xfrm>
            <a:off x="815975" y="4082415"/>
            <a:ext cx="2965450" cy="1009650"/>
          </a:xfrm>
          <a:prstGeom prst="roundRect">
            <a:avLst>
              <a:gd name="adj" fmla="val 5975"/>
            </a:avLst>
          </a:prstGeom>
          <a:solidFill>
            <a:srgbClr val="1E3550"/>
          </a:solidFill>
          <a:ln w="6350">
            <a:solidFill>
              <a:srgbClr val="34506E"/>
            </a:solidFill>
            <a:prstDash val="solid"/>
          </a:ln>
        </p:spPr>
      </p:sp>
      <p:sp>
        <p:nvSpPr>
          <p:cNvPr id="8" name="Text 5"/>
          <p:cNvSpPr/>
          <p:nvPr/>
        </p:nvSpPr>
        <p:spPr>
          <a:xfrm>
            <a:off x="982980" y="4224020"/>
            <a:ext cx="271038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TASK 4 · EXPLORE</a:t>
            </a:r>
            <a:endParaRPr lang="en-US" sz="1200" dirty="0"/>
          </a:p>
        </p:txBody>
      </p:sp>
      <p:sp>
        <p:nvSpPr>
          <p:cNvPr id="9" name="Text 6"/>
          <p:cNvSpPr/>
          <p:nvPr/>
        </p:nvSpPr>
        <p:spPr>
          <a:xfrm>
            <a:off x="982980" y="4488180"/>
            <a:ext cx="2710383"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FFDF8"/>
                </a:solidFill>
                <a:latin typeface="IBM Plex Sans" pitchFamily="34" charset="0"/>
                <a:ea typeface="IBM Plex Sans" pitchFamily="34" charset="-122"/>
                <a:cs typeface="IBM Plex Sans" pitchFamily="34" charset="-120"/>
              </a:rPr>
              <a:t>Patterns, six questions and the numbers to beat</a:t>
            </a:r>
            <a:endParaRPr lang="en-US" sz="1400" dirty="0"/>
          </a:p>
        </p:txBody>
      </p:sp>
      <p:sp>
        <p:nvSpPr>
          <p:cNvPr id="10" name="Shape 7"/>
          <p:cNvSpPr/>
          <p:nvPr/>
        </p:nvSpPr>
        <p:spPr>
          <a:xfrm>
            <a:off x="3940175" y="4082415"/>
            <a:ext cx="2965450" cy="1009650"/>
          </a:xfrm>
          <a:prstGeom prst="roundRect">
            <a:avLst>
              <a:gd name="adj" fmla="val 5975"/>
            </a:avLst>
          </a:prstGeom>
          <a:solidFill>
            <a:srgbClr val="1E3550"/>
          </a:solidFill>
          <a:ln w="6350">
            <a:solidFill>
              <a:srgbClr val="34506E"/>
            </a:solidFill>
            <a:prstDash val="solid"/>
          </a:ln>
        </p:spPr>
      </p:sp>
      <p:sp>
        <p:nvSpPr>
          <p:cNvPr id="11" name="Text 8"/>
          <p:cNvSpPr/>
          <p:nvPr/>
        </p:nvSpPr>
        <p:spPr>
          <a:xfrm>
            <a:off x="4107180" y="4224020"/>
            <a:ext cx="271038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8F2"/>
                </a:solidFill>
                <a:latin typeface="IBM Plex Sans" pitchFamily="34" charset="0"/>
                <a:ea typeface="IBM Plex Sans" pitchFamily="34" charset="-122"/>
                <a:cs typeface="IBM Plex Sans" pitchFamily="34" charset="-120"/>
              </a:rPr>
              <a:t>TASK 5 · FORECAST</a:t>
            </a:r>
            <a:endParaRPr lang="en-US" sz="1200" dirty="0"/>
          </a:p>
        </p:txBody>
      </p:sp>
      <p:sp>
        <p:nvSpPr>
          <p:cNvPr id="12" name="Text 9"/>
          <p:cNvSpPr/>
          <p:nvPr/>
        </p:nvSpPr>
        <p:spPr>
          <a:xfrm>
            <a:off x="4107180" y="4488180"/>
            <a:ext cx="2710383"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FFDF8"/>
                </a:solidFill>
                <a:latin typeface="IBM Plex Sans" pitchFamily="34" charset="0"/>
                <a:ea typeface="IBM Plex Sans" pitchFamily="34" charset="-122"/>
                <a:cs typeface="IBM Plex Sans" pitchFamily="34" charset="-120"/>
              </a:rPr>
              <a:t>Tomorrow’s temperature, tested on unseen years</a:t>
            </a:r>
            <a:endParaRPr lang="en-US" sz="1400" dirty="0"/>
          </a:p>
        </p:txBody>
      </p:sp>
      <p:sp>
        <p:nvSpPr>
          <p:cNvPr id="13" name="Text 10"/>
          <p:cNvSpPr/>
          <p:nvPr/>
        </p:nvSpPr>
        <p:spPr>
          <a:xfrm>
            <a:off x="812800" y="6187440"/>
            <a:ext cx="62788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FCBD8"/>
                </a:solidFill>
                <a:latin typeface="IBM Plex Sans" pitchFamily="34" charset="0"/>
                <a:ea typeface="IBM Plex Sans" pitchFamily="34" charset="-122"/>
                <a:cs typeface="IBM Plex Sans" pitchFamily="34" charset="-120"/>
              </a:rPr>
              <a:t>Esraa</a:t>
            </a:r>
            <a:r>
              <a:rPr lang="en-US" sz="1200" dirty="0">
                <a:solidFill>
                  <a:srgbClr val="BFCBD8"/>
                </a:solidFill>
                <a:latin typeface="IBM Plex Sans" pitchFamily="34" charset="0"/>
                <a:ea typeface="IBM Plex Sans" pitchFamily="34" charset="-122"/>
                <a:cs typeface="IBM Plex Sans" pitchFamily="34" charset="-120"/>
              </a:rPr>
              <a:t> · Cairo weather prediction · Right: every day since 1990, by max temperature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THE BIG PICTURE · TASK 4 VS TASK 5</a:t>
            </a:r>
            <a:endParaRPr lang="en-US" sz="1200" dirty="0"/>
          </a:p>
        </p:txBody>
      </p:sp>
      <p:sp>
        <p:nvSpPr>
          <p:cNvPr id="3" name="Text 1"/>
          <p:cNvSpPr/>
          <p:nvPr>
            <p:ph type="title"/>
          </p:nvPr>
        </p:nvSpPr>
        <p:spPr>
          <a:xfrm>
            <a:off x="812800" y="9880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Same data, a sharper question: tomorrow</a:t>
            </a:r>
            <a:endParaRPr lang="en-US" sz="3200" dirty="0"/>
          </a:p>
        </p:txBody>
      </p:sp>
      <p:sp>
        <p:nvSpPr>
          <p:cNvPr id="4" name="Shape 2"/>
          <p:cNvSpPr/>
          <p:nvPr/>
        </p:nvSpPr>
        <p:spPr>
          <a:xfrm>
            <a:off x="815975" y="1641475"/>
            <a:ext cx="4972050" cy="3031490"/>
          </a:xfrm>
          <a:prstGeom prst="roundRect">
            <a:avLst>
              <a:gd name="adj" fmla="val 2409"/>
            </a:avLst>
          </a:prstGeom>
          <a:solidFill>
            <a:srgbClr val="FFFDF8"/>
          </a:solidFill>
          <a:ln w="6350">
            <a:solidFill>
              <a:srgbClr val="E3DACB"/>
            </a:solidFill>
            <a:prstDash val="solid"/>
          </a:ln>
        </p:spPr>
      </p:sp>
      <p:sp>
        <p:nvSpPr>
          <p:cNvPr id="5" name="Text 3"/>
          <p:cNvSpPr/>
          <p:nvPr/>
        </p:nvSpPr>
        <p:spPr>
          <a:xfrm>
            <a:off x="982980" y="1783080"/>
            <a:ext cx="47771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TASK 4 · UNDERSTAND THE PAST</a:t>
            </a:r>
            <a:endParaRPr lang="en-US" sz="1200" dirty="0"/>
          </a:p>
        </p:txBody>
      </p:sp>
      <p:sp>
        <p:nvSpPr>
          <p:cNvPr id="6" name="Text 4"/>
          <p:cNvSpPr/>
          <p:nvPr/>
        </p:nvSpPr>
        <p:spPr>
          <a:xfrm>
            <a:off x="982980" y="2072640"/>
            <a:ext cx="47771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6b</a:t>
            </a:r>
            <a:r>
              <a:rPr lang="en-US" sz="1200" dirty="0">
                <a:solidFill>
                  <a:srgbClr val="5E6672"/>
                </a:solidFill>
                <a:latin typeface="IBM Plex Sans" pitchFamily="34" charset="0"/>
                <a:ea typeface="IBM Plex Sans" pitchFamily="34" charset="-122"/>
                <a:cs typeface="IBM Plex Sans" pitchFamily="34" charset="-120"/>
              </a:rPr>
              <a:t> · Warmer or colder than normal, 1990–2025</a:t>
            </a:r>
            <a:endParaRPr lang="en-US" sz="1200" dirty="0"/>
          </a:p>
        </p:txBody>
      </p:sp>
      <p:pic>
        <p:nvPicPr>
          <p:cNvPr id="7" name="Image 0" descr="Task 4 figure: daily temperature anomaly as a 30-day mean, 1990–2025">    </p:cNvPr>
          <p:cNvPicPr>
            <a:picLocks noChangeAspect="1"/>
          </p:cNvPicPr>
          <p:nvPr/>
        </p:nvPicPr>
        <p:blipFill>
          <a:blip r:embed="rId1"/>
          <a:srcRect l="-7141" r="-7141" t="0" b="0"/>
          <a:stretch/>
        </p:blipFill>
        <p:spPr>
          <a:xfrm>
            <a:off x="982980" y="2362200"/>
            <a:ext cx="4572000" cy="1174750"/>
          </a:xfrm>
          <a:prstGeom prst="rect">
            <a:avLst/>
          </a:prstGeom>
        </p:spPr>
      </p:pic>
      <p:sp>
        <p:nvSpPr>
          <p:cNvPr id="8" name="Text 5"/>
          <p:cNvSpPr/>
          <p:nvPr/>
        </p:nvSpPr>
        <p:spPr>
          <a:xfrm>
            <a:off x="982980" y="3615690"/>
            <a:ext cx="1281668"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1.04 °C</a:t>
            </a:r>
            <a:endParaRPr lang="en-US" sz="2800" dirty="0"/>
          </a:p>
        </p:txBody>
      </p:sp>
      <p:sp>
        <p:nvSpPr>
          <p:cNvPr id="9" name="Text 6"/>
          <p:cNvSpPr/>
          <p:nvPr/>
        </p:nvSpPr>
        <p:spPr>
          <a:xfrm>
            <a:off x="2264648" y="3613150"/>
            <a:ext cx="3457063"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the number to beat: “tomorrow = today” on 2023–2025</a:t>
            </a:r>
            <a:endParaRPr lang="en-US" sz="1200" dirty="0"/>
          </a:p>
        </p:txBody>
      </p:sp>
      <p:sp>
        <p:nvSpPr>
          <p:cNvPr id="10" name="Text 7"/>
          <p:cNvSpPr/>
          <p:nvPr/>
        </p:nvSpPr>
        <p:spPr>
          <a:xfrm>
            <a:off x="982980" y="4085590"/>
            <a:ext cx="4777181"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4A5563"/>
                </a:solidFill>
                <a:latin typeface="IBM Plex Sans" pitchFamily="34" charset="0"/>
                <a:ea typeface="IBM Plex Sans" pitchFamily="34" charset="-122"/>
                <a:cs typeface="IBM Plex Sans" pitchFamily="34" charset="-120"/>
              </a:rPr>
              <a:t>Describe</a:t>
            </a:r>
            <a:r>
              <a:rPr lang="en-US" sz="1300" dirty="0">
                <a:solidFill>
                  <a:srgbClr val="4A5563"/>
                </a:solidFill>
                <a:latin typeface="IBM Plex Sans" pitchFamily="34" charset="0"/>
                <a:ea typeface="IBM Plex Sans" pitchFamily="34" charset="-122"/>
                <a:cs typeface="IBM Plex Sans" pitchFamily="34" charset="-120"/>
              </a:rPr>
              <a:t> 36 years and answer six questions from the same years</a:t>
            </a:r>
            <a:endParaRPr lang="en-US" sz="1300" dirty="0"/>
          </a:p>
        </p:txBody>
      </p:sp>
      <p:pic>
        <p:nvPicPr>
          <p:cNvPr id="11" name="Image 1" descr="arrow-right">    </p:cNvPr>
          <p:cNvPicPr>
            <a:picLocks noChangeAspect="1"/>
          </p:cNvPicPr>
          <p:nvPr/>
        </p:nvPicPr>
        <p:blipFill>
          <a:blip r:embed="rId2"/>
          <a:srcRect l="0" r="0" t="0" b="0"/>
          <a:stretch/>
        </p:blipFill>
        <p:spPr>
          <a:xfrm>
            <a:off x="5918200" y="3061970"/>
            <a:ext cx="355600" cy="190500"/>
          </a:xfrm>
          <a:prstGeom prst="rect">
            <a:avLst/>
          </a:prstGeom>
        </p:spPr>
      </p:pic>
      <p:sp>
        <p:nvSpPr>
          <p:cNvPr id="12" name="Shape 8"/>
          <p:cNvSpPr/>
          <p:nvPr/>
        </p:nvSpPr>
        <p:spPr>
          <a:xfrm>
            <a:off x="6403975" y="1755458"/>
            <a:ext cx="4972050" cy="2803525"/>
          </a:xfrm>
          <a:prstGeom prst="roundRect">
            <a:avLst>
              <a:gd name="adj" fmla="val 2605"/>
            </a:avLst>
          </a:prstGeom>
          <a:solidFill>
            <a:srgbClr val="FFFDF8"/>
          </a:solidFill>
          <a:ln w="6350">
            <a:solidFill>
              <a:srgbClr val="E3DACB"/>
            </a:solidFill>
            <a:prstDash val="solid"/>
          </a:ln>
        </p:spPr>
      </p:sp>
      <p:sp>
        <p:nvSpPr>
          <p:cNvPr id="13" name="Text 9"/>
          <p:cNvSpPr/>
          <p:nvPr/>
        </p:nvSpPr>
        <p:spPr>
          <a:xfrm>
            <a:off x="6570980" y="1897063"/>
            <a:ext cx="47771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B0"/>
                </a:solidFill>
                <a:latin typeface="IBM Plex Sans" pitchFamily="34" charset="0"/>
                <a:ea typeface="IBM Plex Sans" pitchFamily="34" charset="-122"/>
                <a:cs typeface="IBM Plex Sans" pitchFamily="34" charset="-120"/>
              </a:rPr>
              <a:t>TASK 5 · FORECAST TOMORROW</a:t>
            </a:r>
            <a:endParaRPr lang="en-US" sz="1200" dirty="0"/>
          </a:p>
        </p:txBody>
      </p:sp>
      <p:sp>
        <p:nvSpPr>
          <p:cNvPr id="14" name="Text 10"/>
          <p:cNvSpPr/>
          <p:nvPr/>
        </p:nvSpPr>
        <p:spPr>
          <a:xfrm>
            <a:off x="6570980" y="2186622"/>
            <a:ext cx="47771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22</a:t>
            </a:r>
            <a:r>
              <a:rPr lang="en-US" sz="1200" dirty="0">
                <a:solidFill>
                  <a:srgbClr val="5E6672"/>
                </a:solidFill>
                <a:latin typeface="IBM Plex Sans" pitchFamily="34" charset="0"/>
                <a:ea typeface="IBM Plex Sans" pitchFamily="34" charset="-122"/>
                <a:cs typeface="IBM Plex Sans" pitchFamily="34" charset="-120"/>
              </a:rPr>
              <a:t> · M2 vs “tomorrow = today”, 13 unseen years</a:t>
            </a:r>
            <a:endParaRPr lang="en-US" sz="1200" dirty="0"/>
          </a:p>
        </p:txBody>
      </p:sp>
      <p:pic>
        <p:nvPicPr>
          <p:cNvPr id="15" name="Image 2" descr="Walk-forward MAE of M2 against persistence for each test year 2010–2022">    </p:cNvPr>
          <p:cNvPicPr>
            <a:picLocks noChangeAspect="1"/>
          </p:cNvPicPr>
          <p:nvPr/>
        </p:nvPicPr>
        <p:blipFill>
          <a:blip r:embed="rId3"/>
          <a:srcRect l="-17869" r="-17869" t="0" b="0"/>
          <a:stretch/>
        </p:blipFill>
        <p:spPr>
          <a:xfrm>
            <a:off x="6570980" y="2476183"/>
            <a:ext cx="4572000" cy="1174750"/>
          </a:xfrm>
          <a:prstGeom prst="rect">
            <a:avLst/>
          </a:prstGeom>
        </p:spPr>
      </p:pic>
      <p:sp>
        <p:nvSpPr>
          <p:cNvPr id="16" name="Text 11"/>
          <p:cNvSpPr/>
          <p:nvPr/>
        </p:nvSpPr>
        <p:spPr>
          <a:xfrm>
            <a:off x="6570980" y="3727133"/>
            <a:ext cx="148399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0.940 °C</a:t>
            </a:r>
            <a:endParaRPr lang="en-US" sz="2800" dirty="0"/>
          </a:p>
        </p:txBody>
      </p:sp>
      <p:sp>
        <p:nvSpPr>
          <p:cNvPr id="17" name="Text 12"/>
          <p:cNvSpPr/>
          <p:nvPr/>
        </p:nvSpPr>
        <p:spPr>
          <a:xfrm>
            <a:off x="8054975" y="3823653"/>
            <a:ext cx="3281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M2 on 2023–2025: 9.5 % below the bar</a:t>
            </a:r>
            <a:endParaRPr lang="en-US" sz="1200" dirty="0"/>
          </a:p>
        </p:txBody>
      </p:sp>
      <p:sp>
        <p:nvSpPr>
          <p:cNvPr id="18" name="Text 13"/>
          <p:cNvSpPr/>
          <p:nvPr/>
        </p:nvSpPr>
        <p:spPr>
          <a:xfrm>
            <a:off x="6570980" y="4194493"/>
            <a:ext cx="4801870"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4A5563"/>
                </a:solidFill>
                <a:latin typeface="IBM Plex Sans" pitchFamily="34" charset="0"/>
                <a:ea typeface="IBM Plex Sans" pitchFamily="34" charset="-122"/>
                <a:cs typeface="IBM Plex Sans" pitchFamily="34" charset="-120"/>
              </a:rPr>
              <a:t>Predict</a:t>
            </a:r>
            <a:r>
              <a:rPr lang="en-US" sz="1300" dirty="0">
                <a:solidFill>
                  <a:srgbClr val="4A5563"/>
                </a:solidFill>
                <a:latin typeface="IBM Plex Sans" pitchFamily="34" charset="0"/>
                <a:ea typeface="IBM Plex Sans" pitchFamily="34" charset="-122"/>
                <a:cs typeface="IBM Plex Sans" pitchFamily="34" charset="-120"/>
              </a:rPr>
              <a:t> from today only, and check every answer on the future</a:t>
            </a:r>
            <a:endParaRPr lang="en-US" sz="1300" dirty="0"/>
          </a:p>
        </p:txBody>
      </p:sp>
      <p:sp>
        <p:nvSpPr>
          <p:cNvPr id="19" name="Shape 14"/>
          <p:cNvSpPr/>
          <p:nvPr/>
        </p:nvSpPr>
        <p:spPr>
          <a:xfrm>
            <a:off x="812800" y="4879340"/>
            <a:ext cx="10566400" cy="476885"/>
          </a:xfrm>
          <a:prstGeom prst="roundRect">
            <a:avLst>
              <a:gd name="adj" fmla="val 15979"/>
            </a:avLst>
          </a:prstGeom>
          <a:solidFill>
            <a:srgbClr val="14263A"/>
          </a:solidFill>
          <a:ln/>
        </p:spPr>
      </p:sp>
      <p:sp>
        <p:nvSpPr>
          <p:cNvPr id="20" name="Text 15"/>
          <p:cNvSpPr/>
          <p:nvPr/>
        </p:nvSpPr>
        <p:spPr>
          <a:xfrm>
            <a:off x="990600" y="5011103"/>
            <a:ext cx="9784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1" name="Text 16"/>
          <p:cNvSpPr/>
          <p:nvPr/>
        </p:nvSpPr>
        <p:spPr>
          <a:xfrm>
            <a:off x="1983740" y="5006340"/>
            <a:ext cx="7359015"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Task 4 asked what happened; Task 5 asks what can be known before it happens.</a:t>
            </a:r>
            <a:endParaRPr lang="en-US" sz="1300" dirty="0"/>
          </a:p>
        </p:txBody>
      </p:sp>
      <p:sp>
        <p:nvSpPr>
          <p:cNvPr id="22" name="Text 17"/>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3" name="Text 18"/>
          <p:cNvSpPr/>
          <p:nvPr/>
        </p:nvSpPr>
        <p:spPr>
          <a:xfrm>
            <a:off x="6146800" y="6238241"/>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02 / 31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4 RECAP · INSIGHTS</a:t>
            </a:r>
            <a:endParaRPr lang="en-US" sz="1200" dirty="0"/>
          </a:p>
        </p:txBody>
      </p:sp>
      <p:sp>
        <p:nvSpPr>
          <p:cNvPr id="3" name="Text 1"/>
          <p:cNvSpPr/>
          <p:nvPr>
            <p:ph type="title"/>
          </p:nvPr>
        </p:nvSpPr>
        <p:spPr>
          <a:xfrm>
            <a:off x="812800" y="9880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The season rules, and memory is short</a:t>
            </a:r>
            <a:endParaRPr lang="en-US" sz="3200" dirty="0"/>
          </a:p>
        </p:txBody>
      </p:sp>
      <p:sp>
        <p:nvSpPr>
          <p:cNvPr id="4" name="Shape 2"/>
          <p:cNvSpPr/>
          <p:nvPr/>
        </p:nvSpPr>
        <p:spPr>
          <a:xfrm>
            <a:off x="815975" y="1641475"/>
            <a:ext cx="5708650" cy="3925570"/>
          </a:xfrm>
          <a:prstGeom prst="roundRect">
            <a:avLst>
              <a:gd name="adj" fmla="val 1860"/>
            </a:avLst>
          </a:prstGeom>
          <a:solidFill>
            <a:srgbClr val="FFFDF8"/>
          </a:solidFill>
          <a:ln w="6350">
            <a:solidFill>
              <a:srgbClr val="E3DACB"/>
            </a:solidFill>
            <a:prstDash val="solid"/>
          </a:ln>
        </p:spPr>
      </p:sp>
      <p:sp>
        <p:nvSpPr>
          <p:cNvPr id="5" name="Text 3"/>
          <p:cNvSpPr/>
          <p:nvPr/>
        </p:nvSpPr>
        <p:spPr>
          <a:xfrm>
            <a:off x="970280" y="1770380"/>
            <a:ext cx="55620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5</a:t>
            </a:r>
            <a:r>
              <a:rPr lang="en-US" sz="1200" dirty="0">
                <a:solidFill>
                  <a:srgbClr val="5E6672"/>
                </a:solidFill>
                <a:latin typeface="IBM Plex Sans" pitchFamily="34" charset="0"/>
                <a:ea typeface="IBM Plex Sans" pitchFamily="34" charset="-122"/>
                <a:cs typeface="IBM Plex Sans" pitchFamily="34" charset="-120"/>
              </a:rPr>
              <a:t> · Cairo climate overview, 1990–2025 (Task 4)</a:t>
            </a:r>
            <a:endParaRPr lang="en-US" sz="1200" dirty="0"/>
          </a:p>
        </p:txBody>
      </p:sp>
      <p:pic>
        <p:nvPicPr>
          <p:cNvPr id="6" name="Image 0" descr="Task 4 climate overview: average year, max temperature by month and decade, rain days by month, temperature vs humidity">    </p:cNvPr>
          <p:cNvPicPr>
            <a:picLocks noChangeAspect="1"/>
          </p:cNvPicPr>
          <p:nvPr/>
        </p:nvPicPr>
        <p:blipFill>
          <a:blip r:embed="rId1"/>
          <a:srcRect l="0" r="0" t="-24" b="-24"/>
          <a:stretch/>
        </p:blipFill>
        <p:spPr>
          <a:xfrm>
            <a:off x="970280" y="2059941"/>
            <a:ext cx="5410200" cy="3378200"/>
          </a:xfrm>
          <a:prstGeom prst="rect">
            <a:avLst/>
          </a:prstGeom>
        </p:spPr>
      </p:pic>
      <p:sp>
        <p:nvSpPr>
          <p:cNvPr id="7" name="Shape 4"/>
          <p:cNvSpPr/>
          <p:nvPr/>
        </p:nvSpPr>
        <p:spPr>
          <a:xfrm>
            <a:off x="6734175" y="1641475"/>
            <a:ext cx="2266950" cy="1045210"/>
          </a:xfrm>
          <a:prstGeom prst="roundRect">
            <a:avLst>
              <a:gd name="adj" fmla="val 6987"/>
            </a:avLst>
          </a:prstGeom>
          <a:solidFill>
            <a:srgbClr val="FFFDF8"/>
          </a:solidFill>
          <a:ln w="6350">
            <a:solidFill>
              <a:srgbClr val="E3DACB"/>
            </a:solidFill>
            <a:prstDash val="solid"/>
          </a:ln>
        </p:spPr>
      </p:sp>
      <p:sp>
        <p:nvSpPr>
          <p:cNvPr id="8" name="Text 5"/>
          <p:cNvSpPr/>
          <p:nvPr/>
        </p:nvSpPr>
        <p:spPr>
          <a:xfrm>
            <a:off x="6875780" y="1757680"/>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~19 °C</a:t>
            </a:r>
            <a:endParaRPr lang="en-US" sz="2800" dirty="0"/>
          </a:p>
        </p:txBody>
      </p:sp>
      <p:sp>
        <p:nvSpPr>
          <p:cNvPr id="9" name="Text 6"/>
          <p:cNvSpPr/>
          <p:nvPr/>
        </p:nvSpPr>
        <p:spPr>
          <a:xfrm>
            <a:off x="6875780" y="2174241"/>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season swing, January to July–August</a:t>
            </a:r>
            <a:endParaRPr lang="en-US" sz="1200" dirty="0"/>
          </a:p>
        </p:txBody>
      </p:sp>
      <p:sp>
        <p:nvSpPr>
          <p:cNvPr id="10" name="Shape 7"/>
          <p:cNvSpPr/>
          <p:nvPr/>
        </p:nvSpPr>
        <p:spPr>
          <a:xfrm>
            <a:off x="9109075" y="1641475"/>
            <a:ext cx="2266950" cy="1045210"/>
          </a:xfrm>
          <a:prstGeom prst="roundRect">
            <a:avLst>
              <a:gd name="adj" fmla="val 6987"/>
            </a:avLst>
          </a:prstGeom>
          <a:solidFill>
            <a:srgbClr val="FFFDF8"/>
          </a:solidFill>
          <a:ln w="6350">
            <a:solidFill>
              <a:srgbClr val="E3DACB"/>
            </a:solidFill>
            <a:prstDash val="solid"/>
          </a:ln>
        </p:spPr>
      </p:sp>
      <p:sp>
        <p:nvSpPr>
          <p:cNvPr id="11" name="Text 8"/>
          <p:cNvSpPr/>
          <p:nvPr/>
        </p:nvSpPr>
        <p:spPr>
          <a:xfrm>
            <a:off x="9250680" y="1757680"/>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0.97</a:t>
            </a:r>
            <a:endParaRPr lang="en-US" sz="2800" dirty="0"/>
          </a:p>
        </p:txBody>
      </p:sp>
      <p:sp>
        <p:nvSpPr>
          <p:cNvPr id="12" name="Text 9"/>
          <p:cNvSpPr/>
          <p:nvPr/>
        </p:nvSpPr>
        <p:spPr>
          <a:xfrm>
            <a:off x="9250680" y="2174241"/>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link today → tomorrow; 0.77 without season</a:t>
            </a:r>
            <a:endParaRPr lang="en-US" sz="1200" dirty="0"/>
          </a:p>
        </p:txBody>
      </p:sp>
      <p:sp>
        <p:nvSpPr>
          <p:cNvPr id="13" name="Shape 10"/>
          <p:cNvSpPr/>
          <p:nvPr/>
        </p:nvSpPr>
        <p:spPr>
          <a:xfrm>
            <a:off x="6734175" y="2794636"/>
            <a:ext cx="2266950" cy="1045210"/>
          </a:xfrm>
          <a:prstGeom prst="roundRect">
            <a:avLst>
              <a:gd name="adj" fmla="val 6987"/>
            </a:avLst>
          </a:prstGeom>
          <a:solidFill>
            <a:srgbClr val="FFFDF8"/>
          </a:solidFill>
          <a:ln w="6350">
            <a:solidFill>
              <a:srgbClr val="E3DACB"/>
            </a:solidFill>
            <a:prstDash val="solid"/>
          </a:ln>
        </p:spPr>
      </p:sp>
      <p:sp>
        <p:nvSpPr>
          <p:cNvPr id="14" name="Text 11"/>
          <p:cNvSpPr/>
          <p:nvPr/>
        </p:nvSpPr>
        <p:spPr>
          <a:xfrm>
            <a:off x="6875780" y="2910841"/>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~5 days</a:t>
            </a:r>
            <a:endParaRPr lang="en-US" sz="2800" dirty="0"/>
          </a:p>
        </p:txBody>
      </p:sp>
      <p:sp>
        <p:nvSpPr>
          <p:cNvPr id="15" name="Text 12"/>
          <p:cNvSpPr/>
          <p:nvPr/>
        </p:nvSpPr>
        <p:spPr>
          <a:xfrm>
            <a:off x="6875780" y="3327400"/>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of memory; ~0 link after a year</a:t>
            </a:r>
            <a:endParaRPr lang="en-US" sz="1200" dirty="0"/>
          </a:p>
        </p:txBody>
      </p:sp>
      <p:sp>
        <p:nvSpPr>
          <p:cNvPr id="16" name="Shape 13"/>
          <p:cNvSpPr/>
          <p:nvPr/>
        </p:nvSpPr>
        <p:spPr>
          <a:xfrm>
            <a:off x="9109075" y="2794636"/>
            <a:ext cx="2266950" cy="1045210"/>
          </a:xfrm>
          <a:prstGeom prst="roundRect">
            <a:avLst>
              <a:gd name="adj" fmla="val 6987"/>
            </a:avLst>
          </a:prstGeom>
          <a:solidFill>
            <a:srgbClr val="FFFDF8"/>
          </a:solidFill>
          <a:ln w="6350">
            <a:solidFill>
              <a:srgbClr val="E3DACB"/>
            </a:solidFill>
            <a:prstDash val="solid"/>
          </a:ln>
        </p:spPr>
      </p:sp>
      <p:sp>
        <p:nvSpPr>
          <p:cNvPr id="17" name="Text 14"/>
          <p:cNvSpPr/>
          <p:nvPr/>
        </p:nvSpPr>
        <p:spPr>
          <a:xfrm>
            <a:off x="9250680" y="2910841"/>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39 vs 5 %</a:t>
            </a:r>
            <a:endParaRPr lang="en-US" sz="2800" dirty="0"/>
          </a:p>
        </p:txBody>
      </p:sp>
      <p:sp>
        <p:nvSpPr>
          <p:cNvPr id="18" name="Text 15"/>
          <p:cNvSpPr/>
          <p:nvPr/>
        </p:nvSpPr>
        <p:spPr>
          <a:xfrm>
            <a:off x="9250680" y="3327400"/>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chance of rain tomorrow after a rain day vs normally</a:t>
            </a:r>
            <a:endParaRPr lang="en-US" sz="1200" dirty="0"/>
          </a:p>
        </p:txBody>
      </p:sp>
      <p:sp>
        <p:nvSpPr>
          <p:cNvPr id="19" name="Shape 16"/>
          <p:cNvSpPr/>
          <p:nvPr/>
        </p:nvSpPr>
        <p:spPr>
          <a:xfrm>
            <a:off x="6731000" y="3970020"/>
            <a:ext cx="4648200" cy="951230"/>
          </a:xfrm>
          <a:prstGeom prst="roundRect">
            <a:avLst>
              <a:gd name="adj" fmla="val 8011"/>
            </a:avLst>
          </a:prstGeom>
          <a:solidFill>
            <a:srgbClr val="14263A"/>
          </a:solidFill>
          <a:ln/>
        </p:spPr>
      </p:sp>
      <p:sp>
        <p:nvSpPr>
          <p:cNvPr id="20" name="Text 17"/>
          <p:cNvSpPr/>
          <p:nvPr/>
        </p:nvSpPr>
        <p:spPr>
          <a:xfrm>
            <a:off x="6883400" y="4097020"/>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1" name="Text 18"/>
          <p:cNvSpPr/>
          <p:nvPr/>
        </p:nvSpPr>
        <p:spPr>
          <a:xfrm>
            <a:off x="6883400" y="4348480"/>
            <a:ext cx="447370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calendar and yesterday carry most of the signal. A model’s real job is the ~2.2 °C of daily weather left over.</a:t>
            </a:r>
            <a:endParaRPr lang="en-US" sz="1300" dirty="0"/>
          </a:p>
        </p:txBody>
      </p:sp>
      <p:sp>
        <p:nvSpPr>
          <p:cNvPr id="22" name="Text 19"/>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3" name="Text 20"/>
          <p:cNvSpPr/>
          <p:nvPr/>
        </p:nvSpPr>
        <p:spPr>
          <a:xfrm>
            <a:off x="6146800" y="6238241"/>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03 / 31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4 RECAP · RESULTS</a:t>
            </a:r>
            <a:endParaRPr lang="en-US" sz="1200" dirty="0"/>
          </a:p>
        </p:txBody>
      </p:sp>
      <p:sp>
        <p:nvSpPr>
          <p:cNvPr id="3" name="Text 1"/>
          <p:cNvSpPr/>
          <p:nvPr>
            <p:ph type="title"/>
          </p:nvPr>
        </p:nvSpPr>
        <p:spPr>
          <a:xfrm>
            <a:off x="812800" y="9880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Warming, more hot days, and a data trap</a:t>
            </a:r>
            <a:endParaRPr lang="en-US" sz="3200" dirty="0"/>
          </a:p>
        </p:txBody>
      </p:sp>
      <p:sp>
        <p:nvSpPr>
          <p:cNvPr id="4" name="Shape 2"/>
          <p:cNvSpPr/>
          <p:nvPr/>
        </p:nvSpPr>
        <p:spPr>
          <a:xfrm>
            <a:off x="815975" y="1641475"/>
            <a:ext cx="3414157" cy="847090"/>
          </a:xfrm>
          <a:prstGeom prst="roundRect">
            <a:avLst>
              <a:gd name="adj" fmla="val 8621"/>
            </a:avLst>
          </a:prstGeom>
          <a:solidFill>
            <a:srgbClr val="FFFDF8"/>
          </a:solidFill>
          <a:ln w="6350">
            <a:solidFill>
              <a:srgbClr val="E3DACB"/>
            </a:solidFill>
            <a:prstDash val="solid"/>
          </a:ln>
        </p:spPr>
      </p:sp>
      <p:sp>
        <p:nvSpPr>
          <p:cNvPr id="5" name="Text 3"/>
          <p:cNvSpPr/>
          <p:nvPr/>
        </p:nvSpPr>
        <p:spPr>
          <a:xfrm>
            <a:off x="970280" y="1757680"/>
            <a:ext cx="319871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+0.41 °C</a:t>
            </a:r>
            <a:endParaRPr lang="en-US" sz="2800" dirty="0"/>
          </a:p>
        </p:txBody>
      </p:sp>
      <p:sp>
        <p:nvSpPr>
          <p:cNvPr id="6" name="Text 4"/>
          <p:cNvSpPr/>
          <p:nvPr/>
        </p:nvSpPr>
        <p:spPr>
          <a:xfrm>
            <a:off x="970280" y="2174241"/>
            <a:ext cx="31987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per 10 years for nights; days +0.23 °C</a:t>
            </a:r>
            <a:endParaRPr lang="en-US" sz="1200" dirty="0"/>
          </a:p>
        </p:txBody>
      </p:sp>
      <p:sp>
        <p:nvSpPr>
          <p:cNvPr id="7" name="Shape 5"/>
          <p:cNvSpPr/>
          <p:nvPr/>
        </p:nvSpPr>
        <p:spPr>
          <a:xfrm>
            <a:off x="815975" y="2596516"/>
            <a:ext cx="3414157" cy="1817370"/>
          </a:xfrm>
          <a:prstGeom prst="roundRect">
            <a:avLst>
              <a:gd name="adj" fmla="val 4018"/>
            </a:avLst>
          </a:prstGeom>
          <a:solidFill>
            <a:srgbClr val="FFFDF8"/>
          </a:solidFill>
          <a:ln w="6350">
            <a:solidFill>
              <a:srgbClr val="E3DACB"/>
            </a:solidFill>
            <a:prstDash val="solid"/>
          </a:ln>
        </p:spPr>
      </p:sp>
      <p:sp>
        <p:nvSpPr>
          <p:cNvPr id="8" name="Text 6"/>
          <p:cNvSpPr/>
          <p:nvPr/>
        </p:nvSpPr>
        <p:spPr>
          <a:xfrm>
            <a:off x="970280" y="2725420"/>
            <a:ext cx="3198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6a</a:t>
            </a:r>
            <a:r>
              <a:rPr lang="en-US" sz="1200" dirty="0">
                <a:solidFill>
                  <a:srgbClr val="5E6672"/>
                </a:solidFill>
                <a:latin typeface="IBM Plex Sans" pitchFamily="34" charset="0"/>
                <a:ea typeface="IBM Plex Sans" pitchFamily="34" charset="-122"/>
                <a:cs typeface="IBM Plex Sans" pitchFamily="34" charset="-120"/>
              </a:rPr>
              <a:t> · Yearly mean of max and min</a:t>
            </a:r>
            <a:endParaRPr lang="en-US" sz="1200" dirty="0"/>
          </a:p>
        </p:txBody>
      </p:sp>
      <p:pic>
        <p:nvPicPr>
          <p:cNvPr id="9" name="Image 0" descr="Task 4: yearly mean of max and min temperature, 1990–2025">    </p:cNvPr>
          <p:cNvPicPr>
            <a:picLocks noChangeAspect="1"/>
          </p:cNvPicPr>
          <p:nvPr/>
        </p:nvPicPr>
        <p:blipFill>
          <a:blip r:embed="rId1"/>
          <a:srcRect l="0" r="0" t="-101" b="-101"/>
          <a:stretch/>
        </p:blipFill>
        <p:spPr>
          <a:xfrm>
            <a:off x="970280" y="3014980"/>
            <a:ext cx="3111500" cy="1270000"/>
          </a:xfrm>
          <a:prstGeom prst="rect">
            <a:avLst/>
          </a:prstGeom>
        </p:spPr>
      </p:pic>
      <p:sp>
        <p:nvSpPr>
          <p:cNvPr id="10" name="Text 7"/>
          <p:cNvSpPr/>
          <p:nvPr/>
        </p:nvSpPr>
        <p:spPr>
          <a:xfrm>
            <a:off x="812800" y="4518661"/>
            <a:ext cx="352312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4A5563"/>
                </a:solidFill>
                <a:latin typeface="IBM Plex Sans" pitchFamily="34" charset="0"/>
                <a:ea typeface="IBM Plex Sans" pitchFamily="34" charset="-122"/>
                <a:cs typeface="IBM Plex Sans" pitchFamily="34" charset="-120"/>
              </a:rPr>
              <a:t>H1: Yes.</a:t>
            </a:r>
            <a:r>
              <a:rPr lang="en-US" sz="1300" dirty="0">
                <a:solidFill>
                  <a:srgbClr val="4A5563"/>
                </a:solidFill>
                <a:latin typeface="IBM Plex Sans" pitchFamily="34" charset="0"/>
                <a:ea typeface="IBM Plex Sans" pitchFamily="34" charset="-122"/>
                <a:cs typeface="IBM Plex Sans" pitchFamily="34" charset="-120"/>
              </a:rPr>
              <a:t> The test years are the warmest: watch for a cold bias.</a:t>
            </a:r>
            <a:endParaRPr lang="en-US" sz="1300" dirty="0"/>
          </a:p>
        </p:txBody>
      </p:sp>
      <p:sp>
        <p:nvSpPr>
          <p:cNvPr id="11" name="Shape 8"/>
          <p:cNvSpPr/>
          <p:nvPr/>
        </p:nvSpPr>
        <p:spPr>
          <a:xfrm>
            <a:off x="4388882" y="1641475"/>
            <a:ext cx="3414157" cy="847090"/>
          </a:xfrm>
          <a:prstGeom prst="roundRect">
            <a:avLst>
              <a:gd name="adj" fmla="val 8621"/>
            </a:avLst>
          </a:prstGeom>
          <a:solidFill>
            <a:srgbClr val="FFFDF8"/>
          </a:solidFill>
          <a:ln w="6350">
            <a:solidFill>
              <a:srgbClr val="E3DACB"/>
            </a:solidFill>
            <a:prstDash val="solid"/>
          </a:ln>
        </p:spPr>
      </p:sp>
      <p:sp>
        <p:nvSpPr>
          <p:cNvPr id="12" name="Text 9"/>
          <p:cNvSpPr/>
          <p:nvPr/>
        </p:nvSpPr>
        <p:spPr>
          <a:xfrm>
            <a:off x="4543187" y="1757680"/>
            <a:ext cx="319871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7 → 38 days</a:t>
            </a:r>
            <a:endParaRPr lang="en-US" sz="2800" dirty="0"/>
          </a:p>
        </p:txBody>
      </p:sp>
      <p:sp>
        <p:nvSpPr>
          <p:cNvPr id="13" name="Text 10"/>
          <p:cNvSpPr/>
          <p:nvPr/>
        </p:nvSpPr>
        <p:spPr>
          <a:xfrm>
            <a:off x="4543187" y="2174241"/>
            <a:ext cx="325667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very hot days (max &gt; 40.1 °C), 2013 vs 2024</a:t>
            </a:r>
            <a:endParaRPr lang="en-US" sz="1200" dirty="0"/>
          </a:p>
        </p:txBody>
      </p:sp>
      <p:sp>
        <p:nvSpPr>
          <p:cNvPr id="14" name="Shape 11"/>
          <p:cNvSpPr/>
          <p:nvPr/>
        </p:nvSpPr>
        <p:spPr>
          <a:xfrm>
            <a:off x="4388882" y="2596516"/>
            <a:ext cx="3414157" cy="1817370"/>
          </a:xfrm>
          <a:prstGeom prst="roundRect">
            <a:avLst>
              <a:gd name="adj" fmla="val 4018"/>
            </a:avLst>
          </a:prstGeom>
          <a:solidFill>
            <a:srgbClr val="FFFDF8"/>
          </a:solidFill>
          <a:ln w="6350">
            <a:solidFill>
              <a:srgbClr val="E3DACB"/>
            </a:solidFill>
            <a:prstDash val="solid"/>
          </a:ln>
        </p:spPr>
      </p:sp>
      <p:sp>
        <p:nvSpPr>
          <p:cNvPr id="15" name="Text 12"/>
          <p:cNvSpPr/>
          <p:nvPr/>
        </p:nvSpPr>
        <p:spPr>
          <a:xfrm>
            <a:off x="4543187" y="2725420"/>
            <a:ext cx="3198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7a</a:t>
            </a:r>
            <a:r>
              <a:rPr lang="en-US" sz="1200" dirty="0">
                <a:solidFill>
                  <a:srgbClr val="5E6672"/>
                </a:solidFill>
                <a:latin typeface="IBM Plex Sans" pitchFamily="34" charset="0"/>
                <a:ea typeface="IBM Plex Sans" pitchFamily="34" charset="-122"/>
                <a:cs typeface="IBM Plex Sans" pitchFamily="34" charset="-120"/>
              </a:rPr>
              <a:t> · Very hot days per year</a:t>
            </a:r>
            <a:endParaRPr lang="en-US" sz="1200" dirty="0"/>
          </a:p>
        </p:txBody>
      </p:sp>
      <p:pic>
        <p:nvPicPr>
          <p:cNvPr id="16" name="Image 1" descr="Task 4: number of very hot days per year, 1990–2025">    </p:cNvPr>
          <p:cNvPicPr>
            <a:picLocks noChangeAspect="1"/>
          </p:cNvPicPr>
          <p:nvPr/>
        </p:nvPicPr>
        <p:blipFill>
          <a:blip r:embed="rId2"/>
          <a:srcRect l="0" r="0" t="-6268" b="-6268"/>
          <a:stretch/>
        </p:blipFill>
        <p:spPr>
          <a:xfrm>
            <a:off x="4543187" y="3014980"/>
            <a:ext cx="3111500" cy="1270000"/>
          </a:xfrm>
          <a:prstGeom prst="rect">
            <a:avLst/>
          </a:prstGeom>
        </p:spPr>
      </p:pic>
      <p:sp>
        <p:nvSpPr>
          <p:cNvPr id="17" name="Text 13"/>
          <p:cNvSpPr/>
          <p:nvPr/>
        </p:nvSpPr>
        <p:spPr>
          <a:xfrm>
            <a:off x="4385707" y="4518661"/>
            <a:ext cx="352312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4A5563"/>
                </a:solidFill>
                <a:latin typeface="IBM Plex Sans" pitchFamily="34" charset="0"/>
                <a:ea typeface="IBM Plex Sans" pitchFamily="34" charset="-122"/>
                <a:cs typeface="IBM Plex Sans" pitchFamily="34" charset="-120"/>
              </a:rPr>
              <a:t>H2: Partly.</a:t>
            </a:r>
            <a:r>
              <a:rPr lang="en-US" sz="1300" dirty="0">
                <a:solidFill>
                  <a:srgbClr val="4A5563"/>
                </a:solidFill>
                <a:latin typeface="IBM Plex Sans" pitchFamily="34" charset="0"/>
                <a:ea typeface="IBM Plex Sans" pitchFamily="34" charset="-122"/>
                <a:cs typeface="IBM Plex Sans" pitchFamily="34" charset="-120"/>
              </a:rPr>
              <a:t> </a:t>
            </a:r>
            <a:r>
              <a:rPr lang="en-US" sz="1300" b="1" dirty="0">
                <a:solidFill>
                  <a:srgbClr val="4A5563"/>
                </a:solidFill>
                <a:latin typeface="IBM Plex Sans" pitchFamily="34" charset="0"/>
                <a:ea typeface="IBM Plex Sans" pitchFamily="34" charset="-122"/>
                <a:cs typeface="IBM Plex Sans" pitchFamily="34" charset="-120"/>
              </a:rPr>
              <a:t>H4: Yes, slowly</a:t>
            </a:r>
            <a:r>
              <a:rPr lang="en-US" sz="1300" dirty="0">
                <a:solidFill>
                  <a:srgbClr val="4A5563"/>
                </a:solidFill>
                <a:latin typeface="IBM Plex Sans" pitchFamily="34" charset="0"/>
                <a:ea typeface="IBM Plex Sans" pitchFamily="34" charset="-122"/>
                <a:cs typeface="IBM Plex Sans" pitchFamily="34" charset="-120"/>
              </a:rPr>
              <a:t> (−1.9 very cold nights per 10 years).</a:t>
            </a:r>
            <a:endParaRPr lang="en-US" sz="1300" dirty="0"/>
          </a:p>
        </p:txBody>
      </p:sp>
      <p:sp>
        <p:nvSpPr>
          <p:cNvPr id="18" name="Shape 14"/>
          <p:cNvSpPr/>
          <p:nvPr/>
        </p:nvSpPr>
        <p:spPr>
          <a:xfrm>
            <a:off x="7961789" y="1641475"/>
            <a:ext cx="3414157" cy="847090"/>
          </a:xfrm>
          <a:prstGeom prst="roundRect">
            <a:avLst>
              <a:gd name="adj" fmla="val 8621"/>
            </a:avLst>
          </a:prstGeom>
          <a:solidFill>
            <a:srgbClr val="FFFDF8"/>
          </a:solidFill>
          <a:ln w="6350">
            <a:solidFill>
              <a:srgbClr val="E3DACB"/>
            </a:solidFill>
            <a:prstDash val="solid"/>
          </a:ln>
        </p:spPr>
      </p:sp>
      <p:sp>
        <p:nvSpPr>
          <p:cNvPr id="19" name="Text 15"/>
          <p:cNvSpPr/>
          <p:nvPr/>
        </p:nvSpPr>
        <p:spPr>
          <a:xfrm>
            <a:off x="8116094" y="1757680"/>
            <a:ext cx="319871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8.1 → 17.6</a:t>
            </a:r>
            <a:endParaRPr lang="en-US" sz="2800" dirty="0"/>
          </a:p>
        </p:txBody>
      </p:sp>
      <p:sp>
        <p:nvSpPr>
          <p:cNvPr id="20" name="Text 16"/>
          <p:cNvSpPr/>
          <p:nvPr/>
        </p:nvSpPr>
        <p:spPr>
          <a:xfrm>
            <a:off x="8116094" y="2174241"/>
            <a:ext cx="31987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rain days a year, before vs after 2016</a:t>
            </a:r>
            <a:endParaRPr lang="en-US" sz="1200" dirty="0"/>
          </a:p>
        </p:txBody>
      </p:sp>
      <p:sp>
        <p:nvSpPr>
          <p:cNvPr id="21" name="Shape 17"/>
          <p:cNvSpPr/>
          <p:nvPr/>
        </p:nvSpPr>
        <p:spPr>
          <a:xfrm>
            <a:off x="7961789" y="2596516"/>
            <a:ext cx="3414157" cy="1817370"/>
          </a:xfrm>
          <a:prstGeom prst="roundRect">
            <a:avLst>
              <a:gd name="adj" fmla="val 4018"/>
            </a:avLst>
          </a:prstGeom>
          <a:solidFill>
            <a:srgbClr val="FFFDF8"/>
          </a:solidFill>
          <a:ln w="6350">
            <a:solidFill>
              <a:srgbClr val="E3DACB"/>
            </a:solidFill>
            <a:prstDash val="solid"/>
          </a:ln>
        </p:spPr>
      </p:sp>
      <p:sp>
        <p:nvSpPr>
          <p:cNvPr id="22" name="Text 18"/>
          <p:cNvSpPr/>
          <p:nvPr/>
        </p:nvSpPr>
        <p:spPr>
          <a:xfrm>
            <a:off x="8116094" y="2725420"/>
            <a:ext cx="3198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8a</a:t>
            </a:r>
            <a:r>
              <a:rPr lang="en-US" sz="1200" dirty="0">
                <a:solidFill>
                  <a:srgbClr val="5E6672"/>
                </a:solidFill>
                <a:latin typeface="IBM Plex Sans" pitchFamily="34" charset="0"/>
                <a:ea typeface="IBM Plex Sans" pitchFamily="34" charset="-122"/>
                <a:cs typeface="IBM Plex Sans" pitchFamily="34" charset="-120"/>
              </a:rPr>
              <a:t> · Total rain per year: a jump at 2016</a:t>
            </a:r>
            <a:endParaRPr lang="en-US" sz="1200" dirty="0"/>
          </a:p>
        </p:txBody>
      </p:sp>
      <p:pic>
        <p:nvPicPr>
          <p:cNvPr id="23" name="Image 2" descr="Task 4: total rain per year with a sudden jump at 2016">    </p:cNvPr>
          <p:cNvPicPr>
            <a:picLocks noChangeAspect="1"/>
          </p:cNvPicPr>
          <p:nvPr/>
        </p:nvPicPr>
        <p:blipFill>
          <a:blip r:embed="rId3"/>
          <a:srcRect l="0" r="0" t="-29673" b="-29673"/>
          <a:stretch/>
        </p:blipFill>
        <p:spPr>
          <a:xfrm>
            <a:off x="8116094" y="3014980"/>
            <a:ext cx="3111500" cy="1270000"/>
          </a:xfrm>
          <a:prstGeom prst="rect">
            <a:avLst/>
          </a:prstGeom>
        </p:spPr>
      </p:pic>
      <p:sp>
        <p:nvSpPr>
          <p:cNvPr id="24" name="Text 19"/>
          <p:cNvSpPr/>
          <p:nvPr/>
        </p:nvSpPr>
        <p:spPr>
          <a:xfrm>
            <a:off x="7958614" y="4518661"/>
            <a:ext cx="352312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4A5563"/>
                </a:solidFill>
                <a:latin typeface="IBM Plex Sans" pitchFamily="34" charset="0"/>
                <a:ea typeface="IBM Plex Sans" pitchFamily="34" charset="-122"/>
                <a:cs typeface="IBM Plex Sans" pitchFamily="34" charset="-120"/>
              </a:rPr>
              <a:t>H3: a data change,</a:t>
            </a:r>
            <a:r>
              <a:rPr lang="en-US" sz="1300" dirty="0">
                <a:solidFill>
                  <a:srgbClr val="4A5563"/>
                </a:solidFill>
                <a:latin typeface="IBM Plex Sans" pitchFamily="34" charset="0"/>
                <a:ea typeface="IBM Plex Sans" pitchFamily="34" charset="-122"/>
                <a:cs typeface="IBM Plex Sans" pitchFamily="34" charset="-120"/>
              </a:rPr>
              <a:t> not weather. Rain work uses 2016–2025 only.</a:t>
            </a:r>
            <a:endParaRPr lang="en-US" sz="1300" dirty="0"/>
          </a:p>
        </p:txBody>
      </p:sp>
      <p:sp>
        <p:nvSpPr>
          <p:cNvPr id="25" name="Text 20"/>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6" name="Text 21"/>
          <p:cNvSpPr/>
          <p:nvPr/>
        </p:nvSpPr>
        <p:spPr>
          <a:xfrm>
            <a:off x="6146800" y="6238239"/>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04 / 31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4 RECAP · BASELINES</a:t>
            </a:r>
            <a:endParaRPr lang="en-US" sz="1200" dirty="0"/>
          </a:p>
        </p:txBody>
      </p:sp>
      <p:sp>
        <p:nvSpPr>
          <p:cNvPr id="3" name="Text 1"/>
          <p:cNvSpPr/>
          <p:nvPr>
            <p:ph type="title"/>
          </p:nvPr>
        </p:nvSpPr>
        <p:spPr>
          <a:xfrm>
            <a:off x="812800" y="9880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The numbers every model must beat</a:t>
            </a:r>
            <a:endParaRPr lang="en-US" sz="3200" dirty="0"/>
          </a:p>
        </p:txBody>
      </p:sp>
      <p:sp>
        <p:nvSpPr>
          <p:cNvPr id="4" name="Shape 2"/>
          <p:cNvSpPr/>
          <p:nvPr/>
        </p:nvSpPr>
        <p:spPr>
          <a:xfrm>
            <a:off x="815975" y="1641475"/>
            <a:ext cx="6597650" cy="2360930"/>
          </a:xfrm>
          <a:prstGeom prst="roundRect">
            <a:avLst>
              <a:gd name="adj" fmla="val 3093"/>
            </a:avLst>
          </a:prstGeom>
          <a:solidFill>
            <a:srgbClr val="FFFDF8"/>
          </a:solidFill>
          <a:ln w="6350">
            <a:solidFill>
              <a:srgbClr val="E3DACB"/>
            </a:solidFill>
            <a:prstDash val="solid"/>
          </a:ln>
        </p:spPr>
      </p:sp>
      <p:sp>
        <p:nvSpPr>
          <p:cNvPr id="5" name="Text 3"/>
          <p:cNvSpPr/>
          <p:nvPr/>
        </p:nvSpPr>
        <p:spPr>
          <a:xfrm>
            <a:off x="970280" y="1770382"/>
            <a:ext cx="647771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14</a:t>
            </a:r>
            <a:r>
              <a:rPr lang="en-US" sz="1200" dirty="0">
                <a:solidFill>
                  <a:srgbClr val="5E6672"/>
                </a:solidFill>
                <a:latin typeface="IBM Plex Sans" pitchFamily="34" charset="0"/>
                <a:ea typeface="IBM Plex Sans" pitchFamily="34" charset="-122"/>
                <a:cs typeface="IBM Plex Sans" pitchFamily="34" charset="-120"/>
              </a:rPr>
              <a:t> · Temperature tomorrow: MAE of simple baselines (°C, lower is better)</a:t>
            </a:r>
            <a:endParaRPr lang="en-US" sz="1200" dirty="0"/>
          </a:p>
        </p:txBody>
      </p:sp>
      <p:sp>
        <p:nvSpPr>
          <p:cNvPr id="6" name="Text 4"/>
          <p:cNvSpPr/>
          <p:nvPr/>
        </p:nvSpPr>
        <p:spPr>
          <a:xfrm>
            <a:off x="970280" y="212471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Persistence (today)</a:t>
            </a:r>
            <a:endParaRPr lang="en-US" sz="1200" dirty="0"/>
          </a:p>
        </p:txBody>
      </p:sp>
      <p:sp>
        <p:nvSpPr>
          <p:cNvPr id="7" name="Shape 5"/>
          <p:cNvSpPr/>
          <p:nvPr/>
        </p:nvSpPr>
        <p:spPr>
          <a:xfrm>
            <a:off x="3002280" y="2085339"/>
            <a:ext cx="1276350" cy="127000"/>
          </a:xfrm>
          <a:prstGeom prst="roundRect">
            <a:avLst>
              <a:gd name="adj" fmla="val 15000"/>
            </a:avLst>
          </a:prstGeom>
          <a:solidFill>
            <a:srgbClr val="E8A27F"/>
          </a:solidFill>
          <a:ln/>
        </p:spPr>
      </p:sp>
      <p:sp>
        <p:nvSpPr>
          <p:cNvPr id="8" name="Shape 6"/>
          <p:cNvSpPr/>
          <p:nvPr/>
        </p:nvSpPr>
        <p:spPr>
          <a:xfrm>
            <a:off x="3002280" y="2250439"/>
            <a:ext cx="1238250" cy="127000"/>
          </a:xfrm>
          <a:prstGeom prst="roundRect">
            <a:avLst>
              <a:gd name="adj" fmla="val 15000"/>
            </a:avLst>
          </a:prstGeom>
          <a:solidFill>
            <a:srgbClr val="C4501F"/>
          </a:solidFill>
          <a:ln/>
        </p:spPr>
      </p:sp>
      <p:sp>
        <p:nvSpPr>
          <p:cNvPr id="9" name="Text 7"/>
          <p:cNvSpPr/>
          <p:nvPr/>
        </p:nvSpPr>
        <p:spPr>
          <a:xfrm>
            <a:off x="6177280" y="2124711"/>
            <a:ext cx="9235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1.07 · 1.04</a:t>
            </a:r>
            <a:endParaRPr lang="en-US" sz="1200" dirty="0"/>
          </a:p>
        </p:txBody>
      </p:sp>
      <p:sp>
        <p:nvSpPr>
          <p:cNvPr id="10" name="Text 8"/>
          <p:cNvSpPr/>
          <p:nvPr/>
        </p:nvSpPr>
        <p:spPr>
          <a:xfrm>
            <a:off x="970280" y="2518411"/>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Mean of last 7 days</a:t>
            </a:r>
            <a:endParaRPr lang="en-US" sz="1200" dirty="0"/>
          </a:p>
        </p:txBody>
      </p:sp>
      <p:sp>
        <p:nvSpPr>
          <p:cNvPr id="11" name="Shape 9"/>
          <p:cNvSpPr/>
          <p:nvPr/>
        </p:nvSpPr>
        <p:spPr>
          <a:xfrm>
            <a:off x="3002280" y="2479039"/>
            <a:ext cx="1892300" cy="127000"/>
          </a:xfrm>
          <a:prstGeom prst="roundRect">
            <a:avLst>
              <a:gd name="adj" fmla="val 15000"/>
            </a:avLst>
          </a:prstGeom>
          <a:solidFill>
            <a:srgbClr val="A9C1E3"/>
          </a:solidFill>
          <a:ln/>
        </p:spPr>
      </p:sp>
      <p:sp>
        <p:nvSpPr>
          <p:cNvPr id="12" name="Shape 10"/>
          <p:cNvSpPr/>
          <p:nvPr/>
        </p:nvSpPr>
        <p:spPr>
          <a:xfrm>
            <a:off x="3002280" y="2644139"/>
            <a:ext cx="1835150" cy="127000"/>
          </a:xfrm>
          <a:prstGeom prst="roundRect">
            <a:avLst>
              <a:gd name="adj" fmla="val 15000"/>
            </a:avLst>
          </a:prstGeom>
          <a:solidFill>
            <a:srgbClr val="2563B0"/>
          </a:solidFill>
          <a:ln/>
        </p:spPr>
      </p:sp>
      <p:sp>
        <p:nvSpPr>
          <p:cNvPr id="13" name="Text 11"/>
          <p:cNvSpPr/>
          <p:nvPr/>
        </p:nvSpPr>
        <p:spPr>
          <a:xfrm>
            <a:off x="6177280" y="2518411"/>
            <a:ext cx="9038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1.59 · 1.54</a:t>
            </a:r>
            <a:endParaRPr lang="en-US" sz="1200" dirty="0"/>
          </a:p>
        </p:txBody>
      </p:sp>
      <p:sp>
        <p:nvSpPr>
          <p:cNvPr id="14" name="Text 12"/>
          <p:cNvSpPr/>
          <p:nvPr/>
        </p:nvSpPr>
        <p:spPr>
          <a:xfrm>
            <a:off x="970280" y="2912111"/>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Climatology (date normal)</a:t>
            </a:r>
            <a:endParaRPr lang="en-US" sz="1200" dirty="0"/>
          </a:p>
        </p:txBody>
      </p:sp>
      <p:sp>
        <p:nvSpPr>
          <p:cNvPr id="15" name="Shape 13"/>
          <p:cNvSpPr/>
          <p:nvPr/>
        </p:nvSpPr>
        <p:spPr>
          <a:xfrm>
            <a:off x="3002280" y="2872739"/>
            <a:ext cx="2190750" cy="127000"/>
          </a:xfrm>
          <a:prstGeom prst="roundRect">
            <a:avLst>
              <a:gd name="adj" fmla="val 15000"/>
            </a:avLst>
          </a:prstGeom>
          <a:solidFill>
            <a:srgbClr val="A9C1E3"/>
          </a:solidFill>
          <a:ln/>
        </p:spPr>
      </p:sp>
      <p:sp>
        <p:nvSpPr>
          <p:cNvPr id="16" name="Shape 14"/>
          <p:cNvSpPr/>
          <p:nvPr/>
        </p:nvSpPr>
        <p:spPr>
          <a:xfrm>
            <a:off x="3002280" y="3037839"/>
            <a:ext cx="2133600" cy="127000"/>
          </a:xfrm>
          <a:prstGeom prst="roundRect">
            <a:avLst>
              <a:gd name="adj" fmla="val 15000"/>
            </a:avLst>
          </a:prstGeom>
          <a:solidFill>
            <a:srgbClr val="2563B0"/>
          </a:solidFill>
          <a:ln/>
        </p:spPr>
      </p:sp>
      <p:sp>
        <p:nvSpPr>
          <p:cNvPr id="17" name="Text 15"/>
          <p:cNvSpPr/>
          <p:nvPr/>
        </p:nvSpPr>
        <p:spPr>
          <a:xfrm>
            <a:off x="6177280" y="2912111"/>
            <a:ext cx="9038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1.84 · 1.79</a:t>
            </a:r>
            <a:endParaRPr lang="en-US" sz="1200" dirty="0"/>
          </a:p>
        </p:txBody>
      </p:sp>
      <p:sp>
        <p:nvSpPr>
          <p:cNvPr id="18" name="Text 16"/>
          <p:cNvSpPr/>
          <p:nvPr/>
        </p:nvSpPr>
        <p:spPr>
          <a:xfrm>
            <a:off x="970280" y="3305811"/>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Same day last year</a:t>
            </a:r>
            <a:endParaRPr lang="en-US" sz="1200" dirty="0"/>
          </a:p>
        </p:txBody>
      </p:sp>
      <p:sp>
        <p:nvSpPr>
          <p:cNvPr id="19" name="Shape 17"/>
          <p:cNvSpPr/>
          <p:nvPr/>
        </p:nvSpPr>
        <p:spPr>
          <a:xfrm>
            <a:off x="3002280" y="3266439"/>
            <a:ext cx="3048000" cy="127000"/>
          </a:xfrm>
          <a:prstGeom prst="roundRect">
            <a:avLst>
              <a:gd name="adj" fmla="val 15000"/>
            </a:avLst>
          </a:prstGeom>
          <a:solidFill>
            <a:srgbClr val="A9C1E3"/>
          </a:solidFill>
          <a:ln/>
        </p:spPr>
      </p:sp>
      <p:sp>
        <p:nvSpPr>
          <p:cNvPr id="20" name="Shape 18"/>
          <p:cNvSpPr/>
          <p:nvPr/>
        </p:nvSpPr>
        <p:spPr>
          <a:xfrm>
            <a:off x="3002280" y="3431539"/>
            <a:ext cx="2705100" cy="127000"/>
          </a:xfrm>
          <a:prstGeom prst="roundRect">
            <a:avLst>
              <a:gd name="adj" fmla="val 15000"/>
            </a:avLst>
          </a:prstGeom>
          <a:solidFill>
            <a:srgbClr val="2563B0"/>
          </a:solidFill>
          <a:ln/>
        </p:spPr>
      </p:sp>
      <p:sp>
        <p:nvSpPr>
          <p:cNvPr id="21" name="Text 19"/>
          <p:cNvSpPr/>
          <p:nvPr/>
        </p:nvSpPr>
        <p:spPr>
          <a:xfrm>
            <a:off x="6177280" y="3305811"/>
            <a:ext cx="9038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2.56 · 2.27</a:t>
            </a:r>
            <a:endParaRPr lang="en-US" sz="1200" dirty="0"/>
          </a:p>
        </p:txBody>
      </p:sp>
      <p:sp>
        <p:nvSpPr>
          <p:cNvPr id="22" name="Shape 20"/>
          <p:cNvSpPr/>
          <p:nvPr/>
        </p:nvSpPr>
        <p:spPr>
          <a:xfrm>
            <a:off x="970280" y="3696971"/>
            <a:ext cx="139700" cy="139700"/>
          </a:xfrm>
          <a:prstGeom prst="rect">
            <a:avLst/>
          </a:prstGeom>
          <a:solidFill>
            <a:srgbClr val="A9C1E3"/>
          </a:solidFill>
          <a:ln/>
        </p:spPr>
      </p:sp>
      <p:sp>
        <p:nvSpPr>
          <p:cNvPr id="23" name="Text 21"/>
          <p:cNvSpPr/>
          <p:nvPr/>
        </p:nvSpPr>
        <p:spPr>
          <a:xfrm>
            <a:off x="1186180" y="3660139"/>
            <a:ext cx="14328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Validation 2020–22</a:t>
            </a:r>
            <a:endParaRPr lang="en-US" sz="1200" dirty="0"/>
          </a:p>
        </p:txBody>
      </p:sp>
      <p:sp>
        <p:nvSpPr>
          <p:cNvPr id="24" name="Shape 22"/>
          <p:cNvSpPr/>
          <p:nvPr/>
        </p:nvSpPr>
        <p:spPr>
          <a:xfrm>
            <a:off x="2619058" y="3696971"/>
            <a:ext cx="139700" cy="139700"/>
          </a:xfrm>
          <a:prstGeom prst="rect">
            <a:avLst/>
          </a:prstGeom>
          <a:solidFill>
            <a:srgbClr val="2563B0"/>
          </a:solidFill>
          <a:ln/>
        </p:spPr>
      </p:sp>
      <p:sp>
        <p:nvSpPr>
          <p:cNvPr id="25" name="Text 23"/>
          <p:cNvSpPr/>
          <p:nvPr/>
        </p:nvSpPr>
        <p:spPr>
          <a:xfrm>
            <a:off x="2834958" y="3660139"/>
            <a:ext cx="31821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Test 2023–25 (trained on 1990–2019)</a:t>
            </a:r>
            <a:endParaRPr lang="en-US" sz="1200" dirty="0"/>
          </a:p>
        </p:txBody>
      </p:sp>
      <p:sp>
        <p:nvSpPr>
          <p:cNvPr id="26" name="Shape 24"/>
          <p:cNvSpPr/>
          <p:nvPr/>
        </p:nvSpPr>
        <p:spPr>
          <a:xfrm>
            <a:off x="815975" y="4135757"/>
            <a:ext cx="6597650" cy="1018540"/>
          </a:xfrm>
          <a:prstGeom prst="roundRect">
            <a:avLst>
              <a:gd name="adj" fmla="val 7170"/>
            </a:avLst>
          </a:prstGeom>
          <a:solidFill>
            <a:srgbClr val="FFFDF8"/>
          </a:solidFill>
          <a:ln w="6350">
            <a:solidFill>
              <a:srgbClr val="E3DACB"/>
            </a:solidFill>
            <a:prstDash val="solid"/>
          </a:ln>
        </p:spPr>
      </p:sp>
      <p:sp>
        <p:nvSpPr>
          <p:cNvPr id="27" name="Text 25"/>
          <p:cNvSpPr/>
          <p:nvPr/>
        </p:nvSpPr>
        <p:spPr>
          <a:xfrm>
            <a:off x="970280" y="4264661"/>
            <a:ext cx="64777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2"/>
                </a:solidFill>
                <a:latin typeface="IBM Plex Sans" pitchFamily="34" charset="0"/>
                <a:ea typeface="IBM Plex Sans" pitchFamily="34" charset="-122"/>
                <a:cs typeface="IBM Plex Sans" pitchFamily="34" charset="-120"/>
              </a:rPr>
              <a:t>RAIN TOMORROW (2016–2025)</a:t>
            </a:r>
            <a:endParaRPr lang="en-US" sz="1200" dirty="0"/>
          </a:p>
        </p:txBody>
      </p:sp>
      <p:sp>
        <p:nvSpPr>
          <p:cNvPr id="28" name="Text 26"/>
          <p:cNvSpPr/>
          <p:nvPr/>
        </p:nvSpPr>
        <p:spPr>
          <a:xfrm>
            <a:off x="970280" y="4528821"/>
            <a:ext cx="6477711"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3"/>
                </a:solidFill>
                <a:latin typeface="IBM Plex Sans" pitchFamily="34" charset="0"/>
                <a:ea typeface="IBM Plex Sans" pitchFamily="34" charset="-122"/>
                <a:cs typeface="IBM Plex Sans" pitchFamily="34" charset="-120"/>
              </a:rPr>
              <a:t>“Always no rain”: 94–96 % accurate, yet </a:t>
            </a:r>
            <a:r>
              <a:rPr lang="en-US" sz="1300" b="1" dirty="0">
                <a:solidFill>
                  <a:srgbClr val="4A5563"/>
                </a:solidFill>
                <a:latin typeface="IBM Plex Sans" pitchFamily="34" charset="0"/>
                <a:ea typeface="IBM Plex Sans" pitchFamily="34" charset="-122"/>
                <a:cs typeface="IBM Plex Sans" pitchFamily="34" charset="-120"/>
              </a:rPr>
              <a:t>0 rain days caught</a:t>
            </a:r>
            <a:r>
              <a:rPr lang="en-US" sz="1300" dirty="0">
                <a:solidFill>
                  <a:srgbClr val="4A5563"/>
                </a:solidFill>
                <a:latin typeface="IBM Plex Sans" pitchFamily="34" charset="0"/>
                <a:ea typeface="IBM Plex Sans" pitchFamily="34" charset="-122"/>
                <a:cs typeface="IBM Plex Sans" pitchFamily="34" charset="-120"/>
              </a:rPr>
              <a:t>, so accuracy is not used.</a:t>
            </a:r>
            <a:endParaRPr lang="en-US" sz="1300" dirty="0"/>
          </a:p>
        </p:txBody>
      </p:sp>
      <p:sp>
        <p:nvSpPr>
          <p:cNvPr id="29" name="Text 27"/>
          <p:cNvSpPr/>
          <p:nvPr/>
        </p:nvSpPr>
        <p:spPr>
          <a:xfrm>
            <a:off x="970280" y="4802507"/>
            <a:ext cx="6477711"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Persistence (rain today): F1 0.36 validation, 0.47 test.</a:t>
            </a:r>
            <a:endParaRPr lang="en-US" sz="1300" dirty="0"/>
          </a:p>
        </p:txBody>
      </p:sp>
      <p:sp>
        <p:nvSpPr>
          <p:cNvPr id="30" name="Shape 28"/>
          <p:cNvSpPr/>
          <p:nvPr/>
        </p:nvSpPr>
        <p:spPr>
          <a:xfrm>
            <a:off x="7623175" y="1641475"/>
            <a:ext cx="3752850" cy="847090"/>
          </a:xfrm>
          <a:prstGeom prst="roundRect">
            <a:avLst>
              <a:gd name="adj" fmla="val 8621"/>
            </a:avLst>
          </a:prstGeom>
          <a:solidFill>
            <a:srgbClr val="FFFDF8"/>
          </a:solidFill>
          <a:ln w="6350">
            <a:solidFill>
              <a:srgbClr val="E3DACB"/>
            </a:solidFill>
            <a:prstDash val="solid"/>
          </a:ln>
        </p:spPr>
      </p:sp>
      <p:sp>
        <p:nvSpPr>
          <p:cNvPr id="31" name="Text 29"/>
          <p:cNvSpPr/>
          <p:nvPr/>
        </p:nvSpPr>
        <p:spPr>
          <a:xfrm>
            <a:off x="7777480" y="1757682"/>
            <a:ext cx="354756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1.04 °C</a:t>
            </a:r>
            <a:endParaRPr lang="en-US" sz="2800" dirty="0"/>
          </a:p>
        </p:txBody>
      </p:sp>
      <p:sp>
        <p:nvSpPr>
          <p:cNvPr id="32" name="Text 30"/>
          <p:cNvSpPr/>
          <p:nvPr/>
        </p:nvSpPr>
        <p:spPr>
          <a:xfrm>
            <a:off x="7777480" y="2174239"/>
            <a:ext cx="354756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temperature bar: “tomorrow = today” on test</a:t>
            </a:r>
            <a:endParaRPr lang="en-US" sz="1200" dirty="0"/>
          </a:p>
        </p:txBody>
      </p:sp>
      <p:sp>
        <p:nvSpPr>
          <p:cNvPr id="33" name="Shape 31"/>
          <p:cNvSpPr/>
          <p:nvPr/>
        </p:nvSpPr>
        <p:spPr>
          <a:xfrm>
            <a:off x="7623175" y="2596514"/>
            <a:ext cx="3752850" cy="847090"/>
          </a:xfrm>
          <a:prstGeom prst="roundRect">
            <a:avLst>
              <a:gd name="adj" fmla="val 8621"/>
            </a:avLst>
          </a:prstGeom>
          <a:solidFill>
            <a:srgbClr val="FFFDF8"/>
          </a:solidFill>
          <a:ln w="6350">
            <a:solidFill>
              <a:srgbClr val="E3DACB"/>
            </a:solidFill>
            <a:prstDash val="solid"/>
          </a:ln>
        </p:spPr>
      </p:sp>
      <p:sp>
        <p:nvSpPr>
          <p:cNvPr id="34" name="Text 32"/>
          <p:cNvSpPr/>
          <p:nvPr/>
        </p:nvSpPr>
        <p:spPr>
          <a:xfrm>
            <a:off x="7777480" y="2712721"/>
            <a:ext cx="354756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F1 0.47</a:t>
            </a:r>
            <a:endParaRPr lang="en-US" sz="2800" dirty="0"/>
          </a:p>
        </p:txBody>
      </p:sp>
      <p:sp>
        <p:nvSpPr>
          <p:cNvPr id="35" name="Text 33"/>
          <p:cNvSpPr/>
          <p:nvPr/>
        </p:nvSpPr>
        <p:spPr>
          <a:xfrm>
            <a:off x="7777480" y="3129282"/>
            <a:ext cx="354756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rain bar: “rain today → rain tomorrow”</a:t>
            </a:r>
            <a:endParaRPr lang="en-US" sz="1200" dirty="0"/>
          </a:p>
        </p:txBody>
      </p:sp>
      <p:sp>
        <p:nvSpPr>
          <p:cNvPr id="36" name="Shape 34"/>
          <p:cNvSpPr/>
          <p:nvPr/>
        </p:nvSpPr>
        <p:spPr>
          <a:xfrm>
            <a:off x="7620000" y="3548382"/>
            <a:ext cx="3759200" cy="1174115"/>
          </a:xfrm>
          <a:prstGeom prst="roundRect">
            <a:avLst>
              <a:gd name="adj" fmla="val 6490"/>
            </a:avLst>
          </a:prstGeom>
          <a:solidFill>
            <a:srgbClr val="14263A"/>
          </a:solidFill>
          <a:ln/>
        </p:spPr>
      </p:sp>
      <p:sp>
        <p:nvSpPr>
          <p:cNvPr id="37" name="Text 35"/>
          <p:cNvSpPr/>
          <p:nvPr/>
        </p:nvSpPr>
        <p:spPr>
          <a:xfrm>
            <a:off x="7772400" y="3675382"/>
            <a:ext cx="355803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38" name="Text 36"/>
          <p:cNvSpPr/>
          <p:nvPr/>
        </p:nvSpPr>
        <p:spPr>
          <a:xfrm>
            <a:off x="7772400" y="3926839"/>
            <a:ext cx="355803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Weather changes slowly, so today is the best guess. A Task 5 model is useful only if it beats these on the same days.</a:t>
            </a:r>
            <a:endParaRPr lang="en-US" sz="1300" dirty="0"/>
          </a:p>
        </p:txBody>
      </p:sp>
      <p:sp>
        <p:nvSpPr>
          <p:cNvPr id="39" name="Text 37"/>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40" name="Text 38"/>
          <p:cNvSpPr/>
          <p:nvPr/>
        </p:nvSpPr>
        <p:spPr>
          <a:xfrm>
            <a:off x="6146800" y="6238239"/>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05 / 31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4 RECAP · RESEARCH QUESTIONS</a:t>
            </a:r>
            <a:endParaRPr lang="en-US" sz="1200" dirty="0"/>
          </a:p>
        </p:txBody>
      </p:sp>
      <p:sp>
        <p:nvSpPr>
          <p:cNvPr id="3" name="Text 1"/>
          <p:cNvSpPr/>
          <p:nvPr>
            <p:ph type="title"/>
          </p:nvPr>
        </p:nvSpPr>
        <p:spPr>
          <a:xfrm>
            <a:off x="812800" y="9880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Six questions, answered from the past</a:t>
            </a:r>
            <a:endParaRPr lang="en-US" sz="3200" dirty="0"/>
          </a:p>
        </p:txBody>
      </p:sp>
      <p:sp>
        <p:nvSpPr>
          <p:cNvPr id="4" name="Shape 2"/>
          <p:cNvSpPr/>
          <p:nvPr/>
        </p:nvSpPr>
        <p:spPr>
          <a:xfrm>
            <a:off x="815975" y="1641475"/>
            <a:ext cx="2211864" cy="1567180"/>
          </a:xfrm>
          <a:prstGeom prst="roundRect">
            <a:avLst>
              <a:gd name="adj" fmla="val 4660"/>
            </a:avLst>
          </a:prstGeom>
          <a:solidFill>
            <a:srgbClr val="FFFDF8"/>
          </a:solidFill>
          <a:ln w="6350">
            <a:solidFill>
              <a:srgbClr val="E3DACB"/>
            </a:solidFill>
            <a:prstDash val="solid"/>
          </a:ln>
        </p:spPr>
      </p:sp>
      <p:sp>
        <p:nvSpPr>
          <p:cNvPr id="5" name="Text 3"/>
          <p:cNvSpPr/>
          <p:nvPr/>
        </p:nvSpPr>
        <p:spPr>
          <a:xfrm>
            <a:off x="957580" y="1757682"/>
            <a:ext cx="198651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H1</a:t>
            </a:r>
            <a:endParaRPr lang="en-US" sz="2800" dirty="0"/>
          </a:p>
        </p:txBody>
      </p:sp>
      <p:sp>
        <p:nvSpPr>
          <p:cNvPr id="6" name="Text 4"/>
          <p:cNvSpPr/>
          <p:nvPr/>
        </p:nvSpPr>
        <p:spPr>
          <a:xfrm>
            <a:off x="957580" y="2199639"/>
            <a:ext cx="198651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733"/>
                </a:solidFill>
                <a:latin typeface="IBM Plex Sans" pitchFamily="34" charset="0"/>
                <a:ea typeface="IBM Plex Sans" pitchFamily="34" charset="-122"/>
                <a:cs typeface="IBM Plex Sans" pitchFamily="34" charset="-120"/>
              </a:rPr>
              <a:t>Is Cairo warming, and nights faster than days?</a:t>
            </a:r>
            <a:endParaRPr lang="en-US" sz="1300" dirty="0"/>
          </a:p>
        </p:txBody>
      </p:sp>
      <p:sp>
        <p:nvSpPr>
          <p:cNvPr id="7" name="Text 5"/>
          <p:cNvSpPr/>
          <p:nvPr/>
        </p:nvSpPr>
        <p:spPr>
          <a:xfrm>
            <a:off x="957580" y="2696211"/>
            <a:ext cx="1986513"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C4501F"/>
                </a:solidFill>
                <a:latin typeface="IBM Plex Sans" pitchFamily="34" charset="0"/>
                <a:ea typeface="IBM Plex Sans" pitchFamily="34" charset="-122"/>
                <a:cs typeface="IBM Plex Sans" pitchFamily="34" charset="-120"/>
              </a:rPr>
              <a:t>Yes · +0.41 / +0.23 °C per decade</a:t>
            </a:r>
            <a:endParaRPr lang="en-US" sz="1200" dirty="0"/>
          </a:p>
        </p:txBody>
      </p:sp>
      <p:sp>
        <p:nvSpPr>
          <p:cNvPr id="8" name="Shape 6"/>
          <p:cNvSpPr/>
          <p:nvPr/>
        </p:nvSpPr>
        <p:spPr>
          <a:xfrm>
            <a:off x="3135789" y="1641475"/>
            <a:ext cx="2211943" cy="1567180"/>
          </a:xfrm>
          <a:prstGeom prst="roundRect">
            <a:avLst>
              <a:gd name="adj" fmla="val 4660"/>
            </a:avLst>
          </a:prstGeom>
          <a:solidFill>
            <a:srgbClr val="FFFDF8"/>
          </a:solidFill>
          <a:ln w="6350">
            <a:solidFill>
              <a:srgbClr val="E3DACB"/>
            </a:solidFill>
            <a:prstDash val="solid"/>
          </a:ln>
        </p:spPr>
      </p:sp>
      <p:sp>
        <p:nvSpPr>
          <p:cNvPr id="9" name="Text 7"/>
          <p:cNvSpPr/>
          <p:nvPr/>
        </p:nvSpPr>
        <p:spPr>
          <a:xfrm>
            <a:off x="3277394" y="1757682"/>
            <a:ext cx="198659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H2</a:t>
            </a:r>
            <a:endParaRPr lang="en-US" sz="2800" dirty="0"/>
          </a:p>
        </p:txBody>
      </p:sp>
      <p:sp>
        <p:nvSpPr>
          <p:cNvPr id="10" name="Text 8"/>
          <p:cNvSpPr/>
          <p:nvPr/>
        </p:nvSpPr>
        <p:spPr>
          <a:xfrm>
            <a:off x="3277394" y="2199639"/>
            <a:ext cx="198659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733"/>
                </a:solidFill>
                <a:latin typeface="IBM Plex Sans" pitchFamily="34" charset="0"/>
                <a:ea typeface="IBM Plex Sans" pitchFamily="34" charset="-122"/>
                <a:cs typeface="IBM Plex Sans" pitchFamily="34" charset="-120"/>
              </a:rPr>
              <a:t>Are very hot days becoming more frequent?</a:t>
            </a:r>
            <a:endParaRPr lang="en-US" sz="1300" dirty="0"/>
          </a:p>
        </p:txBody>
      </p:sp>
      <p:sp>
        <p:nvSpPr>
          <p:cNvPr id="11" name="Text 9"/>
          <p:cNvSpPr/>
          <p:nvPr/>
        </p:nvSpPr>
        <p:spPr>
          <a:xfrm>
            <a:off x="3277394" y="2696211"/>
            <a:ext cx="1986595"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C4501F"/>
                </a:solidFill>
                <a:latin typeface="IBM Plex Sans" pitchFamily="34" charset="0"/>
                <a:ea typeface="IBM Plex Sans" pitchFamily="34" charset="-122"/>
                <a:cs typeface="IBM Plex Sans" pitchFamily="34" charset="-120"/>
              </a:rPr>
              <a:t>Partly · 2023–24 the most extreme</a:t>
            </a:r>
            <a:endParaRPr lang="en-US" sz="1200" dirty="0"/>
          </a:p>
        </p:txBody>
      </p:sp>
      <p:sp>
        <p:nvSpPr>
          <p:cNvPr id="12" name="Shape 10"/>
          <p:cNvSpPr/>
          <p:nvPr/>
        </p:nvSpPr>
        <p:spPr>
          <a:xfrm>
            <a:off x="5452507" y="1638300"/>
            <a:ext cx="2218214" cy="1573530"/>
          </a:xfrm>
          <a:prstGeom prst="roundRect">
            <a:avLst>
              <a:gd name="adj" fmla="val 4843"/>
            </a:avLst>
          </a:prstGeom>
          <a:solidFill>
            <a:srgbClr val="14263A"/>
          </a:solidFill>
          <a:ln/>
        </p:spPr>
      </p:sp>
      <p:sp>
        <p:nvSpPr>
          <p:cNvPr id="13" name="Text 11"/>
          <p:cNvSpPr/>
          <p:nvPr/>
        </p:nvSpPr>
        <p:spPr>
          <a:xfrm>
            <a:off x="5592207" y="1752600"/>
            <a:ext cx="1996978"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2945E"/>
                </a:solidFill>
                <a:latin typeface="Source Serif 4" pitchFamily="18" charset="0"/>
                <a:ea typeface="Source Serif 4" pitchFamily="18" charset="-122"/>
                <a:cs typeface="Source Serif 4" pitchFamily="18" charset="-120"/>
              </a:rPr>
              <a:t>H3</a:t>
            </a:r>
            <a:endParaRPr lang="en-US" sz="2800" dirty="0"/>
          </a:p>
        </p:txBody>
      </p:sp>
      <p:sp>
        <p:nvSpPr>
          <p:cNvPr id="14" name="Text 12"/>
          <p:cNvSpPr/>
          <p:nvPr/>
        </p:nvSpPr>
        <p:spPr>
          <a:xfrm>
            <a:off x="5592207" y="2194561"/>
            <a:ext cx="199697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DF8"/>
                </a:solidFill>
                <a:latin typeface="IBM Plex Sans" pitchFamily="34" charset="0"/>
                <a:ea typeface="IBM Plex Sans" pitchFamily="34" charset="-122"/>
                <a:cs typeface="IBM Plex Sans" pitchFamily="34" charset="-120"/>
              </a:rPr>
              <a:t>Did heavy rain increase after 2016, or the data?</a:t>
            </a:r>
            <a:endParaRPr lang="en-US" sz="1300" dirty="0"/>
          </a:p>
        </p:txBody>
      </p:sp>
      <p:sp>
        <p:nvSpPr>
          <p:cNvPr id="15" name="Text 13"/>
          <p:cNvSpPr/>
          <p:nvPr/>
        </p:nvSpPr>
        <p:spPr>
          <a:xfrm>
            <a:off x="5592207" y="2691132"/>
            <a:ext cx="1996978"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2945E"/>
                </a:solidFill>
                <a:latin typeface="IBM Plex Sans" pitchFamily="34" charset="0"/>
                <a:ea typeface="IBM Plex Sans" pitchFamily="34" charset="-122"/>
                <a:cs typeface="IBM Plex Sans" pitchFamily="34" charset="-120"/>
              </a:rPr>
              <a:t>The data · rain uses 2016–2025</a:t>
            </a:r>
            <a:endParaRPr lang="en-US" sz="1200" dirty="0"/>
          </a:p>
        </p:txBody>
      </p:sp>
      <p:sp>
        <p:nvSpPr>
          <p:cNvPr id="16" name="Shape 14"/>
          <p:cNvSpPr/>
          <p:nvPr/>
        </p:nvSpPr>
        <p:spPr>
          <a:xfrm>
            <a:off x="815975" y="3316607"/>
            <a:ext cx="2211864" cy="1567180"/>
          </a:xfrm>
          <a:prstGeom prst="roundRect">
            <a:avLst>
              <a:gd name="adj" fmla="val 4660"/>
            </a:avLst>
          </a:prstGeom>
          <a:solidFill>
            <a:srgbClr val="FFFDF8"/>
          </a:solidFill>
          <a:ln w="6350">
            <a:solidFill>
              <a:srgbClr val="E3DACB"/>
            </a:solidFill>
            <a:prstDash val="solid"/>
          </a:ln>
        </p:spPr>
      </p:sp>
      <p:sp>
        <p:nvSpPr>
          <p:cNvPr id="17" name="Text 15"/>
          <p:cNvSpPr/>
          <p:nvPr/>
        </p:nvSpPr>
        <p:spPr>
          <a:xfrm>
            <a:off x="957580" y="3432811"/>
            <a:ext cx="198651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H4</a:t>
            </a:r>
            <a:endParaRPr lang="en-US" sz="2800" dirty="0"/>
          </a:p>
        </p:txBody>
      </p:sp>
      <p:sp>
        <p:nvSpPr>
          <p:cNvPr id="18" name="Text 16"/>
          <p:cNvSpPr/>
          <p:nvPr/>
        </p:nvSpPr>
        <p:spPr>
          <a:xfrm>
            <a:off x="957580" y="3874771"/>
            <a:ext cx="198651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733"/>
                </a:solidFill>
                <a:latin typeface="IBM Plex Sans" pitchFamily="34" charset="0"/>
                <a:ea typeface="IBM Plex Sans" pitchFamily="34" charset="-122"/>
                <a:cs typeface="IBM Plex Sans" pitchFamily="34" charset="-120"/>
              </a:rPr>
              <a:t>Are cold waves becoming rarer?</a:t>
            </a:r>
            <a:endParaRPr lang="en-US" sz="1300" dirty="0"/>
          </a:p>
        </p:txBody>
      </p:sp>
      <p:sp>
        <p:nvSpPr>
          <p:cNvPr id="19" name="Text 17"/>
          <p:cNvSpPr/>
          <p:nvPr/>
        </p:nvSpPr>
        <p:spPr>
          <a:xfrm>
            <a:off x="957580" y="4371339"/>
            <a:ext cx="1986513"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563B0"/>
                </a:solidFill>
                <a:latin typeface="IBM Plex Sans" pitchFamily="34" charset="0"/>
                <a:ea typeface="IBM Plex Sans" pitchFamily="34" charset="-122"/>
                <a:cs typeface="IBM Plex Sans" pitchFamily="34" charset="-120"/>
              </a:rPr>
              <a:t>Yes, slowly · 2022 still cold</a:t>
            </a:r>
            <a:endParaRPr lang="en-US" sz="1200" dirty="0"/>
          </a:p>
        </p:txBody>
      </p:sp>
      <p:sp>
        <p:nvSpPr>
          <p:cNvPr id="20" name="Shape 18"/>
          <p:cNvSpPr/>
          <p:nvPr/>
        </p:nvSpPr>
        <p:spPr>
          <a:xfrm>
            <a:off x="3135789" y="3316607"/>
            <a:ext cx="2211943" cy="1567180"/>
          </a:xfrm>
          <a:prstGeom prst="roundRect">
            <a:avLst>
              <a:gd name="adj" fmla="val 4660"/>
            </a:avLst>
          </a:prstGeom>
          <a:solidFill>
            <a:srgbClr val="FFFDF8"/>
          </a:solidFill>
          <a:ln w="6350">
            <a:solidFill>
              <a:srgbClr val="E3DACB"/>
            </a:solidFill>
            <a:prstDash val="solid"/>
          </a:ln>
        </p:spPr>
      </p:sp>
      <p:sp>
        <p:nvSpPr>
          <p:cNvPr id="21" name="Text 19"/>
          <p:cNvSpPr/>
          <p:nvPr/>
        </p:nvSpPr>
        <p:spPr>
          <a:xfrm>
            <a:off x="3277394" y="3432811"/>
            <a:ext cx="198659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H5</a:t>
            </a:r>
            <a:endParaRPr lang="en-US" sz="2800" dirty="0"/>
          </a:p>
        </p:txBody>
      </p:sp>
      <p:sp>
        <p:nvSpPr>
          <p:cNvPr id="22" name="Text 20"/>
          <p:cNvSpPr/>
          <p:nvPr/>
        </p:nvSpPr>
        <p:spPr>
          <a:xfrm>
            <a:off x="3277394" y="3874771"/>
            <a:ext cx="198659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733"/>
                </a:solidFill>
                <a:latin typeface="IBM Plex Sans" pitchFamily="34" charset="0"/>
                <a:ea typeface="IBM Plex Sans" pitchFamily="34" charset="-122"/>
                <a:cs typeface="IBM Plex Sans" pitchFamily="34" charset="-120"/>
              </a:rPr>
              <a:t>Do storms show warning signs in the days before?</a:t>
            </a:r>
            <a:endParaRPr lang="en-US" sz="1300" dirty="0"/>
          </a:p>
        </p:txBody>
      </p:sp>
      <p:sp>
        <p:nvSpPr>
          <p:cNvPr id="23" name="Text 21"/>
          <p:cNvSpPr/>
          <p:nvPr/>
        </p:nvSpPr>
        <p:spPr>
          <a:xfrm>
            <a:off x="3277394" y="4371339"/>
            <a:ext cx="1986595"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563B0"/>
                </a:solidFill>
                <a:latin typeface="IBM Plex Sans" pitchFamily="34" charset="0"/>
                <a:ea typeface="IBM Plex Sans" pitchFamily="34" charset="-122"/>
                <a:cs typeface="IBM Plex Sans" pitchFamily="34" charset="-120"/>
              </a:rPr>
              <a:t>Partly · heat builds up, storms don’t</a:t>
            </a:r>
            <a:endParaRPr lang="en-US" sz="1200" dirty="0"/>
          </a:p>
        </p:txBody>
      </p:sp>
      <p:sp>
        <p:nvSpPr>
          <p:cNvPr id="24" name="Shape 22"/>
          <p:cNvSpPr/>
          <p:nvPr/>
        </p:nvSpPr>
        <p:spPr>
          <a:xfrm>
            <a:off x="5455682" y="3316607"/>
            <a:ext cx="2211864" cy="1567180"/>
          </a:xfrm>
          <a:prstGeom prst="roundRect">
            <a:avLst>
              <a:gd name="adj" fmla="val 4660"/>
            </a:avLst>
          </a:prstGeom>
          <a:solidFill>
            <a:srgbClr val="FFFDF8"/>
          </a:solidFill>
          <a:ln w="6350">
            <a:solidFill>
              <a:srgbClr val="E3DACB"/>
            </a:solidFill>
            <a:prstDash val="solid"/>
          </a:ln>
        </p:spPr>
      </p:sp>
      <p:sp>
        <p:nvSpPr>
          <p:cNvPr id="25" name="Text 23"/>
          <p:cNvSpPr/>
          <p:nvPr/>
        </p:nvSpPr>
        <p:spPr>
          <a:xfrm>
            <a:off x="5597287" y="3432811"/>
            <a:ext cx="198651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H6</a:t>
            </a:r>
            <a:endParaRPr lang="en-US" sz="2800" dirty="0"/>
          </a:p>
        </p:txBody>
      </p:sp>
      <p:sp>
        <p:nvSpPr>
          <p:cNvPr id="26" name="Text 24"/>
          <p:cNvSpPr/>
          <p:nvPr/>
        </p:nvSpPr>
        <p:spPr>
          <a:xfrm>
            <a:off x="5597287" y="3874771"/>
            <a:ext cx="198651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733"/>
                </a:solidFill>
                <a:latin typeface="IBM Plex Sans" pitchFamily="34" charset="0"/>
                <a:ea typeface="IBM Plex Sans" pitchFamily="34" charset="-122"/>
                <a:cs typeface="IBM Plex Sans" pitchFamily="34" charset="-120"/>
              </a:rPr>
              <a:t>Can Khamasin-like days be detected?</a:t>
            </a:r>
            <a:endParaRPr lang="en-US" sz="1300" dirty="0"/>
          </a:p>
        </p:txBody>
      </p:sp>
      <p:sp>
        <p:nvSpPr>
          <p:cNvPr id="27" name="Text 25"/>
          <p:cNvSpPr/>
          <p:nvPr/>
        </p:nvSpPr>
        <p:spPr>
          <a:xfrm>
            <a:off x="5597287" y="4371339"/>
            <a:ext cx="1986513"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563B0"/>
                </a:solidFill>
                <a:latin typeface="IBM Plex Sans" pitchFamily="34" charset="0"/>
                <a:ea typeface="IBM Plex Sans" pitchFamily="34" charset="-122"/>
                <a:cs typeface="IBM Plex Sans" pitchFamily="34" charset="-120"/>
              </a:rPr>
              <a:t>Yes · but wind direction ends in 2012</a:t>
            </a:r>
            <a:endParaRPr lang="en-US" sz="1200" dirty="0"/>
          </a:p>
        </p:txBody>
      </p:sp>
      <p:sp>
        <p:nvSpPr>
          <p:cNvPr id="28" name="Shape 26"/>
          <p:cNvSpPr/>
          <p:nvPr/>
        </p:nvSpPr>
        <p:spPr>
          <a:xfrm>
            <a:off x="7877175" y="1641475"/>
            <a:ext cx="3498850" cy="2254250"/>
          </a:xfrm>
          <a:prstGeom prst="roundRect">
            <a:avLst>
              <a:gd name="adj" fmla="val 3239"/>
            </a:avLst>
          </a:prstGeom>
          <a:solidFill>
            <a:srgbClr val="FFFDF8"/>
          </a:solidFill>
          <a:ln w="6350">
            <a:solidFill>
              <a:srgbClr val="E3DACB"/>
            </a:solidFill>
            <a:prstDash val="solid"/>
          </a:ln>
        </p:spPr>
      </p:sp>
      <p:sp>
        <p:nvSpPr>
          <p:cNvPr id="29" name="Text 27"/>
          <p:cNvSpPr/>
          <p:nvPr/>
        </p:nvSpPr>
        <p:spPr>
          <a:xfrm>
            <a:off x="8031480" y="1770382"/>
            <a:ext cx="3285947"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Fig. 12a</a:t>
            </a:r>
            <a:r>
              <a:rPr lang="en-US" sz="1200" dirty="0">
                <a:solidFill>
                  <a:srgbClr val="5E6672"/>
                </a:solidFill>
                <a:latin typeface="IBM Plex Sans" pitchFamily="34" charset="0"/>
                <a:ea typeface="IBM Plex Sans" pitchFamily="34" charset="-122"/>
                <a:cs typeface="IBM Plex Sans" pitchFamily="34" charset="-120"/>
              </a:rPr>
              <a:t> · H5: each sign alone, 1–7 days before a storm</a:t>
            </a:r>
            <a:endParaRPr lang="en-US" sz="1200" dirty="0"/>
          </a:p>
        </p:txBody>
      </p:sp>
      <p:pic>
        <p:nvPicPr>
          <p:cNvPr id="30" name="Image 0" descr="Task 4 heatmap: correlation of each weather sign with a storm 1 to 7 days before; all links tiny">    </p:cNvPr>
          <p:cNvPicPr>
            <a:picLocks noChangeAspect="1"/>
          </p:cNvPicPr>
          <p:nvPr/>
        </p:nvPicPr>
        <p:blipFill>
          <a:blip r:embed="rId1"/>
          <a:srcRect l="0" r="0" t="-165" b="-165"/>
          <a:stretch/>
        </p:blipFill>
        <p:spPr>
          <a:xfrm>
            <a:off x="8031480" y="2242821"/>
            <a:ext cx="3200400" cy="1524000"/>
          </a:xfrm>
          <a:prstGeom prst="rect">
            <a:avLst/>
          </a:prstGeom>
        </p:spPr>
      </p:pic>
      <p:sp>
        <p:nvSpPr>
          <p:cNvPr id="31" name="Shape 28"/>
          <p:cNvSpPr/>
          <p:nvPr/>
        </p:nvSpPr>
        <p:spPr>
          <a:xfrm>
            <a:off x="7874000" y="4025900"/>
            <a:ext cx="3505200" cy="1174115"/>
          </a:xfrm>
          <a:prstGeom prst="roundRect">
            <a:avLst>
              <a:gd name="adj" fmla="val 6490"/>
            </a:avLst>
          </a:prstGeom>
          <a:solidFill>
            <a:srgbClr val="14263A"/>
          </a:solidFill>
          <a:ln/>
        </p:spPr>
      </p:sp>
      <p:sp>
        <p:nvSpPr>
          <p:cNvPr id="32" name="Text 29"/>
          <p:cNvSpPr/>
          <p:nvPr/>
        </p:nvSpPr>
        <p:spPr>
          <a:xfrm>
            <a:off x="8026400" y="4152900"/>
            <a:ext cx="329641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33" name="Text 30"/>
          <p:cNvSpPr/>
          <p:nvPr/>
        </p:nvSpPr>
        <p:spPr>
          <a:xfrm>
            <a:off x="8026400" y="4404361"/>
            <a:ext cx="329641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All six were answered from the years they describe. None was yet tested on years a model never saw.</a:t>
            </a:r>
            <a:endParaRPr lang="en-US" sz="1300" dirty="0"/>
          </a:p>
        </p:txBody>
      </p:sp>
      <p:sp>
        <p:nvSpPr>
          <p:cNvPr id="34" name="Text 31"/>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5" name="Text 32"/>
          <p:cNvSpPr/>
          <p:nvPr/>
        </p:nvSpPr>
        <p:spPr>
          <a:xfrm>
            <a:off x="6146800" y="6238239"/>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06 / 31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TASK 4 RECAP · WHAT I LEARNT</a:t>
            </a:r>
            <a:endParaRPr lang="en-US" sz="1200" dirty="0"/>
          </a:p>
        </p:txBody>
      </p:sp>
      <p:sp>
        <p:nvSpPr>
          <p:cNvPr id="3" name="Text 1"/>
          <p:cNvSpPr/>
          <p:nvPr>
            <p:ph type="title"/>
          </p:nvPr>
        </p:nvSpPr>
        <p:spPr>
          <a:xfrm>
            <a:off x="812800" y="9880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DF8"/>
                </a:solidFill>
                <a:latin typeface="Source Serif 4" pitchFamily="18" charset="0"/>
                <a:ea typeface="Source Serif 4" pitchFamily="18" charset="-122"/>
                <a:cs typeface="Source Serif 4" pitchFamily="18" charset="-120"/>
              </a:rPr>
              <a:t>Understand the data before any model</a:t>
            </a:r>
            <a:endParaRPr lang="en-US" sz="3200" dirty="0"/>
          </a:p>
        </p:txBody>
      </p:sp>
      <p:sp>
        <p:nvSpPr>
          <p:cNvPr id="4" name="Text 2"/>
          <p:cNvSpPr/>
          <p:nvPr/>
        </p:nvSpPr>
        <p:spPr>
          <a:xfrm>
            <a:off x="812800" y="1638300"/>
            <a:ext cx="699833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calendar explains most of it.</a:t>
            </a:r>
            <a:r>
              <a:rPr lang="en-US" sz="1300" dirty="0">
                <a:solidFill>
                  <a:srgbClr val="BFCBD8"/>
                </a:solidFill>
                <a:latin typeface="IBM Plex Sans" pitchFamily="34" charset="0"/>
                <a:ea typeface="IBM Plex Sans" pitchFamily="34" charset="-122"/>
                <a:cs typeface="IBM Plex Sans" pitchFamily="34" charset="-120"/>
              </a:rPr>
              <a:t> A 19 °C swing, 2.2 °C of daily noise → season as sine/cosine inputs.</a:t>
            </a:r>
            <a:endParaRPr lang="en-US" sz="1300" dirty="0"/>
          </a:p>
        </p:txBody>
      </p:sp>
      <p:sp>
        <p:nvSpPr>
          <p:cNvPr id="5" name="Text 3"/>
          <p:cNvSpPr/>
          <p:nvPr/>
        </p:nvSpPr>
        <p:spPr>
          <a:xfrm>
            <a:off x="812800" y="2147571"/>
            <a:ext cx="6998335"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Weather remembers only days.</a:t>
            </a:r>
            <a:r>
              <a:rPr lang="en-US" sz="1300" dirty="0">
                <a:solidFill>
                  <a:srgbClr val="BFCBD8"/>
                </a:solidFill>
                <a:latin typeface="IBM Plex Sans" pitchFamily="34" charset="0"/>
                <a:ea typeface="IBM Plex Sans" pitchFamily="34" charset="-122"/>
                <a:cs typeface="IBM Plex Sans" pitchFamily="34" charset="-120"/>
              </a:rPr>
              <a:t> The link fades in ~5 days → lags 1–3; no lag 365.</a:t>
            </a:r>
            <a:endParaRPr lang="en-US" sz="1300" dirty="0"/>
          </a:p>
        </p:txBody>
      </p:sp>
      <p:sp>
        <p:nvSpPr>
          <p:cNvPr id="6" name="Text 4"/>
          <p:cNvSpPr/>
          <p:nvPr/>
        </p:nvSpPr>
        <p:spPr>
          <a:xfrm>
            <a:off x="812800" y="2433957"/>
            <a:ext cx="699833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Beat a simple baseline first.</a:t>
            </a:r>
            <a:r>
              <a:rPr lang="en-US" sz="1300" dirty="0">
                <a:solidFill>
                  <a:srgbClr val="BFCBD8"/>
                </a:solidFill>
                <a:latin typeface="IBM Plex Sans" pitchFamily="34" charset="0"/>
                <a:ea typeface="IBM Plex Sans" pitchFamily="34" charset="-122"/>
                <a:cs typeface="IBM Plex Sans" pitchFamily="34" charset="-120"/>
              </a:rPr>
              <a:t> “Tomorrow = today” scores 1.04 °C → every model scored on the same days.</a:t>
            </a:r>
            <a:endParaRPr lang="en-US" sz="1300" dirty="0"/>
          </a:p>
        </p:txBody>
      </p:sp>
      <p:sp>
        <p:nvSpPr>
          <p:cNvPr id="7" name="Text 5"/>
          <p:cNvSpPr/>
          <p:nvPr/>
        </p:nvSpPr>
        <p:spPr>
          <a:xfrm>
            <a:off x="812800" y="2943225"/>
            <a:ext cx="699833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Extremes are weather, not errors.</a:t>
            </a:r>
            <a:r>
              <a:rPr lang="en-US" sz="1300" dirty="0">
                <a:solidFill>
                  <a:srgbClr val="BFCBD8"/>
                </a:solidFill>
                <a:latin typeface="IBM Plex Sans" pitchFamily="34" charset="0"/>
                <a:ea typeface="IBM Plex Sans" pitchFamily="34" charset="-122"/>
                <a:cs typeface="IBM Plex Sans" pitchFamily="34" charset="-120"/>
              </a:rPr>
              <a:t> Outliers match storms, heat and cold → keep them; judge models on them.</a:t>
            </a:r>
            <a:endParaRPr lang="en-US" sz="1300" dirty="0"/>
          </a:p>
        </p:txBody>
      </p:sp>
      <p:sp>
        <p:nvSpPr>
          <p:cNvPr id="8" name="Text 6"/>
          <p:cNvSpPr/>
          <p:nvPr/>
        </p:nvSpPr>
        <p:spPr>
          <a:xfrm>
            <a:off x="812800" y="3452496"/>
            <a:ext cx="699833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Check the data, not only the weather.</a:t>
            </a:r>
            <a:r>
              <a:rPr lang="en-US" sz="1300" dirty="0">
                <a:solidFill>
                  <a:srgbClr val="BFCBD8"/>
                </a:solidFill>
                <a:latin typeface="IBM Plex Sans" pitchFamily="34" charset="0"/>
                <a:ea typeface="IBM Plex Sans" pitchFamily="34" charset="-122"/>
                <a:cs typeface="IBM Plex Sans" pitchFamily="34" charset="-120"/>
              </a:rPr>
              <a:t> Rain doubles at 2016; wind direction breaks in 2013.</a:t>
            </a:r>
            <a:endParaRPr lang="en-US" sz="1300" dirty="0"/>
          </a:p>
        </p:txBody>
      </p:sp>
      <p:sp>
        <p:nvSpPr>
          <p:cNvPr id="9" name="Text 7"/>
          <p:cNvSpPr/>
          <p:nvPr/>
        </p:nvSpPr>
        <p:spPr>
          <a:xfrm>
            <a:off x="812800" y="3961764"/>
            <a:ext cx="699833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Even EDA can leak the future.</a:t>
            </a:r>
            <a:r>
              <a:rPr lang="en-US" sz="1300" dirty="0">
                <a:solidFill>
                  <a:srgbClr val="BFCBD8"/>
                </a:solidFill>
                <a:latin typeface="IBM Plex Sans" pitchFamily="34" charset="0"/>
                <a:ea typeface="IBM Plex Sans" pitchFamily="34" charset="-122"/>
                <a:cs typeface="IBM Plex Sans" pitchFamily="34" charset="-120"/>
              </a:rPr>
              <a:t> My normals used all 36 years → from now on, training years only.</a:t>
            </a:r>
            <a:endParaRPr lang="en-US" sz="1300" dirty="0"/>
          </a:p>
        </p:txBody>
      </p:sp>
      <p:sp>
        <p:nvSpPr>
          <p:cNvPr id="10" name="Shape 8"/>
          <p:cNvSpPr/>
          <p:nvPr/>
        </p:nvSpPr>
        <p:spPr>
          <a:xfrm>
            <a:off x="815975" y="4474211"/>
            <a:ext cx="6788150" cy="732155"/>
          </a:xfrm>
          <a:prstGeom prst="roundRect">
            <a:avLst>
              <a:gd name="adj" fmla="val 9974"/>
            </a:avLst>
          </a:prstGeom>
          <a:solidFill>
            <a:srgbClr val="1E3550"/>
          </a:solidFill>
          <a:ln w="6350">
            <a:solidFill>
              <a:srgbClr val="34506E"/>
            </a:solidFill>
            <a:prstDash val="solid"/>
          </a:ln>
        </p:spPr>
      </p:sp>
      <p:sp>
        <p:nvSpPr>
          <p:cNvPr id="11" name="Text 9"/>
          <p:cNvSpPr/>
          <p:nvPr/>
        </p:nvSpPr>
        <p:spPr>
          <a:xfrm>
            <a:off x="970280" y="4603114"/>
            <a:ext cx="667392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BIGGEST LESSON</a:t>
            </a:r>
            <a:endParaRPr lang="en-US" sz="1200" dirty="0"/>
          </a:p>
        </p:txBody>
      </p:sp>
      <p:sp>
        <p:nvSpPr>
          <p:cNvPr id="12" name="Text 10"/>
          <p:cNvSpPr/>
          <p:nvPr/>
        </p:nvSpPr>
        <p:spPr>
          <a:xfrm>
            <a:off x="970280" y="4854575"/>
            <a:ext cx="6673926"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EDA wrote the model: every Task 5 choice traces back to a Task 4 finding.</a:t>
            </a:r>
            <a:endParaRPr lang="en-US" sz="1300" dirty="0"/>
          </a:p>
        </p:txBody>
      </p:sp>
      <p:sp>
        <p:nvSpPr>
          <p:cNvPr id="13" name="Shape 11"/>
          <p:cNvSpPr/>
          <p:nvPr/>
        </p:nvSpPr>
        <p:spPr>
          <a:xfrm>
            <a:off x="7861300" y="1638300"/>
            <a:ext cx="3517900" cy="4099560"/>
          </a:xfrm>
          <a:prstGeom prst="roundRect">
            <a:avLst>
              <a:gd name="adj" fmla="val 2166"/>
            </a:avLst>
          </a:prstGeom>
          <a:solidFill>
            <a:srgbClr val="FFFDF8"/>
          </a:solidFill>
          <a:ln/>
        </p:spPr>
      </p:sp>
      <p:sp>
        <p:nvSpPr>
          <p:cNvPr id="14" name="Text 12"/>
          <p:cNvSpPr/>
          <p:nvPr/>
        </p:nvSpPr>
        <p:spPr>
          <a:xfrm>
            <a:off x="8013700" y="1765300"/>
            <a:ext cx="33094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9a</a:t>
            </a:r>
            <a:r>
              <a:rPr lang="en-US" sz="1200" dirty="0">
                <a:solidFill>
                  <a:srgbClr val="5E6672"/>
                </a:solidFill>
                <a:latin typeface="IBM Plex Sans" pitchFamily="34" charset="0"/>
                <a:ea typeface="IBM Plex Sans" pitchFamily="34" charset="-122"/>
                <a:cs typeface="IBM Plex Sans" pitchFamily="34" charset="-120"/>
              </a:rPr>
              <a:t> · Additive decomposition</a:t>
            </a:r>
            <a:endParaRPr lang="en-US" sz="1200" dirty="0"/>
          </a:p>
        </p:txBody>
      </p:sp>
      <p:pic>
        <p:nvPicPr>
          <p:cNvPr id="15" name="Image 0" descr="Task 4 additive decomposition of daily mean temperature into observed, trend, seasonal and residual">    </p:cNvPr>
          <p:cNvPicPr>
            <a:picLocks noChangeAspect="1"/>
          </p:cNvPicPr>
          <p:nvPr/>
        </p:nvPicPr>
        <p:blipFill>
          <a:blip r:embed="rId1"/>
          <a:srcRect l="-51" r="-51" t="0" b="0"/>
          <a:stretch/>
        </p:blipFill>
        <p:spPr>
          <a:xfrm>
            <a:off x="8013700" y="2054861"/>
            <a:ext cx="2857500" cy="3556000"/>
          </a:xfrm>
          <a:prstGeom prst="rect">
            <a:avLst/>
          </a:prstGeom>
        </p:spPr>
      </p:pic>
      <p:sp>
        <p:nvSpPr>
          <p:cNvPr id="16" name="Text 13"/>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39"/>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Source: NASA POWER, 1990–2025 · 07 / 31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FROM TASK 4 TO TASK 5 · DIFFERENCES</a:t>
            </a:r>
            <a:endParaRPr lang="en-US" sz="1200" dirty="0"/>
          </a:p>
        </p:txBody>
      </p:sp>
      <p:sp>
        <p:nvSpPr>
          <p:cNvPr id="3" name="Text 1"/>
          <p:cNvSpPr/>
          <p:nvPr>
            <p:ph type="title"/>
          </p:nvPr>
        </p:nvSpPr>
        <p:spPr>
          <a:xfrm>
            <a:off x="812800" y="9880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Six things that changed, and why</a:t>
            </a:r>
            <a:endParaRPr lang="en-US" sz="3200" dirty="0"/>
          </a:p>
        </p:txBody>
      </p:sp>
      <p:sp>
        <p:nvSpPr>
          <p:cNvPr id="4" name="Shape 2"/>
          <p:cNvSpPr/>
          <p:nvPr/>
        </p:nvSpPr>
        <p:spPr>
          <a:xfrm>
            <a:off x="815975" y="1641475"/>
            <a:ext cx="3308350" cy="1322070"/>
          </a:xfrm>
          <a:prstGeom prst="roundRect">
            <a:avLst>
              <a:gd name="adj" fmla="val 5524"/>
            </a:avLst>
          </a:prstGeom>
          <a:solidFill>
            <a:srgbClr val="FFFDF8"/>
          </a:solidFill>
          <a:ln w="6350">
            <a:solidFill>
              <a:srgbClr val="E3DACB"/>
            </a:solidFill>
            <a:prstDash val="solid"/>
          </a:ln>
        </p:spPr>
      </p:sp>
      <p:sp>
        <p:nvSpPr>
          <p:cNvPr id="5" name="Text 3"/>
          <p:cNvSpPr/>
          <p:nvPr/>
        </p:nvSpPr>
        <p:spPr>
          <a:xfrm>
            <a:off x="944880" y="1744982"/>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1 · THE QUESTION</a:t>
            </a:r>
            <a:endParaRPr lang="en-US" sz="1200" dirty="0"/>
          </a:p>
        </p:txBody>
      </p:sp>
      <p:sp>
        <p:nvSpPr>
          <p:cNvPr id="6" name="Text 4"/>
          <p:cNvSpPr/>
          <p:nvPr/>
        </p:nvSpPr>
        <p:spPr>
          <a:xfrm>
            <a:off x="944880" y="1996439"/>
            <a:ext cx="3142056"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Describe 1990–2025 → forecast tomorrow from today</a:t>
            </a:r>
            <a:endParaRPr lang="en-US" sz="1300" dirty="0"/>
          </a:p>
        </p:txBody>
      </p:sp>
      <p:sp>
        <p:nvSpPr>
          <p:cNvPr id="7" name="Text 5"/>
          <p:cNvSpPr/>
          <p:nvPr/>
        </p:nvSpPr>
        <p:spPr>
          <a:xfrm>
            <a:off x="944880" y="2463800"/>
            <a:ext cx="314205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Why: a forecast can be checked on the future</a:t>
            </a:r>
            <a:endParaRPr lang="en-US" sz="1200" dirty="0"/>
          </a:p>
        </p:txBody>
      </p:sp>
      <p:sp>
        <p:nvSpPr>
          <p:cNvPr id="8" name="Shape 6"/>
          <p:cNvSpPr/>
          <p:nvPr/>
        </p:nvSpPr>
        <p:spPr>
          <a:xfrm>
            <a:off x="4232275" y="1641475"/>
            <a:ext cx="3308350" cy="1322070"/>
          </a:xfrm>
          <a:prstGeom prst="roundRect">
            <a:avLst>
              <a:gd name="adj" fmla="val 5524"/>
            </a:avLst>
          </a:prstGeom>
          <a:solidFill>
            <a:srgbClr val="FFFDF8"/>
          </a:solidFill>
          <a:ln w="6350">
            <a:solidFill>
              <a:srgbClr val="E3DACB"/>
            </a:solidFill>
            <a:prstDash val="solid"/>
          </a:ln>
        </p:spPr>
      </p:sp>
      <p:sp>
        <p:nvSpPr>
          <p:cNvPr id="9" name="Text 7"/>
          <p:cNvSpPr/>
          <p:nvPr/>
        </p:nvSpPr>
        <p:spPr>
          <a:xfrm>
            <a:off x="4361180" y="1744982"/>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2 · THE TOOLS</a:t>
            </a:r>
            <a:endParaRPr lang="en-US" sz="1200" dirty="0"/>
          </a:p>
        </p:txBody>
      </p:sp>
      <p:sp>
        <p:nvSpPr>
          <p:cNvPr id="10" name="Text 8"/>
          <p:cNvSpPr/>
          <p:nvPr/>
        </p:nvSpPr>
        <p:spPr>
          <a:xfrm>
            <a:off x="4361180" y="1996439"/>
            <a:ext cx="3142056"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Baselines → SARIMAX with season, trend, memory; LSTM</a:t>
            </a:r>
            <a:endParaRPr lang="en-US" sz="1300" dirty="0"/>
          </a:p>
        </p:txBody>
      </p:sp>
      <p:sp>
        <p:nvSpPr>
          <p:cNvPr id="11" name="Text 9"/>
          <p:cNvSpPr/>
          <p:nvPr/>
        </p:nvSpPr>
        <p:spPr>
          <a:xfrm>
            <a:off x="4361180" y="2463800"/>
            <a:ext cx="314205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Why: turn the patterns found into one forecast</a:t>
            </a:r>
            <a:endParaRPr lang="en-US" sz="1200" dirty="0"/>
          </a:p>
        </p:txBody>
      </p:sp>
      <p:sp>
        <p:nvSpPr>
          <p:cNvPr id="12" name="Shape 10"/>
          <p:cNvSpPr/>
          <p:nvPr/>
        </p:nvSpPr>
        <p:spPr>
          <a:xfrm>
            <a:off x="815975" y="3071496"/>
            <a:ext cx="3308350" cy="1123950"/>
          </a:xfrm>
          <a:prstGeom prst="roundRect">
            <a:avLst>
              <a:gd name="adj" fmla="val 6497"/>
            </a:avLst>
          </a:prstGeom>
          <a:solidFill>
            <a:srgbClr val="FFFDF8"/>
          </a:solidFill>
          <a:ln w="6350">
            <a:solidFill>
              <a:srgbClr val="E3DACB"/>
            </a:solidFill>
            <a:prstDash val="solid"/>
          </a:ln>
        </p:spPr>
      </p:sp>
      <p:sp>
        <p:nvSpPr>
          <p:cNvPr id="13" name="Text 11"/>
          <p:cNvSpPr/>
          <p:nvPr/>
        </p:nvSpPr>
        <p:spPr>
          <a:xfrm>
            <a:off x="944880" y="3175000"/>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B0"/>
                </a:solidFill>
                <a:latin typeface="IBM Plex Sans" pitchFamily="34" charset="0"/>
                <a:ea typeface="IBM Plex Sans" pitchFamily="34" charset="-122"/>
                <a:cs typeface="IBM Plex Sans" pitchFamily="34" charset="-120"/>
              </a:rPr>
              <a:t>3 · NO LEAKAGE</a:t>
            </a:r>
            <a:endParaRPr lang="en-US" sz="1200" dirty="0"/>
          </a:p>
        </p:txBody>
      </p:sp>
      <p:sp>
        <p:nvSpPr>
          <p:cNvPr id="14" name="Text 12"/>
          <p:cNvSpPr/>
          <p:nvPr/>
        </p:nvSpPr>
        <p:spPr>
          <a:xfrm>
            <a:off x="944880" y="3426461"/>
            <a:ext cx="3142056"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Normals from all years → training years only</a:t>
            </a:r>
            <a:endParaRPr lang="en-US" sz="1300" dirty="0"/>
          </a:p>
        </p:txBody>
      </p:sp>
      <p:sp>
        <p:nvSpPr>
          <p:cNvPr id="15" name="Text 13"/>
          <p:cNvSpPr/>
          <p:nvPr/>
        </p:nvSpPr>
        <p:spPr>
          <a:xfrm>
            <a:off x="944880" y="3893821"/>
            <a:ext cx="314205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Why: no future value may enter a forecast</a:t>
            </a:r>
            <a:endParaRPr lang="en-US" sz="1200" dirty="0"/>
          </a:p>
        </p:txBody>
      </p:sp>
      <p:sp>
        <p:nvSpPr>
          <p:cNvPr id="16" name="Shape 14"/>
          <p:cNvSpPr/>
          <p:nvPr/>
        </p:nvSpPr>
        <p:spPr>
          <a:xfrm>
            <a:off x="4232275" y="3071496"/>
            <a:ext cx="3308350" cy="1123950"/>
          </a:xfrm>
          <a:prstGeom prst="roundRect">
            <a:avLst>
              <a:gd name="adj" fmla="val 6497"/>
            </a:avLst>
          </a:prstGeom>
          <a:solidFill>
            <a:srgbClr val="FFFDF8"/>
          </a:solidFill>
          <a:ln w="6350">
            <a:solidFill>
              <a:srgbClr val="E3DACB"/>
            </a:solidFill>
            <a:prstDash val="solid"/>
          </a:ln>
        </p:spPr>
      </p:sp>
      <p:sp>
        <p:nvSpPr>
          <p:cNvPr id="17" name="Text 15"/>
          <p:cNvSpPr/>
          <p:nvPr/>
        </p:nvSpPr>
        <p:spPr>
          <a:xfrm>
            <a:off x="4361180" y="3175000"/>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B0"/>
                </a:solidFill>
                <a:latin typeface="IBM Plex Sans" pitchFamily="34" charset="0"/>
                <a:ea typeface="IBM Plex Sans" pitchFamily="34" charset="-122"/>
                <a:cs typeface="IBM Plex Sans" pitchFamily="34" charset="-120"/>
              </a:rPr>
              <a:t>4 · VALIDATION</a:t>
            </a:r>
            <a:endParaRPr lang="en-US" sz="1200" dirty="0"/>
          </a:p>
        </p:txBody>
      </p:sp>
      <p:sp>
        <p:nvSpPr>
          <p:cNvPr id="18" name="Text 16"/>
          <p:cNvSpPr/>
          <p:nvPr/>
        </p:nvSpPr>
        <p:spPr>
          <a:xfrm>
            <a:off x="4361180" y="3426461"/>
            <a:ext cx="3142056"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One split → walk-forward on 13 years; test once</a:t>
            </a:r>
            <a:endParaRPr lang="en-US" sz="1300" dirty="0"/>
          </a:p>
        </p:txBody>
      </p:sp>
      <p:sp>
        <p:nvSpPr>
          <p:cNvPr id="19" name="Text 17"/>
          <p:cNvSpPr/>
          <p:nvPr/>
        </p:nvSpPr>
        <p:spPr>
          <a:xfrm>
            <a:off x="4361180" y="3893821"/>
            <a:ext cx="314205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Why: one number can be luck</a:t>
            </a:r>
            <a:endParaRPr lang="en-US" sz="1200" dirty="0"/>
          </a:p>
        </p:txBody>
      </p:sp>
      <p:sp>
        <p:nvSpPr>
          <p:cNvPr id="20" name="Shape 18"/>
          <p:cNvSpPr/>
          <p:nvPr/>
        </p:nvSpPr>
        <p:spPr>
          <a:xfrm>
            <a:off x="815975" y="4303396"/>
            <a:ext cx="3308350" cy="1322070"/>
          </a:xfrm>
          <a:prstGeom prst="roundRect">
            <a:avLst>
              <a:gd name="adj" fmla="val 5524"/>
            </a:avLst>
          </a:prstGeom>
          <a:solidFill>
            <a:srgbClr val="FFFDF8"/>
          </a:solidFill>
          <a:ln w="6350">
            <a:solidFill>
              <a:srgbClr val="E3DACB"/>
            </a:solidFill>
            <a:prstDash val="solid"/>
          </a:ln>
        </p:spPr>
      </p:sp>
      <p:sp>
        <p:nvSpPr>
          <p:cNvPr id="21" name="Text 19"/>
          <p:cNvSpPr/>
          <p:nvPr/>
        </p:nvSpPr>
        <p:spPr>
          <a:xfrm>
            <a:off x="944880" y="4406900"/>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5 · STORM SIGNS</a:t>
            </a:r>
            <a:endParaRPr lang="en-US" sz="1200" dirty="0"/>
          </a:p>
        </p:txBody>
      </p:sp>
      <p:sp>
        <p:nvSpPr>
          <p:cNvPr id="22" name="Text 20"/>
          <p:cNvSpPr/>
          <p:nvPr/>
        </p:nvSpPr>
        <p:spPr>
          <a:xfrm>
            <a:off x="944880" y="4658364"/>
            <a:ext cx="3142056"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Each sign alone → signs combined</a:t>
            </a:r>
            <a:endParaRPr lang="en-US" sz="1300" dirty="0"/>
          </a:p>
        </p:txBody>
      </p:sp>
      <p:sp>
        <p:nvSpPr>
          <p:cNvPr id="23" name="Text 21"/>
          <p:cNvSpPr/>
          <p:nvPr/>
        </p:nvSpPr>
        <p:spPr>
          <a:xfrm>
            <a:off x="944880" y="4911092"/>
            <a:ext cx="314205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Why: weak signs can be strong together</a:t>
            </a:r>
            <a:endParaRPr lang="en-US" sz="1200" dirty="0"/>
          </a:p>
        </p:txBody>
      </p:sp>
      <p:sp>
        <p:nvSpPr>
          <p:cNvPr id="24" name="Shape 22"/>
          <p:cNvSpPr/>
          <p:nvPr/>
        </p:nvSpPr>
        <p:spPr>
          <a:xfrm>
            <a:off x="4232275" y="4303396"/>
            <a:ext cx="3308350" cy="1322070"/>
          </a:xfrm>
          <a:prstGeom prst="roundRect">
            <a:avLst>
              <a:gd name="adj" fmla="val 5524"/>
            </a:avLst>
          </a:prstGeom>
          <a:solidFill>
            <a:srgbClr val="FFFDF8"/>
          </a:solidFill>
          <a:ln w="6350">
            <a:solidFill>
              <a:srgbClr val="E3DACB"/>
            </a:solidFill>
            <a:prstDash val="solid"/>
          </a:ln>
        </p:spPr>
      </p:sp>
      <p:sp>
        <p:nvSpPr>
          <p:cNvPr id="25" name="Text 23"/>
          <p:cNvSpPr/>
          <p:nvPr/>
        </p:nvSpPr>
        <p:spPr>
          <a:xfrm>
            <a:off x="4361180" y="4406900"/>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6 · EXTREMES</a:t>
            </a:r>
            <a:endParaRPr lang="en-US" sz="1200" dirty="0"/>
          </a:p>
        </p:txBody>
      </p:sp>
      <p:sp>
        <p:nvSpPr>
          <p:cNvPr id="26" name="Text 24"/>
          <p:cNvSpPr/>
          <p:nvPr/>
        </p:nvSpPr>
        <p:spPr>
          <a:xfrm>
            <a:off x="4361180" y="4658364"/>
            <a:ext cx="3142056"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Counted → forecasts judged on them, warned ahead</a:t>
            </a:r>
            <a:endParaRPr lang="en-US" sz="1300" dirty="0"/>
          </a:p>
        </p:txBody>
      </p:sp>
      <p:sp>
        <p:nvSpPr>
          <p:cNvPr id="27" name="Text 25"/>
          <p:cNvSpPr/>
          <p:nvPr/>
        </p:nvSpPr>
        <p:spPr>
          <a:xfrm>
            <a:off x="4361180" y="5125721"/>
            <a:ext cx="314205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Why: the days that matter are where forecasts fail</a:t>
            </a:r>
            <a:endParaRPr lang="en-US" sz="1200" dirty="0"/>
          </a:p>
        </p:txBody>
      </p:sp>
      <p:sp>
        <p:nvSpPr>
          <p:cNvPr id="28" name="Shape 26"/>
          <p:cNvSpPr/>
          <p:nvPr/>
        </p:nvSpPr>
        <p:spPr>
          <a:xfrm>
            <a:off x="7750175" y="1641475"/>
            <a:ext cx="3625850" cy="1998980"/>
          </a:xfrm>
          <a:prstGeom prst="roundRect">
            <a:avLst>
              <a:gd name="adj" fmla="val 3653"/>
            </a:avLst>
          </a:prstGeom>
          <a:solidFill>
            <a:srgbClr val="FFFDF8"/>
          </a:solidFill>
          <a:ln w="6350">
            <a:solidFill>
              <a:srgbClr val="E3DACB"/>
            </a:solidFill>
            <a:prstDash val="solid"/>
          </a:ln>
        </p:spPr>
      </p:sp>
      <p:sp>
        <p:nvSpPr>
          <p:cNvPr id="29" name="Text 27"/>
          <p:cNvSpPr/>
          <p:nvPr/>
        </p:nvSpPr>
        <p:spPr>
          <a:xfrm>
            <a:off x="7904480" y="1770382"/>
            <a:ext cx="3416757"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Fig. 14</a:t>
            </a:r>
            <a:r>
              <a:rPr lang="en-US" sz="1200" dirty="0">
                <a:solidFill>
                  <a:srgbClr val="5E6672"/>
                </a:solidFill>
                <a:latin typeface="IBM Plex Sans" pitchFamily="34" charset="0"/>
                <a:ea typeface="IBM Plex Sans" pitchFamily="34" charset="-122"/>
                <a:cs typeface="IBM Plex Sans" pitchFamily="34" charset="-120"/>
              </a:rPr>
              <a:t> · Same split by time in both tasks</a:t>
            </a:r>
            <a:endParaRPr lang="en-US" sz="1200" dirty="0"/>
          </a:p>
        </p:txBody>
      </p:sp>
      <p:pic>
        <p:nvPicPr>
          <p:cNvPr id="30" name="Image 0" descr="Train, validation and test split by time for temperature and rain">    </p:cNvPr>
          <p:cNvPicPr>
            <a:picLocks noChangeAspect="1"/>
          </p:cNvPicPr>
          <p:nvPr/>
        </p:nvPicPr>
        <p:blipFill>
          <a:blip r:embed="rId1"/>
          <a:srcRect l="0" r="0" t="-37" b="-37"/>
          <a:stretch/>
        </p:blipFill>
        <p:spPr>
          <a:xfrm>
            <a:off x="7904480" y="2044700"/>
            <a:ext cx="3327400" cy="1466850"/>
          </a:xfrm>
          <a:prstGeom prst="rect">
            <a:avLst/>
          </a:prstGeom>
        </p:spPr>
      </p:pic>
      <p:sp>
        <p:nvSpPr>
          <p:cNvPr id="31" name="Shape 28"/>
          <p:cNvSpPr/>
          <p:nvPr/>
        </p:nvSpPr>
        <p:spPr>
          <a:xfrm>
            <a:off x="7747000" y="3770632"/>
            <a:ext cx="3632200" cy="1174115"/>
          </a:xfrm>
          <a:prstGeom prst="roundRect">
            <a:avLst>
              <a:gd name="adj" fmla="val 6490"/>
            </a:avLst>
          </a:prstGeom>
          <a:solidFill>
            <a:srgbClr val="14263A"/>
          </a:solidFill>
          <a:ln/>
        </p:spPr>
      </p:sp>
      <p:sp>
        <p:nvSpPr>
          <p:cNvPr id="32" name="Text 29"/>
          <p:cNvSpPr/>
          <p:nvPr/>
        </p:nvSpPr>
        <p:spPr>
          <a:xfrm>
            <a:off x="7899400" y="3897632"/>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33" name="Text 30"/>
          <p:cNvSpPr/>
          <p:nvPr/>
        </p:nvSpPr>
        <p:spPr>
          <a:xfrm>
            <a:off x="7899400" y="4149092"/>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Data, target and split stay the same, so every Task 5 number is directly comparable with Task 4.</a:t>
            </a:r>
            <a:endParaRPr lang="en-US" sz="1300" dirty="0"/>
          </a:p>
        </p:txBody>
      </p:sp>
      <p:sp>
        <p:nvSpPr>
          <p:cNvPr id="34" name="Text 31"/>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5" name="Text 32"/>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08 / 31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FROM TASK 4 TO TASK 5 · SHARPER QUESTIONS</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How each question became sharper</a:t>
            </a:r>
            <a:endParaRPr lang="en-US" sz="3200" dirty="0"/>
          </a:p>
        </p:txBody>
      </p:sp>
      <p:sp>
        <p:nvSpPr>
          <p:cNvPr id="4" name="Text 2"/>
          <p:cNvSpPr/>
          <p:nvPr/>
        </p:nvSpPr>
        <p:spPr>
          <a:xfrm>
            <a:off x="812800" y="16129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TASK 4 QUESTION</a:t>
            </a:r>
            <a:endParaRPr lang="en-US" sz="1200" dirty="0"/>
          </a:p>
        </p:txBody>
      </p:sp>
      <p:sp>
        <p:nvSpPr>
          <p:cNvPr id="5" name="Text 3"/>
          <p:cNvSpPr/>
          <p:nvPr/>
        </p:nvSpPr>
        <p:spPr>
          <a:xfrm>
            <a:off x="3098800" y="16129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2"/>
                </a:solidFill>
                <a:latin typeface="IBM Plex Sans" pitchFamily="34" charset="0"/>
                <a:ea typeface="IBM Plex Sans" pitchFamily="34" charset="-122"/>
                <a:cs typeface="IBM Plex Sans" pitchFamily="34" charset="-120"/>
              </a:rPr>
              <a:t>WHAT IT TAUGHT ME</a:t>
            </a:r>
            <a:endParaRPr lang="en-US" sz="1200" dirty="0"/>
          </a:p>
        </p:txBody>
      </p:sp>
      <p:sp>
        <p:nvSpPr>
          <p:cNvPr id="6" name="Text 4"/>
          <p:cNvSpPr/>
          <p:nvPr/>
        </p:nvSpPr>
        <p:spPr>
          <a:xfrm>
            <a:off x="5384800" y="1612900"/>
            <a:ext cx="307403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B0"/>
                </a:solidFill>
                <a:latin typeface="IBM Plex Sans" pitchFamily="34" charset="0"/>
                <a:ea typeface="IBM Plex Sans" pitchFamily="34" charset="-122"/>
                <a:cs typeface="IBM Plex Sans" pitchFamily="34" charset="-120"/>
              </a:rPr>
              <a:t>SHARPER TASK 5 QUESTION</a:t>
            </a:r>
            <a:endParaRPr lang="en-US" sz="1200" dirty="0"/>
          </a:p>
        </p:txBody>
      </p:sp>
      <p:sp>
        <p:nvSpPr>
          <p:cNvPr id="7" name="Text 5"/>
          <p:cNvSpPr/>
          <p:nvPr/>
        </p:nvSpPr>
        <p:spPr>
          <a:xfrm>
            <a:off x="8496300" y="1612900"/>
            <a:ext cx="296938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B2733"/>
                </a:solidFill>
                <a:latin typeface="IBM Plex Sans" pitchFamily="34" charset="0"/>
                <a:ea typeface="IBM Plex Sans" pitchFamily="34" charset="-122"/>
                <a:cs typeface="IBM Plex Sans" pitchFamily="34" charset="-120"/>
              </a:rPr>
              <a:t>ANSWER</a:t>
            </a:r>
            <a:endParaRPr lang="en-US" sz="1200" dirty="0"/>
          </a:p>
        </p:txBody>
      </p:sp>
      <p:sp>
        <p:nvSpPr>
          <p:cNvPr id="8" name="Text 6"/>
          <p:cNvSpPr/>
          <p:nvPr/>
        </p:nvSpPr>
        <p:spPr>
          <a:xfrm>
            <a:off x="815975" y="1892939"/>
            <a:ext cx="2152650" cy="476250"/>
          </a:xfrm>
          <a:prstGeom prst="roundRect">
            <a:avLst>
              <a:gd name="adj" fmla="val 12667"/>
            </a:avLst>
          </a:prstGeom>
          <a:solidFill>
            <a:srgbClr val="FFFDF8"/>
          </a:solidFill>
          <a:ln w="6350">
            <a:solidFill>
              <a:srgbClr val="E3DACB"/>
            </a:solidFill>
            <a:prstDash val="solid"/>
          </a:ln>
        </p:spPr>
        <p:txBody>
          <a:bodyPr wrap="square" lIns="73136" tIns="22336" rIns="14005"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H2, H4</a:t>
            </a:r>
            <a:r>
              <a:rPr lang="en-US" sz="1200" dirty="0">
                <a:solidFill>
                  <a:srgbClr val="1B2733"/>
                </a:solidFill>
                <a:latin typeface="IBM Plex Sans" pitchFamily="34" charset="0"/>
                <a:ea typeface="IBM Plex Sans" pitchFamily="34" charset="-122"/>
                <a:cs typeface="IBM Plex Sans" pitchFamily="34" charset="-120"/>
              </a:rPr>
              <a:t> · More hot days? Fewer cold nights?</a:t>
            </a:r>
            <a:endParaRPr lang="en-US" sz="1200" dirty="0"/>
          </a:p>
        </p:txBody>
      </p:sp>
      <p:pic>
        <p:nvPicPr>
          <p:cNvPr id="9" name="Image 0" descr="arrow-right">    </p:cNvPr>
          <p:cNvPicPr>
            <a:picLocks noChangeAspect="1"/>
          </p:cNvPicPr>
          <p:nvPr/>
        </p:nvPicPr>
        <p:blipFill>
          <a:blip r:embed="rId1"/>
          <a:srcRect l="0" r="0" t="0" b="0"/>
          <a:stretch/>
        </p:blipFill>
        <p:spPr>
          <a:xfrm>
            <a:off x="3098800" y="2067564"/>
            <a:ext cx="228600" cy="127000"/>
          </a:xfrm>
          <a:prstGeom prst="rect">
            <a:avLst/>
          </a:prstGeom>
        </p:spPr>
      </p:pic>
      <p:sp>
        <p:nvSpPr>
          <p:cNvPr id="10" name="Text 7"/>
          <p:cNvSpPr/>
          <p:nvPr/>
        </p:nvSpPr>
        <p:spPr>
          <a:xfrm>
            <a:off x="3454400" y="2032000"/>
            <a:ext cx="222377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Use one fixed definition</a:t>
            </a:r>
            <a:endParaRPr lang="en-US" sz="1200" dirty="0"/>
          </a:p>
        </p:txBody>
      </p:sp>
      <p:pic>
        <p:nvPicPr>
          <p:cNvPr id="11" name="Image 1" descr="arrow-right">    </p:cNvPr>
          <p:cNvPicPr>
            <a:picLocks noChangeAspect="1"/>
          </p:cNvPicPr>
          <p:nvPr/>
        </p:nvPicPr>
        <p:blipFill>
          <a:blip r:embed="rId2"/>
          <a:srcRect l="0" r="0" t="0" b="0"/>
          <a:stretch/>
        </p:blipFill>
        <p:spPr>
          <a:xfrm>
            <a:off x="5740400" y="2067564"/>
            <a:ext cx="228600" cy="127000"/>
          </a:xfrm>
          <a:prstGeom prst="rect">
            <a:avLst/>
          </a:prstGeom>
        </p:spPr>
      </p:pic>
      <p:sp>
        <p:nvSpPr>
          <p:cNvPr id="12" name="Text 8"/>
          <p:cNvSpPr/>
          <p:nvPr/>
        </p:nvSpPr>
        <p:spPr>
          <a:xfrm>
            <a:off x="6099175" y="1892939"/>
            <a:ext cx="2978150" cy="476250"/>
          </a:xfrm>
          <a:prstGeom prst="roundRect">
            <a:avLst>
              <a:gd name="adj" fmla="val 12667"/>
            </a:avLst>
          </a:prstGeom>
          <a:solidFill>
            <a:srgbClr val="FFFDF8"/>
          </a:solidFill>
          <a:ln w="6350">
            <a:solidFill>
              <a:srgbClr val="E3DACB"/>
            </a:solidFill>
            <a:prstDash val="solid"/>
          </a:ln>
        </p:spPr>
        <p:txBody>
          <a:bodyPr wrap="square" lIns="73136" tIns="22336" rIns="0" bIns="0" rtlCol="0" anchor="t">
            <a:normAutofit/>
          </a:bodyPr>
          <a:lstStyle/>
          <a:p>
            <a:pPr algn="l" indent="0" marL="0">
              <a:lnSpc>
                <a:spcPts val="1560"/>
              </a:lnSpc>
              <a:buNone/>
            </a:pPr>
            <a:r>
              <a:rPr lang="en-US" sz="1200" dirty="0">
                <a:solidFill>
                  <a:srgbClr val="1B2733"/>
                </a:solidFill>
                <a:latin typeface="IBM Plex Sans" pitchFamily="34" charset="0"/>
                <a:ea typeface="IBM Plex Sans" pitchFamily="34" charset="-122"/>
                <a:cs typeface="IBM Plex Sans" pitchFamily="34" charset="-120"/>
              </a:rPr>
              <a:t>Count max &gt; 40.1 °C days and min &lt; 5.7 °C nights, as Task 4 did</a:t>
            </a:r>
            <a:endParaRPr lang="en-US" sz="1200" dirty="0"/>
          </a:p>
        </p:txBody>
      </p:sp>
      <p:sp>
        <p:nvSpPr>
          <p:cNvPr id="13" name="Text 9"/>
          <p:cNvSpPr/>
          <p:nvPr/>
        </p:nvSpPr>
        <p:spPr>
          <a:xfrm>
            <a:off x="9207500" y="2023746"/>
            <a:ext cx="2236851"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4501F"/>
                </a:solidFill>
                <a:latin typeface="IBM Plex Sans" pitchFamily="34" charset="0"/>
                <a:ea typeface="IBM Plex Sans" pitchFamily="34" charset="-122"/>
                <a:cs typeface="IBM Plex Sans" pitchFamily="34" charset="-120"/>
              </a:rPr>
              <a:t>17 → 31 hot days a year</a:t>
            </a:r>
            <a:endParaRPr lang="en-US" sz="1300" dirty="0"/>
          </a:p>
        </p:txBody>
      </p:sp>
      <p:sp>
        <p:nvSpPr>
          <p:cNvPr id="14" name="Text 10"/>
          <p:cNvSpPr/>
          <p:nvPr/>
        </p:nvSpPr>
        <p:spPr>
          <a:xfrm>
            <a:off x="815975" y="2439039"/>
            <a:ext cx="2152650" cy="476250"/>
          </a:xfrm>
          <a:prstGeom prst="roundRect">
            <a:avLst>
              <a:gd name="adj" fmla="val 12667"/>
            </a:avLst>
          </a:prstGeom>
          <a:solidFill>
            <a:srgbClr val="FFFDF8"/>
          </a:solidFill>
          <a:ln w="6350">
            <a:solidFill>
              <a:srgbClr val="E3DACB"/>
            </a:solidFill>
            <a:prstDash val="solid"/>
          </a:ln>
        </p:spPr>
        <p:txBody>
          <a:bodyPr wrap="square" lIns="73136" tIns="22336" rIns="14005"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H5</a:t>
            </a:r>
            <a:r>
              <a:rPr lang="en-US" sz="1200" dirty="0">
                <a:solidFill>
                  <a:srgbClr val="1B2733"/>
                </a:solidFill>
                <a:latin typeface="IBM Plex Sans" pitchFamily="34" charset="0"/>
                <a:ea typeface="IBM Plex Sans" pitchFamily="34" charset="-122"/>
                <a:cs typeface="IBM Plex Sans" pitchFamily="34" charset="-120"/>
              </a:rPr>
              <a:t> · Do storms give a warning?</a:t>
            </a:r>
            <a:endParaRPr lang="en-US" sz="1200" dirty="0"/>
          </a:p>
        </p:txBody>
      </p:sp>
      <p:pic>
        <p:nvPicPr>
          <p:cNvPr id="15" name="Image 2" descr="arrow-right">    </p:cNvPr>
          <p:cNvPicPr>
            <a:picLocks noChangeAspect="1"/>
          </p:cNvPicPr>
          <p:nvPr/>
        </p:nvPicPr>
        <p:blipFill>
          <a:blip r:embed="rId3"/>
          <a:srcRect l="0" r="0" t="0" b="0"/>
          <a:stretch/>
        </p:blipFill>
        <p:spPr>
          <a:xfrm>
            <a:off x="3098800" y="2613664"/>
            <a:ext cx="228600" cy="127000"/>
          </a:xfrm>
          <a:prstGeom prst="rect">
            <a:avLst/>
          </a:prstGeom>
        </p:spPr>
      </p:pic>
      <p:sp>
        <p:nvSpPr>
          <p:cNvPr id="16" name="Text 11"/>
          <p:cNvSpPr/>
          <p:nvPr/>
        </p:nvSpPr>
        <p:spPr>
          <a:xfrm>
            <a:off x="3454400" y="2578100"/>
            <a:ext cx="22860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One sign at a time hides signals</a:t>
            </a:r>
            <a:endParaRPr lang="en-US" sz="1200" dirty="0"/>
          </a:p>
        </p:txBody>
      </p:sp>
      <p:pic>
        <p:nvPicPr>
          <p:cNvPr id="17" name="Image 3" descr="arrow-right">    </p:cNvPr>
          <p:cNvPicPr>
            <a:picLocks noChangeAspect="1"/>
          </p:cNvPicPr>
          <p:nvPr/>
        </p:nvPicPr>
        <p:blipFill>
          <a:blip r:embed="rId4"/>
          <a:srcRect l="0" r="0" t="0" b="0"/>
          <a:stretch/>
        </p:blipFill>
        <p:spPr>
          <a:xfrm>
            <a:off x="5740400" y="2613664"/>
            <a:ext cx="228600" cy="127000"/>
          </a:xfrm>
          <a:prstGeom prst="rect">
            <a:avLst/>
          </a:prstGeom>
        </p:spPr>
      </p:pic>
      <p:sp>
        <p:nvSpPr>
          <p:cNvPr id="18" name="Text 12"/>
          <p:cNvSpPr/>
          <p:nvPr/>
        </p:nvSpPr>
        <p:spPr>
          <a:xfrm>
            <a:off x="6099175" y="2439039"/>
            <a:ext cx="2978150" cy="476250"/>
          </a:xfrm>
          <a:prstGeom prst="roundRect">
            <a:avLst>
              <a:gd name="adj" fmla="val 12667"/>
            </a:avLst>
          </a:prstGeom>
          <a:solidFill>
            <a:srgbClr val="FFFDF8"/>
          </a:solidFill>
          <a:ln w="6350">
            <a:solidFill>
              <a:srgbClr val="E3DACB"/>
            </a:solidFill>
            <a:prstDash val="solid"/>
          </a:ln>
        </p:spPr>
        <p:txBody>
          <a:bodyPr wrap="square" lIns="73136" tIns="22336"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Q5</a:t>
            </a:r>
            <a:r>
              <a:rPr lang="en-US" sz="1200" dirty="0">
                <a:solidFill>
                  <a:srgbClr val="1B2733"/>
                </a:solidFill>
                <a:latin typeface="IBM Plex Sans" pitchFamily="34" charset="0"/>
                <a:ea typeface="IBM Plex Sans" pitchFamily="34" charset="-122"/>
                <a:cs typeface="IBM Plex Sans" pitchFamily="34" charset="-120"/>
              </a:rPr>
              <a:t> · Do the signs together warn of a storm tomorrow?</a:t>
            </a:r>
            <a:endParaRPr lang="en-US" sz="1200" dirty="0"/>
          </a:p>
        </p:txBody>
      </p:sp>
      <p:sp>
        <p:nvSpPr>
          <p:cNvPr id="19" name="Text 13"/>
          <p:cNvSpPr/>
          <p:nvPr/>
        </p:nvSpPr>
        <p:spPr>
          <a:xfrm>
            <a:off x="9207500" y="2569846"/>
            <a:ext cx="2236851"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4501F"/>
                </a:solidFill>
                <a:latin typeface="IBM Plex Sans" pitchFamily="34" charset="0"/>
                <a:ea typeface="IBM Plex Sans" pitchFamily="34" charset="-122"/>
                <a:cs typeface="IBM Plex Sans" pitchFamily="34" charset="-120"/>
              </a:rPr>
              <a:t>20.4 % chance, 30×</a:t>
            </a:r>
            <a:endParaRPr lang="en-US" sz="1300" dirty="0"/>
          </a:p>
        </p:txBody>
      </p:sp>
      <p:sp>
        <p:nvSpPr>
          <p:cNvPr id="20" name="Text 14"/>
          <p:cNvSpPr/>
          <p:nvPr/>
        </p:nvSpPr>
        <p:spPr>
          <a:xfrm>
            <a:off x="815975" y="2985139"/>
            <a:ext cx="2152650" cy="476250"/>
          </a:xfrm>
          <a:prstGeom prst="roundRect">
            <a:avLst>
              <a:gd name="adj" fmla="val 12667"/>
            </a:avLst>
          </a:prstGeom>
          <a:solidFill>
            <a:srgbClr val="FFFDF8"/>
          </a:solidFill>
          <a:ln w="6350">
            <a:solidFill>
              <a:srgbClr val="E3DACB"/>
            </a:solidFill>
            <a:prstDash val="solid"/>
          </a:ln>
        </p:spPr>
        <p:txBody>
          <a:bodyPr wrap="square" lIns="73136" tIns="22336" rIns="14005"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H2 + H5</a:t>
            </a:r>
            <a:r>
              <a:rPr lang="en-US" sz="1200" dirty="0">
                <a:solidFill>
                  <a:srgbClr val="1B2733"/>
                </a:solidFill>
                <a:latin typeface="IBM Plex Sans" pitchFamily="34" charset="0"/>
                <a:ea typeface="IBM Plex Sans" pitchFamily="34" charset="-122"/>
                <a:cs typeface="IBM Plex Sans" pitchFamily="34" charset="-120"/>
              </a:rPr>
              <a:t> · Heat builds up over days</a:t>
            </a:r>
            <a:endParaRPr lang="en-US" sz="1200" dirty="0"/>
          </a:p>
        </p:txBody>
      </p:sp>
      <p:pic>
        <p:nvPicPr>
          <p:cNvPr id="21" name="Image 4" descr="arrow-right">    </p:cNvPr>
          <p:cNvPicPr>
            <a:picLocks noChangeAspect="1"/>
          </p:cNvPicPr>
          <p:nvPr/>
        </p:nvPicPr>
        <p:blipFill>
          <a:blip r:embed="rId5"/>
          <a:srcRect l="0" r="0" t="0" b="0"/>
          <a:stretch/>
        </p:blipFill>
        <p:spPr>
          <a:xfrm>
            <a:off x="3098800" y="3159764"/>
            <a:ext cx="228600" cy="127000"/>
          </a:xfrm>
          <a:prstGeom prst="rect">
            <a:avLst/>
          </a:prstGeom>
        </p:spPr>
      </p:pic>
      <p:sp>
        <p:nvSpPr>
          <p:cNvPr id="22" name="Text 15"/>
          <p:cNvSpPr/>
          <p:nvPr/>
        </p:nvSpPr>
        <p:spPr>
          <a:xfrm>
            <a:off x="3454400" y="3025142"/>
            <a:ext cx="222377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Ask about events frequent enough to learn</a:t>
            </a:r>
            <a:endParaRPr lang="en-US" sz="1200" dirty="0"/>
          </a:p>
        </p:txBody>
      </p:sp>
      <p:pic>
        <p:nvPicPr>
          <p:cNvPr id="23" name="Image 5" descr="arrow-right">    </p:cNvPr>
          <p:cNvPicPr>
            <a:picLocks noChangeAspect="1"/>
          </p:cNvPicPr>
          <p:nvPr/>
        </p:nvPicPr>
        <p:blipFill>
          <a:blip r:embed="rId6"/>
          <a:srcRect l="0" r="0" t="0" b="0"/>
          <a:stretch/>
        </p:blipFill>
        <p:spPr>
          <a:xfrm>
            <a:off x="5740400" y="3159764"/>
            <a:ext cx="228600" cy="127000"/>
          </a:xfrm>
          <a:prstGeom prst="rect">
            <a:avLst/>
          </a:prstGeom>
        </p:spPr>
      </p:pic>
      <p:sp>
        <p:nvSpPr>
          <p:cNvPr id="24" name="Text 16"/>
          <p:cNvSpPr/>
          <p:nvPr/>
        </p:nvSpPr>
        <p:spPr>
          <a:xfrm>
            <a:off x="6099175" y="2985139"/>
            <a:ext cx="2978150" cy="476250"/>
          </a:xfrm>
          <a:prstGeom prst="roundRect">
            <a:avLst>
              <a:gd name="adj" fmla="val 12667"/>
            </a:avLst>
          </a:prstGeom>
          <a:solidFill>
            <a:srgbClr val="FFFDF8"/>
          </a:solidFill>
          <a:ln w="6350">
            <a:solidFill>
              <a:srgbClr val="E3DACB"/>
            </a:solidFill>
            <a:prstDash val="solid"/>
          </a:ln>
        </p:spPr>
        <p:txBody>
          <a:bodyPr wrap="square" lIns="73136" tIns="22336"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Q3</a:t>
            </a:r>
            <a:r>
              <a:rPr lang="en-US" sz="1200" dirty="0">
                <a:solidFill>
                  <a:srgbClr val="1B2733"/>
                </a:solidFill>
                <a:latin typeface="IBM Plex Sans" pitchFamily="34" charset="0"/>
                <a:ea typeface="IBM Plex Sans" pitchFamily="34" charset="-122"/>
                <a:cs typeface="IBM Plex Sans" pitchFamily="34" charset="-120"/>
              </a:rPr>
              <a:t> · Can we warn of a very hot day 1–3 days ahead?</a:t>
            </a:r>
            <a:endParaRPr lang="en-US" sz="1200" dirty="0"/>
          </a:p>
        </p:txBody>
      </p:sp>
      <p:sp>
        <p:nvSpPr>
          <p:cNvPr id="25" name="Text 17"/>
          <p:cNvSpPr/>
          <p:nvPr/>
        </p:nvSpPr>
        <p:spPr>
          <a:xfrm>
            <a:off x="9207500" y="3115946"/>
            <a:ext cx="2236851"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4501F"/>
                </a:solidFill>
                <a:latin typeface="IBM Plex Sans" pitchFamily="34" charset="0"/>
                <a:ea typeface="IBM Plex Sans" pitchFamily="34" charset="-122"/>
                <a:cs typeface="IBM Plex Sans" pitchFamily="34" charset="-120"/>
              </a:rPr>
              <a:t>77 % caught, 1 day ahead</a:t>
            </a:r>
            <a:endParaRPr lang="en-US" sz="1300" dirty="0"/>
          </a:p>
        </p:txBody>
      </p:sp>
      <p:sp>
        <p:nvSpPr>
          <p:cNvPr id="26" name="Text 18"/>
          <p:cNvSpPr/>
          <p:nvPr/>
        </p:nvSpPr>
        <p:spPr>
          <a:xfrm>
            <a:off x="815975" y="3531239"/>
            <a:ext cx="2152650" cy="476250"/>
          </a:xfrm>
          <a:prstGeom prst="roundRect">
            <a:avLst>
              <a:gd name="adj" fmla="val 12667"/>
            </a:avLst>
          </a:prstGeom>
          <a:solidFill>
            <a:srgbClr val="FFFDF8"/>
          </a:solidFill>
          <a:ln w="6350">
            <a:solidFill>
              <a:srgbClr val="E3DACB"/>
            </a:solidFill>
            <a:prstDash val="solid"/>
          </a:ln>
        </p:spPr>
        <p:txBody>
          <a:bodyPr wrap="square" lIns="73136" tIns="22336" rIns="14005"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H1</a:t>
            </a:r>
            <a:r>
              <a:rPr lang="en-US" sz="1200" dirty="0">
                <a:solidFill>
                  <a:srgbClr val="1B2733"/>
                </a:solidFill>
                <a:latin typeface="IBM Plex Sans" pitchFamily="34" charset="0"/>
                <a:ea typeface="IBM Plex Sans" pitchFamily="34" charset="-122"/>
                <a:cs typeface="IBM Plex Sans" pitchFamily="34" charset="-120"/>
              </a:rPr>
              <a:t> · Test years warmest: cold bias?</a:t>
            </a:r>
            <a:endParaRPr lang="en-US" sz="1200" dirty="0"/>
          </a:p>
        </p:txBody>
      </p:sp>
      <p:pic>
        <p:nvPicPr>
          <p:cNvPr id="27" name="Image 6" descr="arrow-right">    </p:cNvPr>
          <p:cNvPicPr>
            <a:picLocks noChangeAspect="1"/>
          </p:cNvPicPr>
          <p:nvPr/>
        </p:nvPicPr>
        <p:blipFill>
          <a:blip r:embed="rId7"/>
          <a:srcRect l="0" r="0" t="0" b="0"/>
          <a:stretch/>
        </p:blipFill>
        <p:spPr>
          <a:xfrm>
            <a:off x="3098800" y="3705864"/>
            <a:ext cx="228600" cy="127000"/>
          </a:xfrm>
          <a:prstGeom prst="rect">
            <a:avLst/>
          </a:prstGeom>
        </p:spPr>
      </p:pic>
      <p:sp>
        <p:nvSpPr>
          <p:cNvPr id="28" name="Text 19"/>
          <p:cNvSpPr/>
          <p:nvPr/>
        </p:nvSpPr>
        <p:spPr>
          <a:xfrm>
            <a:off x="3454400" y="3571242"/>
            <a:ext cx="222377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Days picked by outcome bias the verdict</a:t>
            </a:r>
            <a:endParaRPr lang="en-US" sz="1200" dirty="0"/>
          </a:p>
        </p:txBody>
      </p:sp>
      <p:pic>
        <p:nvPicPr>
          <p:cNvPr id="29" name="Image 7" descr="arrow-right">    </p:cNvPr>
          <p:cNvPicPr>
            <a:picLocks noChangeAspect="1"/>
          </p:cNvPicPr>
          <p:nvPr/>
        </p:nvPicPr>
        <p:blipFill>
          <a:blip r:embed="rId8"/>
          <a:srcRect l="0" r="0" t="0" b="0"/>
          <a:stretch/>
        </p:blipFill>
        <p:spPr>
          <a:xfrm>
            <a:off x="5740400" y="3705864"/>
            <a:ext cx="228600" cy="127000"/>
          </a:xfrm>
          <a:prstGeom prst="rect">
            <a:avLst/>
          </a:prstGeom>
        </p:spPr>
      </p:pic>
      <p:sp>
        <p:nvSpPr>
          <p:cNvPr id="30" name="Text 20"/>
          <p:cNvSpPr/>
          <p:nvPr/>
        </p:nvSpPr>
        <p:spPr>
          <a:xfrm>
            <a:off x="6099175" y="3531239"/>
            <a:ext cx="2978150" cy="476250"/>
          </a:xfrm>
          <a:prstGeom prst="roundRect">
            <a:avLst>
              <a:gd name="adj" fmla="val 12667"/>
            </a:avLst>
          </a:prstGeom>
          <a:solidFill>
            <a:srgbClr val="FFFDF8"/>
          </a:solidFill>
          <a:ln w="6350">
            <a:solidFill>
              <a:srgbClr val="E3DACB"/>
            </a:solidFill>
            <a:prstDash val="solid"/>
          </a:ln>
        </p:spPr>
        <p:txBody>
          <a:bodyPr wrap="square" lIns="73136" tIns="22336"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Q4</a:t>
            </a:r>
            <a:r>
              <a:rPr lang="en-US" sz="1200" dirty="0">
                <a:solidFill>
                  <a:srgbClr val="1B2733"/>
                </a:solidFill>
                <a:latin typeface="IBM Plex Sans" pitchFamily="34" charset="0"/>
                <a:ea typeface="IBM Plex Sans" pitchFamily="34" charset="-122"/>
                <a:cs typeface="IBM Plex Sans" pitchFamily="34" charset="-120"/>
              </a:rPr>
              <a:t> · Too cold on hot days chosen in advance?</a:t>
            </a:r>
            <a:endParaRPr lang="en-US" sz="1200" dirty="0"/>
          </a:p>
        </p:txBody>
      </p:sp>
      <p:sp>
        <p:nvSpPr>
          <p:cNvPr id="31" name="Text 21"/>
          <p:cNvSpPr/>
          <p:nvPr/>
        </p:nvSpPr>
        <p:spPr>
          <a:xfrm>
            <a:off x="9207500" y="3662046"/>
            <a:ext cx="2236851"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4501F"/>
                </a:solidFill>
                <a:latin typeface="IBM Plex Sans" pitchFamily="34" charset="0"/>
                <a:ea typeface="IBM Plex Sans" pitchFamily="34" charset="-122"/>
                <a:cs typeface="IBM Plex Sans" pitchFamily="34" charset="-120"/>
              </a:rPr>
              <a:t>0.11 °C, not 0.88</a:t>
            </a:r>
            <a:endParaRPr lang="en-US" sz="1300" dirty="0"/>
          </a:p>
        </p:txBody>
      </p:sp>
      <p:sp>
        <p:nvSpPr>
          <p:cNvPr id="32" name="Text 22"/>
          <p:cNvSpPr/>
          <p:nvPr/>
        </p:nvSpPr>
        <p:spPr>
          <a:xfrm>
            <a:off x="815975" y="4176396"/>
            <a:ext cx="2152650" cy="278130"/>
          </a:xfrm>
          <a:prstGeom prst="roundRect">
            <a:avLst>
              <a:gd name="adj" fmla="val 21689"/>
            </a:avLst>
          </a:prstGeom>
          <a:solidFill>
            <a:srgbClr val="FFFDF8"/>
          </a:solidFill>
          <a:ln w="6350">
            <a:solidFill>
              <a:srgbClr val="E3DACB"/>
            </a:solidFill>
            <a:prstDash val="solid"/>
          </a:ln>
        </p:spPr>
        <p:txBody>
          <a:bodyPr wrap="square" lIns="73136" tIns="22336" rIns="14005"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All six</a:t>
            </a:r>
            <a:r>
              <a:rPr lang="en-US" sz="1200" dirty="0">
                <a:solidFill>
                  <a:srgbClr val="1B2733"/>
                </a:solidFill>
                <a:latin typeface="IBM Plex Sans" pitchFamily="34" charset="0"/>
                <a:ea typeface="IBM Plex Sans" pitchFamily="34" charset="-122"/>
                <a:cs typeface="IBM Plex Sans" pitchFamily="34" charset="-120"/>
              </a:rPr>
              <a:t> · Patterns in the past</a:t>
            </a:r>
            <a:endParaRPr lang="en-US" sz="1200" dirty="0"/>
          </a:p>
        </p:txBody>
      </p:sp>
      <p:pic>
        <p:nvPicPr>
          <p:cNvPr id="33" name="Image 8" descr="arrow-right">    </p:cNvPr>
          <p:cNvPicPr>
            <a:picLocks noChangeAspect="1"/>
          </p:cNvPicPr>
          <p:nvPr/>
        </p:nvPicPr>
        <p:blipFill>
          <a:blip r:embed="rId9"/>
          <a:srcRect l="0" r="0" t="0" b="0"/>
          <a:stretch/>
        </p:blipFill>
        <p:spPr>
          <a:xfrm>
            <a:off x="3098800" y="4251964"/>
            <a:ext cx="228600" cy="127000"/>
          </a:xfrm>
          <a:prstGeom prst="rect">
            <a:avLst/>
          </a:prstGeom>
        </p:spPr>
      </p:pic>
      <p:sp>
        <p:nvSpPr>
          <p:cNvPr id="34" name="Text 23"/>
          <p:cNvSpPr/>
          <p:nvPr/>
        </p:nvSpPr>
        <p:spPr>
          <a:xfrm>
            <a:off x="3454400" y="4216400"/>
            <a:ext cx="222377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Describing is not forecasting</a:t>
            </a:r>
            <a:endParaRPr lang="en-US" sz="1200" dirty="0"/>
          </a:p>
        </p:txBody>
      </p:sp>
      <p:pic>
        <p:nvPicPr>
          <p:cNvPr id="35" name="Image 9" descr="arrow-right">    </p:cNvPr>
          <p:cNvPicPr>
            <a:picLocks noChangeAspect="1"/>
          </p:cNvPicPr>
          <p:nvPr/>
        </p:nvPicPr>
        <p:blipFill>
          <a:blip r:embed="rId10"/>
          <a:srcRect l="0" r="0" t="0" b="0"/>
          <a:stretch/>
        </p:blipFill>
        <p:spPr>
          <a:xfrm>
            <a:off x="5740400" y="4251964"/>
            <a:ext cx="228600" cy="127000"/>
          </a:xfrm>
          <a:prstGeom prst="rect">
            <a:avLst/>
          </a:prstGeom>
        </p:spPr>
      </p:pic>
      <p:sp>
        <p:nvSpPr>
          <p:cNvPr id="36" name="Text 24"/>
          <p:cNvSpPr/>
          <p:nvPr/>
        </p:nvSpPr>
        <p:spPr>
          <a:xfrm>
            <a:off x="6099175" y="4077339"/>
            <a:ext cx="2978150" cy="476250"/>
          </a:xfrm>
          <a:prstGeom prst="roundRect">
            <a:avLst>
              <a:gd name="adj" fmla="val 12667"/>
            </a:avLst>
          </a:prstGeom>
          <a:solidFill>
            <a:srgbClr val="FFFDF8"/>
          </a:solidFill>
          <a:ln w="6350">
            <a:solidFill>
              <a:srgbClr val="E3DACB"/>
            </a:solidFill>
            <a:prstDash val="solid"/>
          </a:ln>
        </p:spPr>
        <p:txBody>
          <a:bodyPr wrap="square" lIns="73136" tIns="22336"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Q1, Q2</a:t>
            </a:r>
            <a:r>
              <a:rPr lang="en-US" sz="1200" dirty="0">
                <a:solidFill>
                  <a:srgbClr val="1B2733"/>
                </a:solidFill>
                <a:latin typeface="IBM Plex Sans" pitchFamily="34" charset="0"/>
                <a:ea typeface="IBM Plex Sans" pitchFamily="34" charset="-122"/>
                <a:cs typeface="IBM Plex Sans" pitchFamily="34" charset="-120"/>
              </a:rPr>
              <a:t> · How far ahead is it useful? When is it weakest?</a:t>
            </a:r>
            <a:endParaRPr lang="en-US" sz="1200" dirty="0"/>
          </a:p>
        </p:txBody>
      </p:sp>
      <p:sp>
        <p:nvSpPr>
          <p:cNvPr id="37" name="Text 25"/>
          <p:cNvSpPr/>
          <p:nvPr/>
        </p:nvSpPr>
        <p:spPr>
          <a:xfrm>
            <a:off x="9207500" y="4208146"/>
            <a:ext cx="2236851"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4501F"/>
                </a:solidFill>
                <a:latin typeface="IBM Plex Sans" pitchFamily="34" charset="0"/>
                <a:ea typeface="IBM Plex Sans" pitchFamily="34" charset="-122"/>
                <a:cs typeface="IBM Plex Sans" pitchFamily="34" charset="-120"/>
              </a:rPr>
              <a:t>About a week; spring</a:t>
            </a:r>
            <a:endParaRPr lang="en-US" sz="1300" dirty="0"/>
          </a:p>
        </p:txBody>
      </p:sp>
      <p:sp>
        <p:nvSpPr>
          <p:cNvPr id="38" name="Text 26"/>
          <p:cNvSpPr/>
          <p:nvPr/>
        </p:nvSpPr>
        <p:spPr>
          <a:xfrm>
            <a:off x="815975" y="4722496"/>
            <a:ext cx="2152650" cy="278130"/>
          </a:xfrm>
          <a:prstGeom prst="roundRect">
            <a:avLst>
              <a:gd name="adj" fmla="val 21689"/>
            </a:avLst>
          </a:prstGeom>
          <a:solidFill>
            <a:srgbClr val="FFFDF8"/>
          </a:solidFill>
          <a:ln w="6350">
            <a:solidFill>
              <a:srgbClr val="E3DACB"/>
            </a:solidFill>
            <a:prstDash val="solid"/>
          </a:ln>
        </p:spPr>
        <p:txBody>
          <a:bodyPr wrap="square" lIns="73136" tIns="22336" rIns="14005"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Goal 2</a:t>
            </a:r>
            <a:r>
              <a:rPr lang="en-US" sz="1200" dirty="0">
                <a:solidFill>
                  <a:srgbClr val="1B2733"/>
                </a:solidFill>
                <a:latin typeface="IBM Plex Sans" pitchFamily="34" charset="0"/>
                <a:ea typeface="IBM Plex Sans" pitchFamily="34" charset="-122"/>
                <a:cs typeface="IBM Plex Sans" pitchFamily="34" charset="-120"/>
              </a:rPr>
              <a:t> · Rain tomorrow?</a:t>
            </a:r>
            <a:endParaRPr lang="en-US" sz="1200" dirty="0"/>
          </a:p>
        </p:txBody>
      </p:sp>
      <p:pic>
        <p:nvPicPr>
          <p:cNvPr id="39" name="Image 10" descr="arrow-right">    </p:cNvPr>
          <p:cNvPicPr>
            <a:picLocks noChangeAspect="1"/>
          </p:cNvPicPr>
          <p:nvPr/>
        </p:nvPicPr>
        <p:blipFill>
          <a:blip r:embed="rId11"/>
          <a:srcRect l="0" r="0" t="0" b="0"/>
          <a:stretch/>
        </p:blipFill>
        <p:spPr>
          <a:xfrm>
            <a:off x="3098800" y="4798064"/>
            <a:ext cx="228600" cy="127000"/>
          </a:xfrm>
          <a:prstGeom prst="rect">
            <a:avLst/>
          </a:prstGeom>
        </p:spPr>
      </p:pic>
      <p:sp>
        <p:nvSpPr>
          <p:cNvPr id="40" name="Text 27"/>
          <p:cNvSpPr/>
          <p:nvPr/>
        </p:nvSpPr>
        <p:spPr>
          <a:xfrm>
            <a:off x="3454400" y="4762500"/>
            <a:ext cx="222377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Beat the bar on the same days</a:t>
            </a:r>
            <a:endParaRPr lang="en-US" sz="1200" dirty="0"/>
          </a:p>
        </p:txBody>
      </p:sp>
      <p:pic>
        <p:nvPicPr>
          <p:cNvPr id="41" name="Image 11" descr="arrow-right">    </p:cNvPr>
          <p:cNvPicPr>
            <a:picLocks noChangeAspect="1"/>
          </p:cNvPicPr>
          <p:nvPr/>
        </p:nvPicPr>
        <p:blipFill>
          <a:blip r:embed="rId12"/>
          <a:srcRect l="0" r="0" t="0" b="0"/>
          <a:stretch/>
        </p:blipFill>
        <p:spPr>
          <a:xfrm>
            <a:off x="5740400" y="4798064"/>
            <a:ext cx="228600" cy="127000"/>
          </a:xfrm>
          <a:prstGeom prst="rect">
            <a:avLst/>
          </a:prstGeom>
        </p:spPr>
      </p:pic>
      <p:sp>
        <p:nvSpPr>
          <p:cNvPr id="42" name="Text 28"/>
          <p:cNvSpPr/>
          <p:nvPr/>
        </p:nvSpPr>
        <p:spPr>
          <a:xfrm>
            <a:off x="6099175" y="4623439"/>
            <a:ext cx="2978150" cy="476250"/>
          </a:xfrm>
          <a:prstGeom prst="roundRect">
            <a:avLst>
              <a:gd name="adj" fmla="val 12667"/>
            </a:avLst>
          </a:prstGeom>
          <a:solidFill>
            <a:srgbClr val="FFFDF8"/>
          </a:solidFill>
          <a:ln w="6350">
            <a:solidFill>
              <a:srgbClr val="E3DACB"/>
            </a:solidFill>
            <a:prstDash val="solid"/>
          </a:ln>
        </p:spPr>
        <p:txBody>
          <a:bodyPr wrap="square" lIns="73136" tIns="22336"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Q6</a:t>
            </a:r>
            <a:r>
              <a:rPr lang="en-US" sz="1200" dirty="0">
                <a:solidFill>
                  <a:srgbClr val="1B2733"/>
                </a:solidFill>
                <a:latin typeface="IBM Plex Sans" pitchFamily="34" charset="0"/>
                <a:ea typeface="IBM Plex Sans" pitchFamily="34" charset="-122"/>
                <a:cs typeface="IBM Plex Sans" pitchFamily="34" charset="-120"/>
              </a:rPr>
              <a:t> · Can a model beat “rain today → rain tomorrow”?</a:t>
            </a:r>
            <a:endParaRPr lang="en-US" sz="1200" dirty="0"/>
          </a:p>
        </p:txBody>
      </p:sp>
      <p:sp>
        <p:nvSpPr>
          <p:cNvPr id="43" name="Text 29"/>
          <p:cNvSpPr/>
          <p:nvPr/>
        </p:nvSpPr>
        <p:spPr>
          <a:xfrm>
            <a:off x="9207500" y="4754246"/>
            <a:ext cx="2236851"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4501F"/>
                </a:solidFill>
                <a:latin typeface="IBM Plex Sans" pitchFamily="34" charset="0"/>
                <a:ea typeface="IBM Plex Sans" pitchFamily="34" charset="-122"/>
                <a:cs typeface="IBM Plex Sans" pitchFamily="34" charset="-120"/>
              </a:rPr>
              <a:t>No: F1 0.42 vs 0.47</a:t>
            </a:r>
            <a:endParaRPr lang="en-US" sz="1300" dirty="0"/>
          </a:p>
        </p:txBody>
      </p:sp>
      <p:sp>
        <p:nvSpPr>
          <p:cNvPr id="44" name="Text 30"/>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45" name="Text 31"/>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09 / 31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SHARPER QUESTIONS · H5 → Q5 STORM WARNING</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Storm signs are weak alone, strong together</a:t>
            </a:r>
            <a:endParaRPr lang="en-US" sz="3200" dirty="0"/>
          </a:p>
        </p:txBody>
      </p:sp>
      <p:sp>
        <p:nvSpPr>
          <p:cNvPr id="4" name="Shape 2"/>
          <p:cNvSpPr/>
          <p:nvPr/>
        </p:nvSpPr>
        <p:spPr>
          <a:xfrm>
            <a:off x="815975" y="1641475"/>
            <a:ext cx="6724650" cy="3130550"/>
          </a:xfrm>
          <a:prstGeom prst="roundRect">
            <a:avLst>
              <a:gd name="adj" fmla="val 2333"/>
            </a:avLst>
          </a:prstGeom>
          <a:solidFill>
            <a:srgbClr val="FFFDF8"/>
          </a:solidFill>
          <a:ln w="6350">
            <a:solidFill>
              <a:srgbClr val="E3DACB"/>
            </a:solidFill>
            <a:prstDash val="solid"/>
          </a:ln>
        </p:spPr>
      </p:sp>
      <p:sp>
        <p:nvSpPr>
          <p:cNvPr id="5" name="Text 3"/>
          <p:cNvSpPr/>
          <p:nvPr/>
        </p:nvSpPr>
        <p:spPr>
          <a:xfrm>
            <a:off x="970280" y="1770379"/>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10</a:t>
            </a:r>
            <a:r>
              <a:rPr lang="en-US" sz="1200" dirty="0">
                <a:solidFill>
                  <a:srgbClr val="5E6672"/>
                </a:solidFill>
                <a:latin typeface="IBM Plex Sans" pitchFamily="34" charset="0"/>
                <a:ea typeface="IBM Plex Sans" pitchFamily="34" charset="-122"/>
                <a:cs typeface="IBM Plex Sans" pitchFamily="34" charset="-120"/>
              </a:rPr>
              <a:t> · Chance of a storm tomorrow, by the signs today (2016–2025)</a:t>
            </a:r>
            <a:endParaRPr lang="en-US" sz="1200" dirty="0"/>
          </a:p>
        </p:txBody>
      </p:sp>
      <p:sp>
        <p:nvSpPr>
          <p:cNvPr id="6" name="Text 4"/>
          <p:cNvSpPr/>
          <p:nvPr/>
        </p:nvSpPr>
        <p:spPr>
          <a:xfrm>
            <a:off x="970280" y="20599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Any day</a:t>
            </a:r>
            <a:endParaRPr lang="en-US" sz="1200" dirty="0"/>
          </a:p>
        </p:txBody>
      </p:sp>
      <p:sp>
        <p:nvSpPr>
          <p:cNvPr id="7" name="Shape 5"/>
          <p:cNvSpPr/>
          <p:nvPr/>
        </p:nvSpPr>
        <p:spPr>
          <a:xfrm>
            <a:off x="3865880" y="2071371"/>
            <a:ext cx="82550" cy="190500"/>
          </a:xfrm>
          <a:prstGeom prst="roundRect">
            <a:avLst>
              <a:gd name="adj" fmla="val 23077"/>
            </a:avLst>
          </a:prstGeom>
          <a:solidFill>
            <a:srgbClr val="C3BEB5"/>
          </a:solidFill>
          <a:ln/>
        </p:spPr>
      </p:sp>
      <p:sp>
        <p:nvSpPr>
          <p:cNvPr id="8" name="Text 6"/>
          <p:cNvSpPr/>
          <p:nvPr/>
        </p:nvSpPr>
        <p:spPr>
          <a:xfrm>
            <a:off x="4050030" y="2059942"/>
            <a:ext cx="4819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0.7 %</a:t>
            </a:r>
            <a:endParaRPr lang="en-US" sz="1200" dirty="0"/>
          </a:p>
        </p:txBody>
      </p:sp>
      <p:sp>
        <p:nvSpPr>
          <p:cNvPr id="9" name="Text 7"/>
          <p:cNvSpPr/>
          <p:nvPr/>
        </p:nvSpPr>
        <p:spPr>
          <a:xfrm>
            <a:off x="970280" y="2349500"/>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Rainy season (Oct–Apr)</a:t>
            </a:r>
            <a:endParaRPr lang="en-US" sz="1200" dirty="0"/>
          </a:p>
        </p:txBody>
      </p:sp>
      <p:sp>
        <p:nvSpPr>
          <p:cNvPr id="10" name="Shape 8"/>
          <p:cNvSpPr/>
          <p:nvPr/>
        </p:nvSpPr>
        <p:spPr>
          <a:xfrm>
            <a:off x="3865880" y="2360929"/>
            <a:ext cx="139700" cy="190500"/>
          </a:xfrm>
          <a:prstGeom prst="roundRect">
            <a:avLst>
              <a:gd name="adj" fmla="val 13636"/>
            </a:avLst>
          </a:prstGeom>
          <a:solidFill>
            <a:srgbClr val="C3BEB5"/>
          </a:solidFill>
          <a:ln/>
        </p:spPr>
      </p:sp>
      <p:sp>
        <p:nvSpPr>
          <p:cNvPr id="11" name="Text 9"/>
          <p:cNvSpPr/>
          <p:nvPr/>
        </p:nvSpPr>
        <p:spPr>
          <a:xfrm>
            <a:off x="4107180" y="2349500"/>
            <a:ext cx="4819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1.2 %</a:t>
            </a:r>
            <a:endParaRPr lang="en-US" sz="1200" dirty="0"/>
          </a:p>
        </p:txBody>
      </p:sp>
      <p:sp>
        <p:nvSpPr>
          <p:cNvPr id="12" name="Text 10"/>
          <p:cNvSpPr/>
          <p:nvPr/>
        </p:nvSpPr>
        <p:spPr>
          <a:xfrm>
            <a:off x="970280" y="2639064"/>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 rain today</a:t>
            </a:r>
            <a:endParaRPr lang="en-US" sz="1200" dirty="0"/>
          </a:p>
        </p:txBody>
      </p:sp>
      <p:sp>
        <p:nvSpPr>
          <p:cNvPr id="13" name="Shape 11"/>
          <p:cNvSpPr/>
          <p:nvPr/>
        </p:nvSpPr>
        <p:spPr>
          <a:xfrm>
            <a:off x="3865880" y="2650492"/>
            <a:ext cx="1231900" cy="190500"/>
          </a:xfrm>
          <a:prstGeom prst="roundRect">
            <a:avLst>
              <a:gd name="adj" fmla="val 10000"/>
            </a:avLst>
          </a:prstGeom>
          <a:solidFill>
            <a:srgbClr val="2563B0"/>
          </a:solidFill>
          <a:ln/>
        </p:spPr>
      </p:sp>
      <p:sp>
        <p:nvSpPr>
          <p:cNvPr id="14" name="Text 12"/>
          <p:cNvSpPr/>
          <p:nvPr/>
        </p:nvSpPr>
        <p:spPr>
          <a:xfrm>
            <a:off x="5199380" y="2639064"/>
            <a:ext cx="108813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10.7 % · 15×</a:t>
            </a:r>
            <a:endParaRPr lang="en-US" sz="1200" dirty="0"/>
          </a:p>
        </p:txBody>
      </p:sp>
      <p:sp>
        <p:nvSpPr>
          <p:cNvPr id="15" name="Text 13"/>
          <p:cNvSpPr/>
          <p:nvPr/>
        </p:nvSpPr>
        <p:spPr>
          <a:xfrm>
            <a:off x="970280" y="2928621"/>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 rain today + humid</a:t>
            </a:r>
            <a:endParaRPr lang="en-US" sz="1200" dirty="0"/>
          </a:p>
        </p:txBody>
      </p:sp>
      <p:sp>
        <p:nvSpPr>
          <p:cNvPr id="16" name="Shape 14"/>
          <p:cNvSpPr/>
          <p:nvPr/>
        </p:nvSpPr>
        <p:spPr>
          <a:xfrm>
            <a:off x="3865880" y="2940050"/>
            <a:ext cx="895350" cy="190500"/>
          </a:xfrm>
          <a:prstGeom prst="roundRect">
            <a:avLst>
              <a:gd name="adj" fmla="val 10000"/>
            </a:avLst>
          </a:prstGeom>
          <a:solidFill>
            <a:srgbClr val="C3BEB5"/>
          </a:solidFill>
          <a:ln/>
        </p:spPr>
      </p:sp>
      <p:sp>
        <p:nvSpPr>
          <p:cNvPr id="17" name="Text 15"/>
          <p:cNvSpPr/>
          <p:nvPr/>
        </p:nvSpPr>
        <p:spPr>
          <a:xfrm>
            <a:off x="4862830" y="2928621"/>
            <a:ext cx="4819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7.8 %</a:t>
            </a:r>
            <a:endParaRPr lang="en-US" sz="1200" dirty="0"/>
          </a:p>
        </p:txBody>
      </p:sp>
      <p:sp>
        <p:nvSpPr>
          <p:cNvPr id="18" name="Text 16"/>
          <p:cNvSpPr/>
          <p:nvPr/>
        </p:nvSpPr>
        <p:spPr>
          <a:xfrm>
            <a:off x="970280" y="3218179"/>
            <a:ext cx="28778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 rain today + pressure falling</a:t>
            </a:r>
            <a:endParaRPr lang="en-US" sz="1200" dirty="0"/>
          </a:p>
        </p:txBody>
      </p:sp>
      <p:sp>
        <p:nvSpPr>
          <p:cNvPr id="19" name="Shape 17"/>
          <p:cNvSpPr/>
          <p:nvPr/>
        </p:nvSpPr>
        <p:spPr>
          <a:xfrm>
            <a:off x="3865880" y="3229614"/>
            <a:ext cx="2349500" cy="190500"/>
          </a:xfrm>
          <a:prstGeom prst="roundRect">
            <a:avLst>
              <a:gd name="adj" fmla="val 10000"/>
            </a:avLst>
          </a:prstGeom>
          <a:solidFill>
            <a:srgbClr val="C4501F"/>
          </a:solidFill>
          <a:ln/>
        </p:spPr>
      </p:sp>
      <p:sp>
        <p:nvSpPr>
          <p:cNvPr id="20" name="Text 18"/>
          <p:cNvSpPr/>
          <p:nvPr/>
        </p:nvSpPr>
        <p:spPr>
          <a:xfrm>
            <a:off x="6316980" y="3218179"/>
            <a:ext cx="108813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20.4 % · 30×</a:t>
            </a:r>
            <a:endParaRPr lang="en-US" sz="1200" dirty="0"/>
          </a:p>
        </p:txBody>
      </p:sp>
      <p:sp>
        <p:nvSpPr>
          <p:cNvPr id="21" name="Text 19"/>
          <p:cNvSpPr/>
          <p:nvPr/>
        </p:nvSpPr>
        <p:spPr>
          <a:xfrm>
            <a:off x="970280" y="35077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 rain + humid + pressure falling</a:t>
            </a:r>
            <a:endParaRPr lang="en-US" sz="1200" dirty="0"/>
          </a:p>
        </p:txBody>
      </p:sp>
      <p:sp>
        <p:nvSpPr>
          <p:cNvPr id="22" name="Shape 20"/>
          <p:cNvSpPr/>
          <p:nvPr/>
        </p:nvSpPr>
        <p:spPr>
          <a:xfrm>
            <a:off x="3865880" y="3519171"/>
            <a:ext cx="1644650" cy="190500"/>
          </a:xfrm>
          <a:prstGeom prst="roundRect">
            <a:avLst>
              <a:gd name="adj" fmla="val 10000"/>
            </a:avLst>
          </a:prstGeom>
          <a:solidFill>
            <a:srgbClr val="C3BEB5"/>
          </a:solidFill>
          <a:ln/>
        </p:spPr>
      </p:sp>
      <p:sp>
        <p:nvSpPr>
          <p:cNvPr id="23" name="Text 21"/>
          <p:cNvSpPr/>
          <p:nvPr/>
        </p:nvSpPr>
        <p:spPr>
          <a:xfrm>
            <a:off x="5612130" y="3507742"/>
            <a:ext cx="5916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14.3 %</a:t>
            </a:r>
            <a:endParaRPr lang="en-US" sz="1200" dirty="0"/>
          </a:p>
        </p:txBody>
      </p:sp>
      <p:sp>
        <p:nvSpPr>
          <p:cNvPr id="24" name="Text 22"/>
          <p:cNvSpPr/>
          <p:nvPr/>
        </p:nvSpPr>
        <p:spPr>
          <a:xfrm>
            <a:off x="970280" y="3797300"/>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Rainy season, dry today</a:t>
            </a:r>
            <a:endParaRPr lang="en-US" sz="1200" dirty="0"/>
          </a:p>
        </p:txBody>
      </p:sp>
      <p:sp>
        <p:nvSpPr>
          <p:cNvPr id="25" name="Shape 23"/>
          <p:cNvSpPr/>
          <p:nvPr/>
        </p:nvSpPr>
        <p:spPr>
          <a:xfrm>
            <a:off x="3865880" y="3808729"/>
            <a:ext cx="69850" cy="190500"/>
          </a:xfrm>
          <a:prstGeom prst="roundRect">
            <a:avLst>
              <a:gd name="adj" fmla="val 27273"/>
            </a:avLst>
          </a:prstGeom>
          <a:solidFill>
            <a:srgbClr val="C3BEB5"/>
          </a:solidFill>
          <a:ln/>
        </p:spPr>
      </p:sp>
      <p:sp>
        <p:nvSpPr>
          <p:cNvPr id="26" name="Text 24"/>
          <p:cNvSpPr/>
          <p:nvPr/>
        </p:nvSpPr>
        <p:spPr>
          <a:xfrm>
            <a:off x="4037330" y="3797300"/>
            <a:ext cx="4819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0.6 %</a:t>
            </a:r>
            <a:endParaRPr lang="en-US" sz="1200" dirty="0"/>
          </a:p>
        </p:txBody>
      </p:sp>
      <p:sp>
        <p:nvSpPr>
          <p:cNvPr id="27" name="Text 25"/>
          <p:cNvSpPr/>
          <p:nvPr/>
        </p:nvSpPr>
        <p:spPr>
          <a:xfrm>
            <a:off x="970280" y="4086864"/>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Dry + humid + pressure falling</a:t>
            </a:r>
            <a:endParaRPr lang="en-US" sz="1200" dirty="0"/>
          </a:p>
        </p:txBody>
      </p:sp>
      <p:sp>
        <p:nvSpPr>
          <p:cNvPr id="28" name="Shape 26"/>
          <p:cNvSpPr/>
          <p:nvPr/>
        </p:nvSpPr>
        <p:spPr>
          <a:xfrm>
            <a:off x="3865880" y="4098292"/>
            <a:ext cx="19050" cy="190500"/>
          </a:xfrm>
          <a:prstGeom prst="roundRect">
            <a:avLst>
              <a:gd name="adj" fmla="val 50000"/>
            </a:avLst>
          </a:prstGeom>
          <a:solidFill>
            <a:srgbClr val="C3BEB5"/>
          </a:solidFill>
          <a:ln/>
        </p:spPr>
      </p:sp>
      <p:sp>
        <p:nvSpPr>
          <p:cNvPr id="29" name="Text 27"/>
          <p:cNvSpPr/>
          <p:nvPr/>
        </p:nvSpPr>
        <p:spPr>
          <a:xfrm>
            <a:off x="3986530" y="4086864"/>
            <a:ext cx="11113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0 of 134 days</a:t>
            </a:r>
            <a:endParaRPr lang="en-US" sz="1200" dirty="0"/>
          </a:p>
        </p:txBody>
      </p:sp>
      <p:sp>
        <p:nvSpPr>
          <p:cNvPr id="30" name="Shape 28"/>
          <p:cNvSpPr/>
          <p:nvPr/>
        </p:nvSpPr>
        <p:spPr>
          <a:xfrm>
            <a:off x="970280" y="4379596"/>
            <a:ext cx="6416040" cy="0"/>
          </a:xfrm>
          <a:prstGeom prst="line">
            <a:avLst/>
          </a:prstGeom>
          <a:noFill/>
          <a:ln w="6350">
            <a:solidFill>
              <a:srgbClr val="E3DACB"/>
            </a:solidFill>
            <a:prstDash val="solid"/>
          </a:ln>
        </p:spPr>
      </p:sp>
      <p:sp>
        <p:nvSpPr>
          <p:cNvPr id="31" name="Text 29"/>
          <p:cNvSpPr/>
          <p:nvPr/>
        </p:nvSpPr>
        <p:spPr>
          <a:xfrm>
            <a:off x="970280" y="4445001"/>
            <a:ext cx="660852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(Fig. 12a) tested each sign alone: every link below 0.06</a:t>
            </a:r>
            <a:endParaRPr lang="en-US" sz="1200" dirty="0"/>
          </a:p>
        </p:txBody>
      </p:sp>
      <p:sp>
        <p:nvSpPr>
          <p:cNvPr id="32" name="Shape 30"/>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33" name="Text 31"/>
          <p:cNvSpPr/>
          <p:nvPr/>
        </p:nvSpPr>
        <p:spPr>
          <a:xfrm>
            <a:off x="7904480" y="1757679"/>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20.4 %</a:t>
            </a:r>
            <a:endParaRPr lang="en-US" sz="2800" dirty="0"/>
          </a:p>
        </p:txBody>
      </p:sp>
      <p:sp>
        <p:nvSpPr>
          <p:cNvPr id="34" name="Text 32"/>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storm chance after rain + falling pressure (usual 0.7 %)</a:t>
            </a:r>
            <a:endParaRPr lang="en-US" sz="1200" dirty="0"/>
          </a:p>
        </p:txBody>
      </p:sp>
      <p:sp>
        <p:nvSpPr>
          <p:cNvPr id="35" name="Shape 33"/>
          <p:cNvSpPr/>
          <p:nvPr/>
        </p:nvSpPr>
        <p:spPr>
          <a:xfrm>
            <a:off x="7750175" y="2794639"/>
            <a:ext cx="3625850" cy="847090"/>
          </a:xfrm>
          <a:prstGeom prst="roundRect">
            <a:avLst>
              <a:gd name="adj" fmla="val 8621"/>
            </a:avLst>
          </a:prstGeom>
          <a:solidFill>
            <a:srgbClr val="FFFDF8"/>
          </a:solidFill>
          <a:ln w="6350">
            <a:solidFill>
              <a:srgbClr val="E3DACB"/>
            </a:solidFill>
            <a:prstDash val="solid"/>
          </a:ln>
        </p:spPr>
      </p:sp>
      <p:sp>
        <p:nvSpPr>
          <p:cNvPr id="36" name="Text 34"/>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12 of 25</a:t>
            </a:r>
            <a:endParaRPr lang="en-US" sz="2800" dirty="0"/>
          </a:p>
        </p:txBody>
      </p:sp>
      <p:sp>
        <p:nvSpPr>
          <p:cNvPr id="37" name="Text 35"/>
          <p:cNvSpPr/>
          <p:nvPr/>
        </p:nvSpPr>
        <p:spPr>
          <a:xfrm>
            <a:off x="7904480" y="3327400"/>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storms start on a dry day, with no sign at all</a:t>
            </a:r>
            <a:endParaRPr lang="en-US" sz="1200" dirty="0"/>
          </a:p>
        </p:txBody>
      </p:sp>
      <p:sp>
        <p:nvSpPr>
          <p:cNvPr id="38" name="Shape 36"/>
          <p:cNvSpPr/>
          <p:nvPr/>
        </p:nvSpPr>
        <p:spPr>
          <a:xfrm>
            <a:off x="7747000" y="3746500"/>
            <a:ext cx="3632200" cy="1174115"/>
          </a:xfrm>
          <a:prstGeom prst="roundRect">
            <a:avLst>
              <a:gd name="adj" fmla="val 6490"/>
            </a:avLst>
          </a:prstGeom>
          <a:solidFill>
            <a:srgbClr val="14263A"/>
          </a:solidFill>
          <a:ln/>
        </p:spPr>
      </p:sp>
      <p:sp>
        <p:nvSpPr>
          <p:cNvPr id="39" name="Text 37"/>
          <p:cNvSpPr/>
          <p:nvPr/>
        </p:nvSpPr>
        <p:spPr>
          <a:xfrm>
            <a:off x="7899400" y="3873500"/>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40" name="Text 38"/>
          <p:cNvSpPr/>
          <p:nvPr/>
        </p:nvSpPr>
        <p:spPr>
          <a:xfrm>
            <a:off x="7899400" y="4124964"/>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Keep the simple rule. A model with 15 storms to learn from did no better (CSI 0.13 vs 0.11).</a:t>
            </a:r>
            <a:endParaRPr lang="en-US" sz="1300" dirty="0"/>
          </a:p>
        </p:txBody>
      </p:sp>
      <p:sp>
        <p:nvSpPr>
          <p:cNvPr id="41" name="Text 3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42" name="Text 40"/>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10 / 31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SHARPER QUESTIONS · H2 → Q3 HEAT WARNING</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More very hot days, and we can warn of them</a:t>
            </a:r>
            <a:endParaRPr lang="en-US" sz="3200" dirty="0"/>
          </a:p>
        </p:txBody>
      </p:sp>
      <p:sp>
        <p:nvSpPr>
          <p:cNvPr id="4" name="Shape 2"/>
          <p:cNvSpPr/>
          <p:nvPr/>
        </p:nvSpPr>
        <p:spPr>
          <a:xfrm>
            <a:off x="815975" y="1641475"/>
            <a:ext cx="3359150" cy="2909570"/>
          </a:xfrm>
          <a:prstGeom prst="roundRect">
            <a:avLst>
              <a:gd name="adj" fmla="val 2510"/>
            </a:avLst>
          </a:prstGeom>
          <a:solidFill>
            <a:srgbClr val="FFFDF8"/>
          </a:solidFill>
          <a:ln w="6350">
            <a:solidFill>
              <a:srgbClr val="E3DACB"/>
            </a:solidFill>
            <a:prstDash val="solid"/>
          </a:ln>
        </p:spPr>
      </p:sp>
      <p:sp>
        <p:nvSpPr>
          <p:cNvPr id="5" name="Text 3"/>
          <p:cNvSpPr/>
          <p:nvPr/>
        </p:nvSpPr>
        <p:spPr>
          <a:xfrm>
            <a:off x="970280" y="1770379"/>
            <a:ext cx="3142056"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Fig. 11a</a:t>
            </a:r>
            <a:r>
              <a:rPr lang="en-US" sz="1200" dirty="0">
                <a:solidFill>
                  <a:srgbClr val="5E6672"/>
                </a:solidFill>
                <a:latin typeface="IBM Plex Sans" pitchFamily="34" charset="0"/>
                <a:ea typeface="IBM Plex Sans" pitchFamily="34" charset="-122"/>
                <a:cs typeface="IBM Plex Sans" pitchFamily="34" charset="-120"/>
              </a:rPr>
              <a:t> · Very hot days a year (max &gt; 40.1 °C)</a:t>
            </a:r>
            <a:endParaRPr lang="en-US" sz="1200" dirty="0"/>
          </a:p>
        </p:txBody>
      </p:sp>
      <p:sp>
        <p:nvSpPr>
          <p:cNvPr id="6" name="Text 4"/>
          <p:cNvSpPr/>
          <p:nvPr/>
        </p:nvSpPr>
        <p:spPr>
          <a:xfrm>
            <a:off x="1065459" y="3013714"/>
            <a:ext cx="379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16.3</a:t>
            </a:r>
            <a:endParaRPr lang="en-US" sz="1200" dirty="0"/>
          </a:p>
        </p:txBody>
      </p:sp>
      <p:sp>
        <p:nvSpPr>
          <p:cNvPr id="7" name="Shape 5"/>
          <p:cNvSpPr/>
          <p:nvPr/>
        </p:nvSpPr>
        <p:spPr>
          <a:xfrm>
            <a:off x="1070848" y="3265171"/>
            <a:ext cx="368300" cy="819150"/>
          </a:xfrm>
          <a:custGeom>
            <a:avLst/>
            <a:gdLst/>
            <a:ahLst/>
            <a:cxnLst/>
            <a:rect l="l" t="t" r="r" b="b"/>
            <a:pathLst>
              <a:path w="368300" h="819150">
                <a:moveTo>
                  <a:pt x="19050" y="0"/>
                </a:moveTo>
                <a:lnTo>
                  <a:pt x="349250" y="0"/>
                </a:lnTo>
                <a:arcTo hR="19050" wR="19050" stAng="16200000" swAng="5400000"/>
                <a:lnTo>
                  <a:pt x="368300" y="819150"/>
                </a:lnTo>
                <a:lnTo>
                  <a:pt x="0" y="819150"/>
                </a:lnTo>
                <a:lnTo>
                  <a:pt x="0" y="19050"/>
                </a:lnTo>
                <a:arcTo hR="19050" wR="19050" stAng="10800000" swAng="5400000"/>
                <a:close/>
              </a:path>
            </a:pathLst>
          </a:custGeom>
          <a:solidFill>
            <a:srgbClr val="A9C1E3"/>
          </a:solidFill>
          <a:ln/>
        </p:spPr>
      </p:sp>
      <p:sp>
        <p:nvSpPr>
          <p:cNvPr id="8" name="Text 6"/>
          <p:cNvSpPr/>
          <p:nvPr/>
        </p:nvSpPr>
        <p:spPr>
          <a:xfrm>
            <a:off x="1685774" y="2899414"/>
            <a:ext cx="379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18.6</a:t>
            </a:r>
            <a:endParaRPr lang="en-US" sz="1200" dirty="0"/>
          </a:p>
        </p:txBody>
      </p:sp>
      <p:sp>
        <p:nvSpPr>
          <p:cNvPr id="9" name="Shape 7"/>
          <p:cNvSpPr/>
          <p:nvPr/>
        </p:nvSpPr>
        <p:spPr>
          <a:xfrm>
            <a:off x="1691084" y="3150871"/>
            <a:ext cx="368300" cy="933450"/>
          </a:xfrm>
          <a:custGeom>
            <a:avLst/>
            <a:gdLst/>
            <a:ahLst/>
            <a:cxnLst/>
            <a:rect l="l" t="t" r="r" b="b"/>
            <a:pathLst>
              <a:path w="368300" h="933450">
                <a:moveTo>
                  <a:pt x="19050" y="0"/>
                </a:moveTo>
                <a:lnTo>
                  <a:pt x="349250" y="0"/>
                </a:lnTo>
                <a:arcTo hR="19050" wR="19050" stAng="16200000" swAng="5400000"/>
                <a:lnTo>
                  <a:pt x="368300" y="933450"/>
                </a:lnTo>
                <a:lnTo>
                  <a:pt x="0" y="933450"/>
                </a:lnTo>
                <a:lnTo>
                  <a:pt x="0" y="19050"/>
                </a:lnTo>
                <a:arcTo hR="19050" wR="19050" stAng="10800000" swAng="5400000"/>
                <a:close/>
              </a:path>
            </a:pathLst>
          </a:custGeom>
          <a:solidFill>
            <a:srgbClr val="A9C1E3"/>
          </a:solidFill>
          <a:ln/>
        </p:spPr>
      </p:sp>
      <p:sp>
        <p:nvSpPr>
          <p:cNvPr id="10" name="Text 8"/>
          <p:cNvSpPr/>
          <p:nvPr/>
        </p:nvSpPr>
        <p:spPr>
          <a:xfrm>
            <a:off x="2306010" y="3001014"/>
            <a:ext cx="379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16.6</a:t>
            </a:r>
            <a:endParaRPr lang="en-US" sz="1200" dirty="0"/>
          </a:p>
        </p:txBody>
      </p:sp>
      <p:sp>
        <p:nvSpPr>
          <p:cNvPr id="11" name="Shape 9"/>
          <p:cNvSpPr/>
          <p:nvPr/>
        </p:nvSpPr>
        <p:spPr>
          <a:xfrm>
            <a:off x="2311400" y="3252471"/>
            <a:ext cx="368300" cy="831850"/>
          </a:xfrm>
          <a:custGeom>
            <a:avLst/>
            <a:gdLst/>
            <a:ahLst/>
            <a:cxnLst/>
            <a:rect l="l" t="t" r="r" b="b"/>
            <a:pathLst>
              <a:path w="368300" h="831850">
                <a:moveTo>
                  <a:pt x="19050" y="0"/>
                </a:moveTo>
                <a:lnTo>
                  <a:pt x="349250" y="0"/>
                </a:lnTo>
                <a:arcTo hR="19050" wR="19050" stAng="16200000" swAng="5400000"/>
                <a:lnTo>
                  <a:pt x="368300" y="831850"/>
                </a:lnTo>
                <a:lnTo>
                  <a:pt x="0" y="831850"/>
                </a:lnTo>
                <a:lnTo>
                  <a:pt x="0" y="19050"/>
                </a:lnTo>
                <a:arcTo hR="19050" wR="19050" stAng="10800000" swAng="5400000"/>
                <a:close/>
              </a:path>
            </a:pathLst>
          </a:custGeom>
          <a:solidFill>
            <a:srgbClr val="A9C1E3"/>
          </a:solidFill>
          <a:ln/>
        </p:spPr>
      </p:sp>
      <p:sp>
        <p:nvSpPr>
          <p:cNvPr id="12" name="Text 10"/>
          <p:cNvSpPr/>
          <p:nvPr/>
        </p:nvSpPr>
        <p:spPr>
          <a:xfrm>
            <a:off x="2926326" y="2880364"/>
            <a:ext cx="379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19.0</a:t>
            </a:r>
            <a:endParaRPr lang="en-US" sz="1200" dirty="0"/>
          </a:p>
        </p:txBody>
      </p:sp>
      <p:sp>
        <p:nvSpPr>
          <p:cNvPr id="13" name="Shape 11"/>
          <p:cNvSpPr/>
          <p:nvPr/>
        </p:nvSpPr>
        <p:spPr>
          <a:xfrm>
            <a:off x="2931636" y="3131821"/>
            <a:ext cx="368300" cy="952500"/>
          </a:xfrm>
          <a:custGeom>
            <a:avLst/>
            <a:gdLst/>
            <a:ahLst/>
            <a:cxnLst/>
            <a:rect l="l" t="t" r="r" b="b"/>
            <a:pathLst>
              <a:path w="368300" h="952500">
                <a:moveTo>
                  <a:pt x="19050" y="0"/>
                </a:moveTo>
                <a:lnTo>
                  <a:pt x="349250" y="0"/>
                </a:lnTo>
                <a:arcTo hR="19050" wR="19050" stAng="16200000" swAng="5400000"/>
                <a:lnTo>
                  <a:pt x="368300" y="952500"/>
                </a:lnTo>
                <a:lnTo>
                  <a:pt x="0" y="952500"/>
                </a:lnTo>
                <a:lnTo>
                  <a:pt x="0" y="19050"/>
                </a:lnTo>
                <a:arcTo hR="19050" wR="19050" stAng="10800000" swAng="5400000"/>
                <a:close/>
              </a:path>
            </a:pathLst>
          </a:custGeom>
          <a:solidFill>
            <a:srgbClr val="A9C1E3"/>
          </a:solidFill>
          <a:ln/>
        </p:spPr>
      </p:sp>
      <p:sp>
        <p:nvSpPr>
          <p:cNvPr id="14" name="Text 12"/>
          <p:cNvSpPr/>
          <p:nvPr/>
        </p:nvSpPr>
        <p:spPr>
          <a:xfrm>
            <a:off x="3543126" y="2277114"/>
            <a:ext cx="38595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31.0</a:t>
            </a:r>
            <a:endParaRPr lang="en-US" sz="1200" dirty="0"/>
          </a:p>
        </p:txBody>
      </p:sp>
      <p:sp>
        <p:nvSpPr>
          <p:cNvPr id="15" name="Shape 13"/>
          <p:cNvSpPr/>
          <p:nvPr/>
        </p:nvSpPr>
        <p:spPr>
          <a:xfrm>
            <a:off x="3551952" y="2528571"/>
            <a:ext cx="368300" cy="1555750"/>
          </a:xfrm>
          <a:custGeom>
            <a:avLst/>
            <a:gdLst/>
            <a:ahLst/>
            <a:cxnLst/>
            <a:rect l="l" t="t" r="r" b="b"/>
            <a:pathLst>
              <a:path w="368300" h="1555750">
                <a:moveTo>
                  <a:pt x="19050" y="0"/>
                </a:moveTo>
                <a:lnTo>
                  <a:pt x="349250" y="0"/>
                </a:lnTo>
                <a:arcTo hR="19050" wR="19050" stAng="16200000" swAng="5400000"/>
                <a:lnTo>
                  <a:pt x="368300" y="1555750"/>
                </a:lnTo>
                <a:lnTo>
                  <a:pt x="0" y="1555750"/>
                </a:lnTo>
                <a:lnTo>
                  <a:pt x="0" y="19050"/>
                </a:lnTo>
                <a:arcTo hR="19050" wR="19050" stAng="10800000" swAng="5400000"/>
                <a:close/>
              </a:path>
            </a:pathLst>
          </a:custGeom>
          <a:solidFill>
            <a:srgbClr val="C4501F"/>
          </a:solidFill>
          <a:ln/>
        </p:spPr>
      </p:sp>
      <p:sp>
        <p:nvSpPr>
          <p:cNvPr id="16" name="Shape 14"/>
          <p:cNvSpPr/>
          <p:nvPr/>
        </p:nvSpPr>
        <p:spPr>
          <a:xfrm>
            <a:off x="970280" y="4166871"/>
            <a:ext cx="3050540" cy="0"/>
          </a:xfrm>
          <a:prstGeom prst="line">
            <a:avLst/>
          </a:prstGeom>
          <a:noFill/>
          <a:ln w="12700">
            <a:solidFill>
              <a:srgbClr val="1B2733"/>
            </a:solidFill>
            <a:prstDash val="solid"/>
          </a:ln>
        </p:spPr>
      </p:sp>
      <p:sp>
        <p:nvSpPr>
          <p:cNvPr id="17" name="Text 15"/>
          <p:cNvSpPr/>
          <p:nvPr/>
        </p:nvSpPr>
        <p:spPr>
          <a:xfrm>
            <a:off x="944880" y="4208779"/>
            <a:ext cx="6202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90s</a:t>
            </a:r>
            <a:endParaRPr lang="en-US" sz="1200" dirty="0"/>
          </a:p>
        </p:txBody>
      </p:sp>
      <p:sp>
        <p:nvSpPr>
          <p:cNvPr id="18" name="Text 16"/>
          <p:cNvSpPr/>
          <p:nvPr/>
        </p:nvSpPr>
        <p:spPr>
          <a:xfrm>
            <a:off x="1565116" y="4208779"/>
            <a:ext cx="62031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00s</a:t>
            </a:r>
            <a:endParaRPr lang="en-US" sz="1200" dirty="0"/>
          </a:p>
        </p:txBody>
      </p:sp>
      <p:sp>
        <p:nvSpPr>
          <p:cNvPr id="19" name="Text 17"/>
          <p:cNvSpPr/>
          <p:nvPr/>
        </p:nvSpPr>
        <p:spPr>
          <a:xfrm>
            <a:off x="2185432" y="4208779"/>
            <a:ext cx="6202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10s</a:t>
            </a:r>
            <a:endParaRPr lang="en-US" sz="1200" dirty="0"/>
          </a:p>
        </p:txBody>
      </p:sp>
      <p:sp>
        <p:nvSpPr>
          <p:cNvPr id="20" name="Text 18"/>
          <p:cNvSpPr/>
          <p:nvPr/>
        </p:nvSpPr>
        <p:spPr>
          <a:xfrm>
            <a:off x="2805668" y="4208779"/>
            <a:ext cx="62031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20–22</a:t>
            </a:r>
            <a:endParaRPr lang="en-US" sz="1200" dirty="0"/>
          </a:p>
        </p:txBody>
      </p:sp>
      <p:sp>
        <p:nvSpPr>
          <p:cNvPr id="21" name="Text 19"/>
          <p:cNvSpPr/>
          <p:nvPr/>
        </p:nvSpPr>
        <p:spPr>
          <a:xfrm>
            <a:off x="3425984" y="4208779"/>
            <a:ext cx="620236"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3"/>
                </a:solidFill>
                <a:latin typeface="IBM Plex Sans" pitchFamily="34" charset="0"/>
                <a:ea typeface="IBM Plex Sans" pitchFamily="34" charset="-122"/>
                <a:cs typeface="IBM Plex Sans" pitchFamily="34" charset="-120"/>
              </a:rPr>
              <a:t>23–25</a:t>
            </a:r>
            <a:endParaRPr lang="en-US" sz="1200" dirty="0"/>
          </a:p>
        </p:txBody>
      </p:sp>
      <p:sp>
        <p:nvSpPr>
          <p:cNvPr id="22" name="Shape 20"/>
          <p:cNvSpPr/>
          <p:nvPr/>
        </p:nvSpPr>
        <p:spPr>
          <a:xfrm>
            <a:off x="4333875" y="1641475"/>
            <a:ext cx="3359150" cy="2947670"/>
          </a:xfrm>
          <a:prstGeom prst="roundRect">
            <a:avLst>
              <a:gd name="adj" fmla="val 2477"/>
            </a:avLst>
          </a:prstGeom>
          <a:solidFill>
            <a:srgbClr val="FFFDF8"/>
          </a:solidFill>
          <a:ln w="6350">
            <a:solidFill>
              <a:srgbClr val="E3DACB"/>
            </a:solidFill>
            <a:prstDash val="solid"/>
          </a:ln>
        </p:spPr>
      </p:sp>
      <p:sp>
        <p:nvSpPr>
          <p:cNvPr id="23" name="Text 21"/>
          <p:cNvSpPr/>
          <p:nvPr/>
        </p:nvSpPr>
        <p:spPr>
          <a:xfrm>
            <a:off x="4488180" y="1770379"/>
            <a:ext cx="3142056"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Fig. 11b</a:t>
            </a:r>
            <a:r>
              <a:rPr lang="en-US" sz="1200" dirty="0">
                <a:solidFill>
                  <a:srgbClr val="5E6672"/>
                </a:solidFill>
                <a:latin typeface="IBM Plex Sans" pitchFamily="34" charset="0"/>
                <a:ea typeface="IBM Plex Sans" pitchFamily="34" charset="-122"/>
                <a:cs typeface="IBM Plex Sans" pitchFamily="34" charset="-120"/>
              </a:rPr>
              <a:t> · Very hot test days caught, of 93</a:t>
            </a:r>
            <a:endParaRPr lang="en-US" sz="1200" dirty="0"/>
          </a:p>
        </p:txBody>
      </p:sp>
      <p:sp>
        <p:nvSpPr>
          <p:cNvPr id="24" name="Text 22"/>
          <p:cNvSpPr/>
          <p:nvPr/>
        </p:nvSpPr>
        <p:spPr>
          <a:xfrm>
            <a:off x="4488180" y="2032000"/>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1 day ahead</a:t>
            </a:r>
            <a:endParaRPr lang="en-US" sz="1200" dirty="0"/>
          </a:p>
        </p:txBody>
      </p:sp>
      <p:sp>
        <p:nvSpPr>
          <p:cNvPr id="25" name="Shape 23"/>
          <p:cNvSpPr/>
          <p:nvPr/>
        </p:nvSpPr>
        <p:spPr>
          <a:xfrm>
            <a:off x="4488180" y="2339342"/>
            <a:ext cx="1619250" cy="152400"/>
          </a:xfrm>
          <a:prstGeom prst="roundRect">
            <a:avLst>
              <a:gd name="adj" fmla="val 12500"/>
            </a:avLst>
          </a:prstGeom>
          <a:solidFill>
            <a:srgbClr val="2563B0"/>
          </a:solidFill>
          <a:ln/>
        </p:spPr>
      </p:sp>
      <p:sp>
        <p:nvSpPr>
          <p:cNvPr id="26" name="Text 24"/>
          <p:cNvSpPr/>
          <p:nvPr/>
        </p:nvSpPr>
        <p:spPr>
          <a:xfrm>
            <a:off x="6183630" y="2308864"/>
            <a:ext cx="9073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72 · model</a:t>
            </a:r>
            <a:endParaRPr lang="en-US" sz="1200" dirty="0"/>
          </a:p>
        </p:txBody>
      </p:sp>
      <p:sp>
        <p:nvSpPr>
          <p:cNvPr id="27" name="Shape 25"/>
          <p:cNvSpPr/>
          <p:nvPr/>
        </p:nvSpPr>
        <p:spPr>
          <a:xfrm>
            <a:off x="4488180" y="2616200"/>
            <a:ext cx="1282700" cy="152400"/>
          </a:xfrm>
          <a:prstGeom prst="roundRect">
            <a:avLst>
              <a:gd name="adj" fmla="val 12500"/>
            </a:avLst>
          </a:prstGeom>
          <a:solidFill>
            <a:srgbClr val="C3BEB5"/>
          </a:solidFill>
          <a:ln/>
        </p:spPr>
      </p:sp>
      <p:sp>
        <p:nvSpPr>
          <p:cNvPr id="28" name="Text 26"/>
          <p:cNvSpPr/>
          <p:nvPr/>
        </p:nvSpPr>
        <p:spPr>
          <a:xfrm>
            <a:off x="5847080" y="2585721"/>
            <a:ext cx="13206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57 · persistence</a:t>
            </a:r>
            <a:endParaRPr lang="en-US" sz="1200" dirty="0"/>
          </a:p>
        </p:txBody>
      </p:sp>
      <p:sp>
        <p:nvSpPr>
          <p:cNvPr id="29" name="Text 27"/>
          <p:cNvSpPr/>
          <p:nvPr/>
        </p:nvSpPr>
        <p:spPr>
          <a:xfrm>
            <a:off x="4488180" y="2862579"/>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2 days ahead</a:t>
            </a:r>
            <a:endParaRPr lang="en-US" sz="1200" dirty="0"/>
          </a:p>
        </p:txBody>
      </p:sp>
      <p:sp>
        <p:nvSpPr>
          <p:cNvPr id="30" name="Shape 28"/>
          <p:cNvSpPr/>
          <p:nvPr/>
        </p:nvSpPr>
        <p:spPr>
          <a:xfrm>
            <a:off x="4488180" y="3169921"/>
            <a:ext cx="1619250" cy="152400"/>
          </a:xfrm>
          <a:prstGeom prst="roundRect">
            <a:avLst>
              <a:gd name="adj" fmla="val 12500"/>
            </a:avLst>
          </a:prstGeom>
          <a:solidFill>
            <a:srgbClr val="2563B0"/>
          </a:solidFill>
          <a:ln/>
        </p:spPr>
      </p:sp>
      <p:sp>
        <p:nvSpPr>
          <p:cNvPr id="31" name="Text 29"/>
          <p:cNvSpPr/>
          <p:nvPr/>
        </p:nvSpPr>
        <p:spPr>
          <a:xfrm>
            <a:off x="6183630" y="3139442"/>
            <a:ext cx="9073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72 · model</a:t>
            </a:r>
            <a:endParaRPr lang="en-US" sz="1200" dirty="0"/>
          </a:p>
        </p:txBody>
      </p:sp>
      <p:sp>
        <p:nvSpPr>
          <p:cNvPr id="32" name="Shape 30"/>
          <p:cNvSpPr/>
          <p:nvPr/>
        </p:nvSpPr>
        <p:spPr>
          <a:xfrm>
            <a:off x="4488180" y="3446779"/>
            <a:ext cx="946150" cy="152400"/>
          </a:xfrm>
          <a:prstGeom prst="roundRect">
            <a:avLst>
              <a:gd name="adj" fmla="val 12500"/>
            </a:avLst>
          </a:prstGeom>
          <a:solidFill>
            <a:srgbClr val="C3BEB5"/>
          </a:solidFill>
          <a:ln/>
        </p:spPr>
      </p:sp>
      <p:sp>
        <p:nvSpPr>
          <p:cNvPr id="33" name="Text 31"/>
          <p:cNvSpPr/>
          <p:nvPr/>
        </p:nvSpPr>
        <p:spPr>
          <a:xfrm>
            <a:off x="5510530" y="3416300"/>
            <a:ext cx="13206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42 · persistence</a:t>
            </a:r>
            <a:endParaRPr lang="en-US" sz="1200" dirty="0"/>
          </a:p>
        </p:txBody>
      </p:sp>
      <p:sp>
        <p:nvSpPr>
          <p:cNvPr id="34" name="Text 32"/>
          <p:cNvSpPr/>
          <p:nvPr/>
        </p:nvSpPr>
        <p:spPr>
          <a:xfrm>
            <a:off x="4488180" y="3693164"/>
            <a:ext cx="31420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3 days ahead</a:t>
            </a:r>
            <a:endParaRPr lang="en-US" sz="1200" dirty="0"/>
          </a:p>
        </p:txBody>
      </p:sp>
      <p:sp>
        <p:nvSpPr>
          <p:cNvPr id="35" name="Shape 33"/>
          <p:cNvSpPr/>
          <p:nvPr/>
        </p:nvSpPr>
        <p:spPr>
          <a:xfrm>
            <a:off x="4488180" y="4000500"/>
            <a:ext cx="1460500" cy="152400"/>
          </a:xfrm>
          <a:prstGeom prst="roundRect">
            <a:avLst>
              <a:gd name="adj" fmla="val 12500"/>
            </a:avLst>
          </a:prstGeom>
          <a:solidFill>
            <a:srgbClr val="2563B0"/>
          </a:solidFill>
          <a:ln/>
        </p:spPr>
      </p:sp>
      <p:sp>
        <p:nvSpPr>
          <p:cNvPr id="36" name="Text 34"/>
          <p:cNvSpPr/>
          <p:nvPr/>
        </p:nvSpPr>
        <p:spPr>
          <a:xfrm>
            <a:off x="6024880" y="3970021"/>
            <a:ext cx="9073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65 · model</a:t>
            </a:r>
            <a:endParaRPr lang="en-US" sz="1200" dirty="0"/>
          </a:p>
        </p:txBody>
      </p:sp>
      <p:sp>
        <p:nvSpPr>
          <p:cNvPr id="37" name="Shape 35"/>
          <p:cNvSpPr/>
          <p:nvPr/>
        </p:nvSpPr>
        <p:spPr>
          <a:xfrm>
            <a:off x="4488180" y="4277364"/>
            <a:ext cx="812800" cy="152400"/>
          </a:xfrm>
          <a:prstGeom prst="roundRect">
            <a:avLst>
              <a:gd name="adj" fmla="val 12500"/>
            </a:avLst>
          </a:prstGeom>
          <a:solidFill>
            <a:srgbClr val="C3BEB5"/>
          </a:solidFill>
          <a:ln/>
        </p:spPr>
      </p:sp>
      <p:sp>
        <p:nvSpPr>
          <p:cNvPr id="38" name="Text 36"/>
          <p:cNvSpPr/>
          <p:nvPr/>
        </p:nvSpPr>
        <p:spPr>
          <a:xfrm>
            <a:off x="5377180" y="4246879"/>
            <a:ext cx="13206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36 · persistence</a:t>
            </a:r>
            <a:endParaRPr lang="en-US" sz="1200" dirty="0"/>
          </a:p>
        </p:txBody>
      </p:sp>
      <p:sp>
        <p:nvSpPr>
          <p:cNvPr id="39" name="Shape 37"/>
          <p:cNvSpPr/>
          <p:nvPr/>
        </p:nvSpPr>
        <p:spPr>
          <a:xfrm>
            <a:off x="7851775" y="1641475"/>
            <a:ext cx="3524250" cy="1045210"/>
          </a:xfrm>
          <a:prstGeom prst="roundRect">
            <a:avLst>
              <a:gd name="adj" fmla="val 6987"/>
            </a:avLst>
          </a:prstGeom>
          <a:solidFill>
            <a:srgbClr val="FFFDF8"/>
          </a:solidFill>
          <a:ln w="6350">
            <a:solidFill>
              <a:srgbClr val="E3DACB"/>
            </a:solidFill>
            <a:prstDash val="solid"/>
          </a:ln>
        </p:spPr>
      </p:sp>
      <p:sp>
        <p:nvSpPr>
          <p:cNvPr id="40" name="Text 38"/>
          <p:cNvSpPr/>
          <p:nvPr/>
        </p:nvSpPr>
        <p:spPr>
          <a:xfrm>
            <a:off x="8006080" y="1757679"/>
            <a:ext cx="331210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77 %</a:t>
            </a:r>
            <a:endParaRPr lang="en-US" sz="2800" dirty="0"/>
          </a:p>
        </p:txBody>
      </p:sp>
      <p:sp>
        <p:nvSpPr>
          <p:cNvPr id="41" name="Text 39"/>
          <p:cNvSpPr/>
          <p:nvPr/>
        </p:nvSpPr>
        <p:spPr>
          <a:xfrm>
            <a:off x="8006080" y="2174242"/>
            <a:ext cx="331210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caught 1 day ahead (persistence 61 %); test F1 0.63 vs 0.61</a:t>
            </a:r>
            <a:endParaRPr lang="en-US" sz="1200" dirty="0"/>
          </a:p>
        </p:txBody>
      </p:sp>
      <p:sp>
        <p:nvSpPr>
          <p:cNvPr id="42" name="Shape 40"/>
          <p:cNvSpPr/>
          <p:nvPr/>
        </p:nvSpPr>
        <p:spPr>
          <a:xfrm>
            <a:off x="7851775" y="2794639"/>
            <a:ext cx="3524250" cy="1045210"/>
          </a:xfrm>
          <a:prstGeom prst="roundRect">
            <a:avLst>
              <a:gd name="adj" fmla="val 6987"/>
            </a:avLst>
          </a:prstGeom>
          <a:solidFill>
            <a:srgbClr val="FFFDF8"/>
          </a:solidFill>
          <a:ln w="6350">
            <a:solidFill>
              <a:srgbClr val="E3DACB"/>
            </a:solidFill>
            <a:prstDash val="solid"/>
          </a:ln>
        </p:spPr>
      </p:sp>
      <p:sp>
        <p:nvSpPr>
          <p:cNvPr id="43" name="Text 41"/>
          <p:cNvSpPr/>
          <p:nvPr/>
        </p:nvSpPr>
        <p:spPr>
          <a:xfrm>
            <a:off x="8006080" y="2910842"/>
            <a:ext cx="331210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 2×</a:t>
            </a:r>
            <a:endParaRPr lang="en-US" sz="2800" dirty="0"/>
          </a:p>
        </p:txBody>
      </p:sp>
      <p:sp>
        <p:nvSpPr>
          <p:cNvPr id="44" name="Text 42"/>
          <p:cNvSpPr/>
          <p:nvPr/>
        </p:nvSpPr>
        <p:spPr>
          <a:xfrm>
            <a:off x="8006080" y="3327400"/>
            <a:ext cx="331210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very hot days: 17.2 a year (1990–2019) → 31.0</a:t>
            </a:r>
            <a:endParaRPr lang="en-US" sz="1200" dirty="0"/>
          </a:p>
        </p:txBody>
      </p:sp>
      <p:sp>
        <p:nvSpPr>
          <p:cNvPr id="45" name="Shape 43"/>
          <p:cNvSpPr/>
          <p:nvPr/>
        </p:nvSpPr>
        <p:spPr>
          <a:xfrm>
            <a:off x="7848600" y="3944621"/>
            <a:ext cx="3530600" cy="951230"/>
          </a:xfrm>
          <a:prstGeom prst="roundRect">
            <a:avLst>
              <a:gd name="adj" fmla="val 8011"/>
            </a:avLst>
          </a:prstGeom>
          <a:solidFill>
            <a:srgbClr val="14263A"/>
          </a:solidFill>
          <a:ln/>
        </p:spPr>
      </p:sp>
      <p:sp>
        <p:nvSpPr>
          <p:cNvPr id="46" name="Text 44"/>
          <p:cNvSpPr/>
          <p:nvPr/>
        </p:nvSpPr>
        <p:spPr>
          <a:xfrm>
            <a:off x="8001000" y="4071621"/>
            <a:ext cx="332257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47" name="Text 45"/>
          <p:cNvSpPr/>
          <p:nvPr/>
        </p:nvSpPr>
        <p:spPr>
          <a:xfrm>
            <a:off x="8001000" y="4323079"/>
            <a:ext cx="3322574"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Heat builds up, so it can be seen coming. The price: more false alarms (63 vs 36).</a:t>
            </a:r>
            <a:endParaRPr lang="en-US" sz="1300" dirty="0"/>
          </a:p>
        </p:txBody>
      </p:sp>
      <p:sp>
        <p:nvSpPr>
          <p:cNvPr id="48" name="Text 46"/>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49" name="Text 47"/>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11 / 31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SHARPER QUESTIONS · H1 → Q4 COLD BIAS</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The “cold bias” was how I picked the days</a:t>
            </a:r>
            <a:endParaRPr lang="en-US" sz="3200" dirty="0"/>
          </a:p>
        </p:txBody>
      </p:sp>
      <p:sp>
        <p:nvSpPr>
          <p:cNvPr id="4" name="Shape 2"/>
          <p:cNvSpPr/>
          <p:nvPr/>
        </p:nvSpPr>
        <p:spPr>
          <a:xfrm>
            <a:off x="815975" y="1641475"/>
            <a:ext cx="6724650" cy="2503170"/>
          </a:xfrm>
          <a:prstGeom prst="roundRect">
            <a:avLst>
              <a:gd name="adj" fmla="val 2917"/>
            </a:avLst>
          </a:prstGeom>
          <a:solidFill>
            <a:srgbClr val="FFFDF8"/>
          </a:solidFill>
          <a:ln w="6350">
            <a:solidFill>
              <a:srgbClr val="E3DACB"/>
            </a:solidFill>
            <a:prstDash val="solid"/>
          </a:ln>
        </p:spPr>
      </p:sp>
      <p:sp>
        <p:nvSpPr>
          <p:cNvPr id="5" name="Text 3"/>
          <p:cNvSpPr/>
          <p:nvPr/>
        </p:nvSpPr>
        <p:spPr>
          <a:xfrm>
            <a:off x="970280" y="1770379"/>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12</a:t>
            </a:r>
            <a:r>
              <a:rPr lang="en-US" sz="1200" dirty="0">
                <a:solidFill>
                  <a:srgbClr val="5E6672"/>
                </a:solidFill>
                <a:latin typeface="IBM Plex Sans" pitchFamily="34" charset="0"/>
                <a:ea typeface="IBM Plex Sans" pitchFamily="34" charset="-122"/>
                <a:cs typeface="IBM Plex Sans" pitchFamily="34" charset="-120"/>
              </a:rPr>
              <a:t> · Bias on test days, real − forecast (°C; positive = too cold)</a:t>
            </a:r>
            <a:endParaRPr lang="en-US" sz="1200" dirty="0"/>
          </a:p>
        </p:txBody>
      </p:sp>
      <p:sp>
        <p:nvSpPr>
          <p:cNvPr id="6" name="Text 4"/>
          <p:cNvSpPr/>
          <p:nvPr/>
        </p:nvSpPr>
        <p:spPr>
          <a:xfrm>
            <a:off x="970280" y="2106929"/>
            <a:ext cx="30740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IBM Plex Sans" pitchFamily="34" charset="0"/>
                <a:ea typeface="IBM Plex Sans" pitchFamily="34" charset="-122"/>
                <a:cs typeface="IBM Plex Sans" pitchFamily="34" charset="-120"/>
              </a:rPr>
              <a:t>All test days (1,095)</a:t>
            </a:r>
            <a:endParaRPr lang="en-US" sz="1200" dirty="0"/>
          </a:p>
        </p:txBody>
      </p:sp>
      <p:sp>
        <p:nvSpPr>
          <p:cNvPr id="7" name="Shape 5"/>
          <p:cNvSpPr/>
          <p:nvPr/>
        </p:nvSpPr>
        <p:spPr>
          <a:xfrm>
            <a:off x="4056380" y="2098042"/>
            <a:ext cx="393700" cy="215900"/>
          </a:xfrm>
          <a:prstGeom prst="roundRect">
            <a:avLst>
              <a:gd name="adj" fmla="val 8824"/>
            </a:avLst>
          </a:prstGeom>
          <a:solidFill>
            <a:srgbClr val="C3BEB5"/>
          </a:solidFill>
          <a:ln/>
        </p:spPr>
      </p:sp>
      <p:sp>
        <p:nvSpPr>
          <p:cNvPr id="8" name="Text 6"/>
          <p:cNvSpPr/>
          <p:nvPr/>
        </p:nvSpPr>
        <p:spPr>
          <a:xfrm>
            <a:off x="4551680" y="2099314"/>
            <a:ext cx="4887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+0.13</a:t>
            </a:r>
            <a:endParaRPr lang="en-US" sz="1200" dirty="0"/>
          </a:p>
        </p:txBody>
      </p:sp>
      <p:sp>
        <p:nvSpPr>
          <p:cNvPr id="9" name="Text 7"/>
          <p:cNvSpPr/>
          <p:nvPr/>
        </p:nvSpPr>
        <p:spPr>
          <a:xfrm>
            <a:off x="970280" y="2437129"/>
            <a:ext cx="307403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Picked by outcome: hottest 5 % (131)</a:t>
            </a:r>
            <a:endParaRPr lang="en-US" sz="1200" dirty="0"/>
          </a:p>
        </p:txBody>
      </p:sp>
      <p:sp>
        <p:nvSpPr>
          <p:cNvPr id="10" name="Shape 8"/>
          <p:cNvSpPr/>
          <p:nvPr/>
        </p:nvSpPr>
        <p:spPr>
          <a:xfrm>
            <a:off x="4056380" y="2428242"/>
            <a:ext cx="2667000" cy="215900"/>
          </a:xfrm>
          <a:prstGeom prst="roundRect">
            <a:avLst>
              <a:gd name="adj" fmla="val 8824"/>
            </a:avLst>
          </a:prstGeom>
          <a:solidFill>
            <a:srgbClr val="C4501F"/>
          </a:solidFill>
          <a:ln/>
        </p:spPr>
      </p:sp>
      <p:sp>
        <p:nvSpPr>
          <p:cNvPr id="11" name="Text 9"/>
          <p:cNvSpPr/>
          <p:nvPr/>
        </p:nvSpPr>
        <p:spPr>
          <a:xfrm>
            <a:off x="6824980" y="2429514"/>
            <a:ext cx="4956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+0.88</a:t>
            </a:r>
            <a:endParaRPr lang="en-US" sz="1200" dirty="0"/>
          </a:p>
        </p:txBody>
      </p:sp>
      <p:sp>
        <p:nvSpPr>
          <p:cNvPr id="12" name="Text 10"/>
          <p:cNvSpPr/>
          <p:nvPr/>
        </p:nvSpPr>
        <p:spPr>
          <a:xfrm>
            <a:off x="970280" y="2767329"/>
            <a:ext cx="30740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IBM Plex Sans" pitchFamily="34" charset="0"/>
                <a:ea typeface="IBM Plex Sans" pitchFamily="34" charset="-122"/>
                <a:cs typeface="IBM Plex Sans" pitchFamily="34" charset="-120"/>
              </a:rPr>
              <a:t>In advance: forecast says “hot” (101)</a:t>
            </a:r>
            <a:endParaRPr lang="en-US" sz="1200" dirty="0"/>
          </a:p>
        </p:txBody>
      </p:sp>
      <p:sp>
        <p:nvSpPr>
          <p:cNvPr id="13" name="Shape 11"/>
          <p:cNvSpPr/>
          <p:nvPr/>
        </p:nvSpPr>
        <p:spPr>
          <a:xfrm>
            <a:off x="4056380" y="2758442"/>
            <a:ext cx="336550" cy="215900"/>
          </a:xfrm>
          <a:prstGeom prst="roundRect">
            <a:avLst>
              <a:gd name="adj" fmla="val 8824"/>
            </a:avLst>
          </a:prstGeom>
          <a:solidFill>
            <a:srgbClr val="2563B0"/>
          </a:solidFill>
          <a:ln/>
        </p:spPr>
      </p:sp>
      <p:sp>
        <p:nvSpPr>
          <p:cNvPr id="14" name="Text 12"/>
          <p:cNvSpPr/>
          <p:nvPr/>
        </p:nvSpPr>
        <p:spPr>
          <a:xfrm>
            <a:off x="4494530" y="2759714"/>
            <a:ext cx="4956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+0.11</a:t>
            </a:r>
            <a:endParaRPr lang="en-US" sz="1200" dirty="0"/>
          </a:p>
        </p:txBody>
      </p:sp>
      <p:sp>
        <p:nvSpPr>
          <p:cNvPr id="15" name="Text 13"/>
          <p:cNvSpPr/>
          <p:nvPr/>
        </p:nvSpPr>
        <p:spPr>
          <a:xfrm>
            <a:off x="970280" y="3097529"/>
            <a:ext cx="30740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IBM Plex Sans" pitchFamily="34" charset="0"/>
                <a:ea typeface="IBM Plex Sans" pitchFamily="34" charset="-122"/>
                <a:cs typeface="IBM Plex Sans" pitchFamily="34" charset="-120"/>
              </a:rPr>
              <a:t>In advance: warm spell of 3+ days (323)</a:t>
            </a:r>
            <a:endParaRPr lang="en-US" sz="1200" dirty="0"/>
          </a:p>
        </p:txBody>
      </p:sp>
      <p:sp>
        <p:nvSpPr>
          <p:cNvPr id="16" name="Shape 14"/>
          <p:cNvSpPr/>
          <p:nvPr/>
        </p:nvSpPr>
        <p:spPr>
          <a:xfrm>
            <a:off x="4056380" y="3088642"/>
            <a:ext cx="361950" cy="215900"/>
          </a:xfrm>
          <a:prstGeom prst="roundRect">
            <a:avLst>
              <a:gd name="adj" fmla="val 8824"/>
            </a:avLst>
          </a:prstGeom>
          <a:solidFill>
            <a:srgbClr val="2563B0"/>
          </a:solidFill>
          <a:ln/>
        </p:spPr>
      </p:sp>
      <p:sp>
        <p:nvSpPr>
          <p:cNvPr id="17" name="Text 15"/>
          <p:cNvSpPr/>
          <p:nvPr/>
        </p:nvSpPr>
        <p:spPr>
          <a:xfrm>
            <a:off x="4519930" y="3089914"/>
            <a:ext cx="4956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+0.12</a:t>
            </a:r>
            <a:endParaRPr lang="en-US" sz="1200" dirty="0"/>
          </a:p>
        </p:txBody>
      </p:sp>
      <p:sp>
        <p:nvSpPr>
          <p:cNvPr id="18" name="Text 16"/>
          <p:cNvSpPr/>
          <p:nvPr/>
        </p:nvSpPr>
        <p:spPr>
          <a:xfrm>
            <a:off x="970280" y="3427729"/>
            <a:ext cx="30740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IBM Plex Sans" pitchFamily="34" charset="0"/>
                <a:ea typeface="IBM Plex Sans" pitchFamily="34" charset="-122"/>
                <a:cs typeface="IBM Plex Sans" pitchFamily="34" charset="-120"/>
              </a:rPr>
              <a:t>In advance: warm spell of 5+ days (214)</a:t>
            </a:r>
            <a:endParaRPr lang="en-US" sz="1200" dirty="0"/>
          </a:p>
        </p:txBody>
      </p:sp>
      <p:sp>
        <p:nvSpPr>
          <p:cNvPr id="19" name="Shape 17"/>
          <p:cNvSpPr/>
          <p:nvPr/>
        </p:nvSpPr>
        <p:spPr>
          <a:xfrm>
            <a:off x="4056380" y="3418842"/>
            <a:ext cx="482600" cy="215900"/>
          </a:xfrm>
          <a:prstGeom prst="roundRect">
            <a:avLst>
              <a:gd name="adj" fmla="val 8824"/>
            </a:avLst>
          </a:prstGeom>
          <a:solidFill>
            <a:srgbClr val="2563B0"/>
          </a:solidFill>
          <a:ln/>
        </p:spPr>
      </p:sp>
      <p:sp>
        <p:nvSpPr>
          <p:cNvPr id="20" name="Text 18"/>
          <p:cNvSpPr/>
          <p:nvPr/>
        </p:nvSpPr>
        <p:spPr>
          <a:xfrm>
            <a:off x="4640580" y="3420114"/>
            <a:ext cx="4956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+0.16</a:t>
            </a:r>
            <a:endParaRPr lang="en-US" sz="1200" dirty="0"/>
          </a:p>
        </p:txBody>
      </p:sp>
      <p:sp>
        <p:nvSpPr>
          <p:cNvPr id="21" name="Shape 19"/>
          <p:cNvSpPr/>
          <p:nvPr/>
        </p:nvSpPr>
        <p:spPr>
          <a:xfrm>
            <a:off x="970280" y="3752217"/>
            <a:ext cx="6416040" cy="0"/>
          </a:xfrm>
          <a:prstGeom prst="line">
            <a:avLst/>
          </a:prstGeom>
          <a:noFill/>
          <a:ln w="6350">
            <a:solidFill>
              <a:srgbClr val="E3DACB"/>
            </a:solidFill>
            <a:prstDash val="solid"/>
          </a:ln>
        </p:spPr>
      </p:sp>
      <p:sp>
        <p:nvSpPr>
          <p:cNvPr id="22" name="Text 20"/>
          <p:cNvSpPr/>
          <p:nvPr/>
        </p:nvSpPr>
        <p:spPr>
          <a:xfrm>
            <a:off x="970280" y="3817622"/>
            <a:ext cx="660852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Same M2 forecasts, 2023–2025. Only the way the days are chosen changes.</a:t>
            </a:r>
            <a:endParaRPr lang="en-US" sz="1200" dirty="0"/>
          </a:p>
        </p:txBody>
      </p:sp>
      <p:sp>
        <p:nvSpPr>
          <p:cNvPr id="23" name="Shape 21"/>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24" name="Text 22"/>
          <p:cNvSpPr/>
          <p:nvPr/>
        </p:nvSpPr>
        <p:spPr>
          <a:xfrm>
            <a:off x="7904480" y="1757679"/>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0.88 → 0.11</a:t>
            </a:r>
            <a:endParaRPr lang="en-US" sz="2800" dirty="0"/>
          </a:p>
        </p:txBody>
      </p:sp>
      <p:sp>
        <p:nvSpPr>
          <p:cNvPr id="25" name="Text 23"/>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 bias: hot days picked by outcome vs in advance</a:t>
            </a:r>
            <a:endParaRPr lang="en-US" sz="1200" dirty="0"/>
          </a:p>
        </p:txBody>
      </p:sp>
      <p:sp>
        <p:nvSpPr>
          <p:cNvPr id="26" name="Shape 24"/>
          <p:cNvSpPr/>
          <p:nvPr/>
        </p:nvSpPr>
        <p:spPr>
          <a:xfrm>
            <a:off x="7750175" y="2794639"/>
            <a:ext cx="3625850" cy="1045210"/>
          </a:xfrm>
          <a:prstGeom prst="roundRect">
            <a:avLst>
              <a:gd name="adj" fmla="val 6987"/>
            </a:avLst>
          </a:prstGeom>
          <a:solidFill>
            <a:srgbClr val="FFFDF8"/>
          </a:solidFill>
          <a:ln w="6350">
            <a:solidFill>
              <a:srgbClr val="E3DACB"/>
            </a:solidFill>
            <a:prstDash val="solid"/>
          </a:ln>
        </p:spPr>
      </p:sp>
      <p:sp>
        <p:nvSpPr>
          <p:cNvPr id="27" name="Text 25"/>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0.992 °C</a:t>
            </a:r>
            <a:endParaRPr lang="en-US" sz="2800" dirty="0"/>
          </a:p>
        </p:txBody>
      </p:sp>
      <p:sp>
        <p:nvSpPr>
          <p:cNvPr id="28" name="Text 26"/>
          <p:cNvSpPr/>
          <p:nvPr/>
        </p:nvSpPr>
        <p:spPr>
          <a:xfrm>
            <a:off x="7904480" y="3327400"/>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validation MAE with warm-spell inputs: no change</a:t>
            </a:r>
            <a:endParaRPr lang="en-US" sz="1200" dirty="0"/>
          </a:p>
        </p:txBody>
      </p:sp>
      <p:sp>
        <p:nvSpPr>
          <p:cNvPr id="29" name="Shape 27"/>
          <p:cNvSpPr/>
          <p:nvPr/>
        </p:nvSpPr>
        <p:spPr>
          <a:xfrm>
            <a:off x="7747000" y="3944621"/>
            <a:ext cx="3632200" cy="1174115"/>
          </a:xfrm>
          <a:prstGeom prst="roundRect">
            <a:avLst>
              <a:gd name="adj" fmla="val 6490"/>
            </a:avLst>
          </a:prstGeom>
          <a:solidFill>
            <a:srgbClr val="14263A"/>
          </a:solidFill>
          <a:ln/>
        </p:spPr>
      </p:sp>
      <p:sp>
        <p:nvSpPr>
          <p:cNvPr id="30" name="Text 28"/>
          <p:cNvSpPr/>
          <p:nvPr/>
        </p:nvSpPr>
        <p:spPr>
          <a:xfrm>
            <a:off x="7899400" y="4071621"/>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31" name="Text 29"/>
          <p:cNvSpPr/>
          <p:nvPr/>
        </p:nvSpPr>
        <p:spPr>
          <a:xfrm>
            <a:off x="7899400" y="4323079"/>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Judge on days chosen in advance. The real bias is +0.13 °C everywhere: warming ahead of the trend (H1).</a:t>
            </a:r>
            <a:endParaRPr lang="en-US" sz="1300" dirty="0"/>
          </a:p>
        </p:txBody>
      </p:sp>
      <p:sp>
        <p:nvSpPr>
          <p:cNvPr id="32" name="Text 30"/>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3" name="Text 31"/>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12 / 31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5 · THE PIPELINE</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Twelve steps from clean data to a verdict</a:t>
            </a:r>
            <a:endParaRPr lang="en-US" sz="3200" dirty="0"/>
          </a:p>
        </p:txBody>
      </p:sp>
      <p:sp>
        <p:nvSpPr>
          <p:cNvPr id="4" name="Shape 2"/>
          <p:cNvSpPr/>
          <p:nvPr/>
        </p:nvSpPr>
        <p:spPr>
          <a:xfrm>
            <a:off x="815975" y="1590675"/>
            <a:ext cx="2559050" cy="824230"/>
          </a:xfrm>
          <a:prstGeom prst="roundRect">
            <a:avLst>
              <a:gd name="adj" fmla="val 8860"/>
            </a:avLst>
          </a:prstGeom>
          <a:solidFill>
            <a:srgbClr val="FFFDF8"/>
          </a:solidFill>
          <a:ln w="6350">
            <a:solidFill>
              <a:srgbClr val="E3DACB"/>
            </a:solidFill>
            <a:prstDash val="solid"/>
          </a:ln>
        </p:spPr>
      </p:sp>
      <p:sp>
        <p:nvSpPr>
          <p:cNvPr id="5" name="Text 3"/>
          <p:cNvSpPr/>
          <p:nvPr/>
        </p:nvSpPr>
        <p:spPr>
          <a:xfrm>
            <a:off x="957580" y="1694179"/>
            <a:ext cx="234411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B2733"/>
                </a:solidFill>
                <a:latin typeface="Source Serif 4" pitchFamily="18" charset="0"/>
                <a:ea typeface="Source Serif 4" pitchFamily="18" charset="-122"/>
                <a:cs typeface="Source Serif 4" pitchFamily="18" charset="-120"/>
              </a:rPr>
              <a:t>13,149</a:t>
            </a:r>
            <a:endParaRPr lang="en-US" sz="2800" dirty="0"/>
          </a:p>
        </p:txBody>
      </p:sp>
      <p:sp>
        <p:nvSpPr>
          <p:cNvPr id="6" name="Text 4"/>
          <p:cNvSpPr/>
          <p:nvPr/>
        </p:nvSpPr>
        <p:spPr>
          <a:xfrm>
            <a:off x="957580" y="2098042"/>
            <a:ext cx="23441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days from Task 4’s clean data</a:t>
            </a:r>
            <a:endParaRPr lang="en-US" sz="1200" dirty="0"/>
          </a:p>
        </p:txBody>
      </p:sp>
      <p:sp>
        <p:nvSpPr>
          <p:cNvPr id="7" name="Shape 5"/>
          <p:cNvSpPr/>
          <p:nvPr/>
        </p:nvSpPr>
        <p:spPr>
          <a:xfrm>
            <a:off x="3482975" y="1590675"/>
            <a:ext cx="2559050" cy="824230"/>
          </a:xfrm>
          <a:prstGeom prst="roundRect">
            <a:avLst>
              <a:gd name="adj" fmla="val 8860"/>
            </a:avLst>
          </a:prstGeom>
          <a:solidFill>
            <a:srgbClr val="FFFDF8"/>
          </a:solidFill>
          <a:ln w="6350">
            <a:solidFill>
              <a:srgbClr val="E3DACB"/>
            </a:solidFill>
            <a:prstDash val="solid"/>
          </a:ln>
        </p:spPr>
      </p:sp>
      <p:sp>
        <p:nvSpPr>
          <p:cNvPr id="8" name="Text 6"/>
          <p:cNvSpPr/>
          <p:nvPr/>
        </p:nvSpPr>
        <p:spPr>
          <a:xfrm>
            <a:off x="3624580" y="1694179"/>
            <a:ext cx="234411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B2733"/>
                </a:solidFill>
                <a:latin typeface="Source Serif 4" pitchFamily="18" charset="0"/>
                <a:ea typeface="Source Serif 4" pitchFamily="18" charset="-122"/>
                <a:cs typeface="Source Serif 4" pitchFamily="18" charset="-120"/>
              </a:rPr>
              <a:t>6</a:t>
            </a:r>
            <a:endParaRPr lang="en-US" sz="2800" dirty="0"/>
          </a:p>
        </p:txBody>
      </p:sp>
      <p:sp>
        <p:nvSpPr>
          <p:cNvPr id="9" name="Text 7"/>
          <p:cNvSpPr/>
          <p:nvPr/>
        </p:nvSpPr>
        <p:spPr>
          <a:xfrm>
            <a:off x="3624580" y="2098042"/>
            <a:ext cx="23441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models vs 4 baselines</a:t>
            </a:r>
            <a:endParaRPr lang="en-US" sz="1200" dirty="0"/>
          </a:p>
        </p:txBody>
      </p:sp>
      <p:sp>
        <p:nvSpPr>
          <p:cNvPr id="10" name="Shape 8"/>
          <p:cNvSpPr/>
          <p:nvPr/>
        </p:nvSpPr>
        <p:spPr>
          <a:xfrm>
            <a:off x="6149975" y="1590675"/>
            <a:ext cx="2559050" cy="824230"/>
          </a:xfrm>
          <a:prstGeom prst="roundRect">
            <a:avLst>
              <a:gd name="adj" fmla="val 8860"/>
            </a:avLst>
          </a:prstGeom>
          <a:solidFill>
            <a:srgbClr val="FFFDF8"/>
          </a:solidFill>
          <a:ln w="6350">
            <a:solidFill>
              <a:srgbClr val="E3DACB"/>
            </a:solidFill>
            <a:prstDash val="solid"/>
          </a:ln>
        </p:spPr>
      </p:sp>
      <p:sp>
        <p:nvSpPr>
          <p:cNvPr id="11" name="Text 9"/>
          <p:cNvSpPr/>
          <p:nvPr/>
        </p:nvSpPr>
        <p:spPr>
          <a:xfrm>
            <a:off x="6291580" y="1694179"/>
            <a:ext cx="234411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B2733"/>
                </a:solidFill>
                <a:latin typeface="Source Serif 4" pitchFamily="18" charset="0"/>
                <a:ea typeface="Source Serif 4" pitchFamily="18" charset="-122"/>
                <a:cs typeface="Source Serif 4" pitchFamily="18" charset="-120"/>
              </a:rPr>
              <a:t>13</a:t>
            </a:r>
            <a:endParaRPr lang="en-US" sz="2800" dirty="0"/>
          </a:p>
        </p:txBody>
      </p:sp>
      <p:sp>
        <p:nvSpPr>
          <p:cNvPr id="12" name="Text 10"/>
          <p:cNvSpPr/>
          <p:nvPr/>
        </p:nvSpPr>
        <p:spPr>
          <a:xfrm>
            <a:off x="6291580" y="2098042"/>
            <a:ext cx="23441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walk-forward test years</a:t>
            </a:r>
            <a:endParaRPr lang="en-US" sz="1200" dirty="0"/>
          </a:p>
        </p:txBody>
      </p:sp>
      <p:sp>
        <p:nvSpPr>
          <p:cNvPr id="13" name="Shape 11"/>
          <p:cNvSpPr/>
          <p:nvPr/>
        </p:nvSpPr>
        <p:spPr>
          <a:xfrm>
            <a:off x="8816975" y="1590675"/>
            <a:ext cx="2559050" cy="824230"/>
          </a:xfrm>
          <a:prstGeom prst="roundRect">
            <a:avLst>
              <a:gd name="adj" fmla="val 8860"/>
            </a:avLst>
          </a:prstGeom>
          <a:solidFill>
            <a:srgbClr val="FFFDF8"/>
          </a:solidFill>
          <a:ln w="6350">
            <a:solidFill>
              <a:srgbClr val="E3DACB"/>
            </a:solidFill>
            <a:prstDash val="solid"/>
          </a:ln>
        </p:spPr>
      </p:sp>
      <p:sp>
        <p:nvSpPr>
          <p:cNvPr id="14" name="Text 12"/>
          <p:cNvSpPr/>
          <p:nvPr/>
        </p:nvSpPr>
        <p:spPr>
          <a:xfrm>
            <a:off x="8958580" y="1694179"/>
            <a:ext cx="234411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a:t>
            </a:r>
            <a:endParaRPr lang="en-US" sz="2800" dirty="0"/>
          </a:p>
        </p:txBody>
      </p:sp>
      <p:sp>
        <p:nvSpPr>
          <p:cNvPr id="15" name="Text 13"/>
          <p:cNvSpPr/>
          <p:nvPr/>
        </p:nvSpPr>
        <p:spPr>
          <a:xfrm>
            <a:off x="8958580" y="2098042"/>
            <a:ext cx="23441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run on the test years</a:t>
            </a:r>
            <a:endParaRPr lang="en-US" sz="1200" dirty="0"/>
          </a:p>
        </p:txBody>
      </p:sp>
      <p:sp>
        <p:nvSpPr>
          <p:cNvPr id="16" name="Shape 14"/>
          <p:cNvSpPr/>
          <p:nvPr/>
        </p:nvSpPr>
        <p:spPr>
          <a:xfrm>
            <a:off x="815975" y="2573654"/>
            <a:ext cx="10560050" cy="2002790"/>
          </a:xfrm>
          <a:prstGeom prst="roundRect">
            <a:avLst>
              <a:gd name="adj" fmla="val 3646"/>
            </a:avLst>
          </a:prstGeom>
          <a:solidFill>
            <a:srgbClr val="FFFDF8"/>
          </a:solidFill>
          <a:ln w="6350">
            <a:solidFill>
              <a:srgbClr val="E3DACB"/>
            </a:solidFill>
            <a:prstDash val="solid"/>
          </a:ln>
        </p:spPr>
      </p:sp>
      <p:sp>
        <p:nvSpPr>
          <p:cNvPr id="17" name="Text 15"/>
          <p:cNvSpPr/>
          <p:nvPr/>
        </p:nvSpPr>
        <p:spPr>
          <a:xfrm>
            <a:off x="970280" y="2702564"/>
            <a:ext cx="105589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13</a:t>
            </a:r>
            <a:r>
              <a:rPr lang="en-US" sz="1200" dirty="0">
                <a:solidFill>
                  <a:srgbClr val="5E6672"/>
                </a:solidFill>
                <a:latin typeface="IBM Plex Sans" pitchFamily="34" charset="0"/>
                <a:ea typeface="IBM Plex Sans" pitchFamily="34" charset="-122"/>
                <a:cs typeface="IBM Plex Sans" pitchFamily="34" charset="-120"/>
              </a:rPr>
              <a:t> · The Task 5 forecasting pipeline, with each step’s result</a:t>
            </a:r>
            <a:endParaRPr lang="en-US" sz="1200" dirty="0"/>
          </a:p>
        </p:txBody>
      </p:sp>
      <p:sp>
        <p:nvSpPr>
          <p:cNvPr id="18" name="Shape 16"/>
          <p:cNvSpPr/>
          <p:nvPr/>
        </p:nvSpPr>
        <p:spPr>
          <a:xfrm>
            <a:off x="970280" y="3004821"/>
            <a:ext cx="1475740" cy="772160"/>
          </a:xfrm>
          <a:prstGeom prst="roundRect">
            <a:avLst>
              <a:gd name="adj" fmla="val 6579"/>
            </a:avLst>
          </a:prstGeom>
          <a:solidFill>
            <a:srgbClr val="F4EEE3"/>
          </a:solidFill>
          <a:ln/>
        </p:spPr>
      </p:sp>
      <p:sp>
        <p:nvSpPr>
          <p:cNvPr id="19" name="Text 17"/>
          <p:cNvSpPr/>
          <p:nvPr/>
        </p:nvSpPr>
        <p:spPr>
          <a:xfrm>
            <a:off x="1059180" y="3081021"/>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1 · Split</a:t>
            </a:r>
            <a:endParaRPr lang="en-US" sz="1200" dirty="0"/>
          </a:p>
        </p:txBody>
      </p:sp>
      <p:sp>
        <p:nvSpPr>
          <p:cNvPr id="20" name="Text 18"/>
          <p:cNvSpPr/>
          <p:nvPr/>
        </p:nvSpPr>
        <p:spPr>
          <a:xfrm>
            <a:off x="1059180" y="3319779"/>
            <a:ext cx="13487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13,149 days, by years</a:t>
            </a:r>
            <a:endParaRPr lang="en-US" sz="1200" dirty="0"/>
          </a:p>
        </p:txBody>
      </p:sp>
      <p:pic>
        <p:nvPicPr>
          <p:cNvPr id="21" name="Image 0" descr="arrow-right">    </p:cNvPr>
          <p:cNvPicPr>
            <a:picLocks noChangeAspect="1"/>
          </p:cNvPicPr>
          <p:nvPr/>
        </p:nvPicPr>
        <p:blipFill>
          <a:blip r:embed="rId1"/>
          <a:srcRect l="0" r="0" t="0" b="0"/>
          <a:stretch/>
        </p:blipFill>
        <p:spPr>
          <a:xfrm>
            <a:off x="2496820" y="3340100"/>
            <a:ext cx="177800" cy="101600"/>
          </a:xfrm>
          <a:prstGeom prst="rect">
            <a:avLst/>
          </a:prstGeom>
        </p:spPr>
      </p:pic>
      <p:sp>
        <p:nvSpPr>
          <p:cNvPr id="22" name="Shape 19"/>
          <p:cNvSpPr/>
          <p:nvPr/>
        </p:nvSpPr>
        <p:spPr>
          <a:xfrm>
            <a:off x="2725420" y="3100071"/>
            <a:ext cx="1475740" cy="581660"/>
          </a:xfrm>
          <a:prstGeom prst="roundRect">
            <a:avLst>
              <a:gd name="adj" fmla="val 8734"/>
            </a:avLst>
          </a:prstGeom>
          <a:solidFill>
            <a:srgbClr val="F4EEE3"/>
          </a:solidFill>
          <a:ln/>
        </p:spPr>
      </p:sp>
      <p:sp>
        <p:nvSpPr>
          <p:cNvPr id="23" name="Text 20"/>
          <p:cNvSpPr/>
          <p:nvPr/>
        </p:nvSpPr>
        <p:spPr>
          <a:xfrm>
            <a:off x="2814320" y="3176271"/>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2 · Baselines</a:t>
            </a:r>
            <a:endParaRPr lang="en-US" sz="1200" dirty="0"/>
          </a:p>
        </p:txBody>
      </p:sp>
      <p:sp>
        <p:nvSpPr>
          <p:cNvPr id="24" name="Text 21"/>
          <p:cNvSpPr/>
          <p:nvPr/>
        </p:nvSpPr>
        <p:spPr>
          <a:xfrm>
            <a:off x="2814320" y="3415029"/>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Bar: 1.04 °C</a:t>
            </a:r>
            <a:endParaRPr lang="en-US" sz="1200" dirty="0"/>
          </a:p>
        </p:txBody>
      </p:sp>
      <p:pic>
        <p:nvPicPr>
          <p:cNvPr id="25" name="Image 1" descr="arrow-right">    </p:cNvPr>
          <p:cNvPicPr>
            <a:picLocks noChangeAspect="1"/>
          </p:cNvPicPr>
          <p:nvPr/>
        </p:nvPicPr>
        <p:blipFill>
          <a:blip r:embed="rId2"/>
          <a:srcRect l="0" r="0" t="0" b="0"/>
          <a:stretch/>
        </p:blipFill>
        <p:spPr>
          <a:xfrm>
            <a:off x="4251960" y="3340100"/>
            <a:ext cx="177800" cy="101600"/>
          </a:xfrm>
          <a:prstGeom prst="rect">
            <a:avLst/>
          </a:prstGeom>
        </p:spPr>
      </p:pic>
      <p:sp>
        <p:nvSpPr>
          <p:cNvPr id="26" name="Shape 22"/>
          <p:cNvSpPr/>
          <p:nvPr/>
        </p:nvSpPr>
        <p:spPr>
          <a:xfrm>
            <a:off x="4480560" y="3100071"/>
            <a:ext cx="1475740" cy="581660"/>
          </a:xfrm>
          <a:prstGeom prst="roundRect">
            <a:avLst>
              <a:gd name="adj" fmla="val 8734"/>
            </a:avLst>
          </a:prstGeom>
          <a:solidFill>
            <a:srgbClr val="F4EEE3"/>
          </a:solidFill>
          <a:ln/>
        </p:spPr>
      </p:sp>
      <p:sp>
        <p:nvSpPr>
          <p:cNvPr id="27" name="Text 23"/>
          <p:cNvSpPr/>
          <p:nvPr/>
        </p:nvSpPr>
        <p:spPr>
          <a:xfrm>
            <a:off x="4569460" y="3176271"/>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3 · ADF+KPSS</a:t>
            </a:r>
            <a:endParaRPr lang="en-US" sz="1200" dirty="0"/>
          </a:p>
        </p:txBody>
      </p:sp>
      <p:sp>
        <p:nvSpPr>
          <p:cNvPr id="28" name="Text 24"/>
          <p:cNvSpPr/>
          <p:nvPr/>
        </p:nvSpPr>
        <p:spPr>
          <a:xfrm>
            <a:off x="4569460" y="3415029"/>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d = 0, + trend</a:t>
            </a:r>
            <a:endParaRPr lang="en-US" sz="1200" dirty="0"/>
          </a:p>
        </p:txBody>
      </p:sp>
      <p:pic>
        <p:nvPicPr>
          <p:cNvPr id="29" name="Image 2" descr="arrow-right">    </p:cNvPr>
          <p:cNvPicPr>
            <a:picLocks noChangeAspect="1"/>
          </p:cNvPicPr>
          <p:nvPr/>
        </p:nvPicPr>
        <p:blipFill>
          <a:blip r:embed="rId3"/>
          <a:srcRect l="0" r="0" t="0" b="0"/>
          <a:stretch/>
        </p:blipFill>
        <p:spPr>
          <a:xfrm>
            <a:off x="6007100" y="3340100"/>
            <a:ext cx="177800" cy="101600"/>
          </a:xfrm>
          <a:prstGeom prst="rect">
            <a:avLst/>
          </a:prstGeom>
        </p:spPr>
      </p:pic>
      <p:sp>
        <p:nvSpPr>
          <p:cNvPr id="30" name="Shape 25"/>
          <p:cNvSpPr/>
          <p:nvPr/>
        </p:nvSpPr>
        <p:spPr>
          <a:xfrm>
            <a:off x="6235700" y="3100071"/>
            <a:ext cx="1475740" cy="581660"/>
          </a:xfrm>
          <a:prstGeom prst="roundRect">
            <a:avLst>
              <a:gd name="adj" fmla="val 8734"/>
            </a:avLst>
          </a:prstGeom>
          <a:solidFill>
            <a:srgbClr val="F4EEE3"/>
          </a:solidFill>
          <a:ln/>
        </p:spPr>
      </p:sp>
      <p:sp>
        <p:nvSpPr>
          <p:cNvPr id="31" name="Text 26"/>
          <p:cNvSpPr/>
          <p:nvPr/>
        </p:nvSpPr>
        <p:spPr>
          <a:xfrm>
            <a:off x="6324600" y="3176271"/>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4 · Orders</a:t>
            </a:r>
            <a:endParaRPr lang="en-US" sz="1200" dirty="0"/>
          </a:p>
        </p:txBody>
      </p:sp>
      <p:sp>
        <p:nvSpPr>
          <p:cNvPr id="32" name="Text 27"/>
          <p:cNvSpPr/>
          <p:nvPr/>
        </p:nvSpPr>
        <p:spPr>
          <a:xfrm>
            <a:off x="6324600" y="3415029"/>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K = 3, AR(3)</a:t>
            </a:r>
            <a:endParaRPr lang="en-US" sz="1200" dirty="0"/>
          </a:p>
        </p:txBody>
      </p:sp>
      <p:pic>
        <p:nvPicPr>
          <p:cNvPr id="33" name="Image 3" descr="arrow-right">    </p:cNvPr>
          <p:cNvPicPr>
            <a:picLocks noChangeAspect="1"/>
          </p:cNvPicPr>
          <p:nvPr/>
        </p:nvPicPr>
        <p:blipFill>
          <a:blip r:embed="rId4"/>
          <a:srcRect l="0" r="0" t="0" b="0"/>
          <a:stretch/>
        </p:blipFill>
        <p:spPr>
          <a:xfrm>
            <a:off x="7762240" y="3340100"/>
            <a:ext cx="177800" cy="101600"/>
          </a:xfrm>
          <a:prstGeom prst="rect">
            <a:avLst/>
          </a:prstGeom>
        </p:spPr>
      </p:pic>
      <p:sp>
        <p:nvSpPr>
          <p:cNvPr id="34" name="Shape 28"/>
          <p:cNvSpPr/>
          <p:nvPr/>
        </p:nvSpPr>
        <p:spPr>
          <a:xfrm>
            <a:off x="7990840" y="3100071"/>
            <a:ext cx="1475740" cy="581660"/>
          </a:xfrm>
          <a:prstGeom prst="roundRect">
            <a:avLst>
              <a:gd name="adj" fmla="val 8734"/>
            </a:avLst>
          </a:prstGeom>
          <a:solidFill>
            <a:srgbClr val="F4EEE3"/>
          </a:solidFill>
          <a:ln/>
        </p:spPr>
      </p:sp>
      <p:sp>
        <p:nvSpPr>
          <p:cNvPr id="35" name="Text 29"/>
          <p:cNvSpPr/>
          <p:nvPr/>
        </p:nvSpPr>
        <p:spPr>
          <a:xfrm>
            <a:off x="8079740" y="3176271"/>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5 · Diagnose</a:t>
            </a:r>
            <a:endParaRPr lang="en-US" sz="1200" dirty="0"/>
          </a:p>
        </p:txBody>
      </p:sp>
      <p:sp>
        <p:nvSpPr>
          <p:cNvPr id="36" name="Text 30"/>
          <p:cNvSpPr/>
          <p:nvPr/>
        </p:nvSpPr>
        <p:spPr>
          <a:xfrm>
            <a:off x="8079740" y="3415029"/>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Ljung-Box passes</a:t>
            </a:r>
            <a:endParaRPr lang="en-US" sz="1200" dirty="0"/>
          </a:p>
        </p:txBody>
      </p:sp>
      <p:pic>
        <p:nvPicPr>
          <p:cNvPr id="37" name="Image 4" descr="arrow-right">    </p:cNvPr>
          <p:cNvPicPr>
            <a:picLocks noChangeAspect="1"/>
          </p:cNvPicPr>
          <p:nvPr/>
        </p:nvPicPr>
        <p:blipFill>
          <a:blip r:embed="rId5"/>
          <a:srcRect l="0" r="0" t="0" b="0"/>
          <a:stretch/>
        </p:blipFill>
        <p:spPr>
          <a:xfrm>
            <a:off x="9517380" y="3340100"/>
            <a:ext cx="177800" cy="101600"/>
          </a:xfrm>
          <a:prstGeom prst="rect">
            <a:avLst/>
          </a:prstGeom>
        </p:spPr>
      </p:pic>
      <p:sp>
        <p:nvSpPr>
          <p:cNvPr id="38" name="Shape 31"/>
          <p:cNvSpPr/>
          <p:nvPr/>
        </p:nvSpPr>
        <p:spPr>
          <a:xfrm>
            <a:off x="9745980" y="3100071"/>
            <a:ext cx="1475740" cy="581660"/>
          </a:xfrm>
          <a:prstGeom prst="roundRect">
            <a:avLst>
              <a:gd name="adj" fmla="val 8734"/>
            </a:avLst>
          </a:prstGeom>
          <a:solidFill>
            <a:srgbClr val="F4EEE3"/>
          </a:solidFill>
          <a:ln/>
        </p:spPr>
      </p:sp>
      <p:sp>
        <p:nvSpPr>
          <p:cNvPr id="39" name="Text 32"/>
          <p:cNvSpPr/>
          <p:nvPr/>
        </p:nvSpPr>
        <p:spPr>
          <a:xfrm>
            <a:off x="9834880" y="3176271"/>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6 · Validate</a:t>
            </a:r>
            <a:endParaRPr lang="en-US" sz="1200" dirty="0"/>
          </a:p>
        </p:txBody>
      </p:sp>
      <p:sp>
        <p:nvSpPr>
          <p:cNvPr id="40" name="Text 33"/>
          <p:cNvSpPr/>
          <p:nvPr/>
        </p:nvSpPr>
        <p:spPr>
          <a:xfrm>
            <a:off x="9834880" y="3415029"/>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0.992 vs 1.072</a:t>
            </a:r>
            <a:endParaRPr lang="en-US" sz="1200" dirty="0"/>
          </a:p>
        </p:txBody>
      </p:sp>
      <p:sp>
        <p:nvSpPr>
          <p:cNvPr id="41" name="Shape 34"/>
          <p:cNvSpPr/>
          <p:nvPr/>
        </p:nvSpPr>
        <p:spPr>
          <a:xfrm>
            <a:off x="970280" y="3865879"/>
            <a:ext cx="1475740" cy="581660"/>
          </a:xfrm>
          <a:prstGeom prst="roundRect">
            <a:avLst>
              <a:gd name="adj" fmla="val 8734"/>
            </a:avLst>
          </a:prstGeom>
          <a:solidFill>
            <a:srgbClr val="F4EEE3"/>
          </a:solidFill>
          <a:ln/>
        </p:spPr>
      </p:sp>
      <p:sp>
        <p:nvSpPr>
          <p:cNvPr id="42" name="Text 35"/>
          <p:cNvSpPr/>
          <p:nvPr/>
        </p:nvSpPr>
        <p:spPr>
          <a:xfrm>
            <a:off x="1059180" y="3942079"/>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7 · Walk-fwd</a:t>
            </a:r>
            <a:endParaRPr lang="en-US" sz="1200" dirty="0"/>
          </a:p>
        </p:txBody>
      </p:sp>
      <p:sp>
        <p:nvSpPr>
          <p:cNvPr id="43" name="Text 36"/>
          <p:cNvSpPr/>
          <p:nvPr/>
        </p:nvSpPr>
        <p:spPr>
          <a:xfrm>
            <a:off x="1059180" y="4180842"/>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13 of 13 years</a:t>
            </a:r>
            <a:endParaRPr lang="en-US" sz="1200" dirty="0"/>
          </a:p>
        </p:txBody>
      </p:sp>
      <p:pic>
        <p:nvPicPr>
          <p:cNvPr id="44" name="Image 5" descr="arrow-right">    </p:cNvPr>
          <p:cNvPicPr>
            <a:picLocks noChangeAspect="1"/>
          </p:cNvPicPr>
          <p:nvPr/>
        </p:nvPicPr>
        <p:blipFill>
          <a:blip r:embed="rId6"/>
          <a:srcRect l="0" r="0" t="0" b="0"/>
          <a:stretch/>
        </p:blipFill>
        <p:spPr>
          <a:xfrm>
            <a:off x="2496820" y="4105914"/>
            <a:ext cx="177800" cy="101600"/>
          </a:xfrm>
          <a:prstGeom prst="rect">
            <a:avLst/>
          </a:prstGeom>
        </p:spPr>
      </p:pic>
      <p:sp>
        <p:nvSpPr>
          <p:cNvPr id="45" name="Shape 37"/>
          <p:cNvSpPr/>
          <p:nvPr/>
        </p:nvSpPr>
        <p:spPr>
          <a:xfrm>
            <a:off x="2725420" y="3865879"/>
            <a:ext cx="1475740" cy="581660"/>
          </a:xfrm>
          <a:prstGeom prst="roundRect">
            <a:avLst>
              <a:gd name="adj" fmla="val 8734"/>
            </a:avLst>
          </a:prstGeom>
          <a:solidFill>
            <a:srgbClr val="14263A"/>
          </a:solidFill>
          <a:ln/>
        </p:spPr>
      </p:sp>
      <p:sp>
        <p:nvSpPr>
          <p:cNvPr id="46" name="Text 38"/>
          <p:cNvSpPr/>
          <p:nvPr/>
        </p:nvSpPr>
        <p:spPr>
          <a:xfrm>
            <a:off x="2814320" y="3942079"/>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45E"/>
                </a:solidFill>
                <a:latin typeface="IBM Plex Sans" pitchFamily="34" charset="0"/>
                <a:ea typeface="IBM Plex Sans" pitchFamily="34" charset="-122"/>
                <a:cs typeface="IBM Plex Sans" pitchFamily="34" charset="-120"/>
              </a:rPr>
              <a:t>8 · Test once</a:t>
            </a:r>
            <a:endParaRPr lang="en-US" sz="1200" dirty="0"/>
          </a:p>
        </p:txBody>
      </p:sp>
      <p:sp>
        <p:nvSpPr>
          <p:cNvPr id="47" name="Text 39"/>
          <p:cNvSpPr/>
          <p:nvPr/>
        </p:nvSpPr>
        <p:spPr>
          <a:xfrm>
            <a:off x="2814320" y="4180842"/>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DF8"/>
                </a:solidFill>
                <a:latin typeface="IBM Plex Sans" pitchFamily="34" charset="0"/>
                <a:ea typeface="IBM Plex Sans" pitchFamily="34" charset="-122"/>
                <a:cs typeface="IBM Plex Sans" pitchFamily="34" charset="-120"/>
              </a:rPr>
              <a:t>0.940 vs 1.038</a:t>
            </a:r>
            <a:endParaRPr lang="en-US" sz="1200" dirty="0"/>
          </a:p>
        </p:txBody>
      </p:sp>
      <p:pic>
        <p:nvPicPr>
          <p:cNvPr id="48" name="Image 6" descr="arrow-right">    </p:cNvPr>
          <p:cNvPicPr>
            <a:picLocks noChangeAspect="1"/>
          </p:cNvPicPr>
          <p:nvPr/>
        </p:nvPicPr>
        <p:blipFill>
          <a:blip r:embed="rId7"/>
          <a:srcRect l="0" r="0" t="0" b="0"/>
          <a:stretch/>
        </p:blipFill>
        <p:spPr>
          <a:xfrm>
            <a:off x="4251960" y="4105914"/>
            <a:ext cx="177800" cy="101600"/>
          </a:xfrm>
          <a:prstGeom prst="rect">
            <a:avLst/>
          </a:prstGeom>
        </p:spPr>
      </p:pic>
      <p:sp>
        <p:nvSpPr>
          <p:cNvPr id="49" name="Shape 40"/>
          <p:cNvSpPr/>
          <p:nvPr/>
        </p:nvSpPr>
        <p:spPr>
          <a:xfrm>
            <a:off x="4480560" y="3865879"/>
            <a:ext cx="1475740" cy="581660"/>
          </a:xfrm>
          <a:prstGeom prst="roundRect">
            <a:avLst>
              <a:gd name="adj" fmla="val 8734"/>
            </a:avLst>
          </a:prstGeom>
          <a:solidFill>
            <a:srgbClr val="F4EEE3"/>
          </a:solidFill>
          <a:ln/>
        </p:spPr>
      </p:sp>
      <p:sp>
        <p:nvSpPr>
          <p:cNvPr id="50" name="Text 41"/>
          <p:cNvSpPr/>
          <p:nvPr/>
        </p:nvSpPr>
        <p:spPr>
          <a:xfrm>
            <a:off x="4569460" y="3942079"/>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9 · Storms</a:t>
            </a:r>
            <a:endParaRPr lang="en-US" sz="1200" dirty="0"/>
          </a:p>
        </p:txBody>
      </p:sp>
      <p:sp>
        <p:nvSpPr>
          <p:cNvPr id="51" name="Text 42"/>
          <p:cNvSpPr/>
          <p:nvPr/>
        </p:nvSpPr>
        <p:spPr>
          <a:xfrm>
            <a:off x="4569460" y="4180842"/>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Storm day 1.65 °C</a:t>
            </a:r>
            <a:endParaRPr lang="en-US" sz="1200" dirty="0"/>
          </a:p>
        </p:txBody>
      </p:sp>
      <p:pic>
        <p:nvPicPr>
          <p:cNvPr id="52" name="Image 7" descr="arrow-right">    </p:cNvPr>
          <p:cNvPicPr>
            <a:picLocks noChangeAspect="1"/>
          </p:cNvPicPr>
          <p:nvPr/>
        </p:nvPicPr>
        <p:blipFill>
          <a:blip r:embed="rId8"/>
          <a:srcRect l="0" r="0" t="0" b="0"/>
          <a:stretch/>
        </p:blipFill>
        <p:spPr>
          <a:xfrm>
            <a:off x="6007100" y="4105914"/>
            <a:ext cx="177800" cy="101600"/>
          </a:xfrm>
          <a:prstGeom prst="rect">
            <a:avLst/>
          </a:prstGeom>
        </p:spPr>
      </p:pic>
      <p:sp>
        <p:nvSpPr>
          <p:cNvPr id="53" name="Shape 43"/>
          <p:cNvSpPr/>
          <p:nvPr/>
        </p:nvSpPr>
        <p:spPr>
          <a:xfrm>
            <a:off x="6235700" y="3865879"/>
            <a:ext cx="1475740" cy="581660"/>
          </a:xfrm>
          <a:prstGeom prst="roundRect">
            <a:avLst>
              <a:gd name="adj" fmla="val 8734"/>
            </a:avLst>
          </a:prstGeom>
          <a:solidFill>
            <a:srgbClr val="F4EEE3"/>
          </a:solidFill>
          <a:ln/>
        </p:spPr>
      </p:sp>
      <p:sp>
        <p:nvSpPr>
          <p:cNvPr id="54" name="Text 44"/>
          <p:cNvSpPr/>
          <p:nvPr/>
        </p:nvSpPr>
        <p:spPr>
          <a:xfrm>
            <a:off x="6324600" y="3942079"/>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10 · LSTM</a:t>
            </a:r>
            <a:endParaRPr lang="en-US" sz="1200" dirty="0"/>
          </a:p>
        </p:txBody>
      </p:sp>
      <p:sp>
        <p:nvSpPr>
          <p:cNvPr id="55" name="Text 45"/>
          <p:cNvSpPr/>
          <p:nvPr/>
        </p:nvSpPr>
        <p:spPr>
          <a:xfrm>
            <a:off x="6324600" y="4180842"/>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0.929 °C</a:t>
            </a:r>
            <a:endParaRPr lang="en-US" sz="1200" dirty="0"/>
          </a:p>
        </p:txBody>
      </p:sp>
      <p:pic>
        <p:nvPicPr>
          <p:cNvPr id="56" name="Image 8" descr="arrow-right">    </p:cNvPr>
          <p:cNvPicPr>
            <a:picLocks noChangeAspect="1"/>
          </p:cNvPicPr>
          <p:nvPr/>
        </p:nvPicPr>
        <p:blipFill>
          <a:blip r:embed="rId9"/>
          <a:srcRect l="0" r="0" t="0" b="0"/>
          <a:stretch/>
        </p:blipFill>
        <p:spPr>
          <a:xfrm>
            <a:off x="7762240" y="4105914"/>
            <a:ext cx="177800" cy="101600"/>
          </a:xfrm>
          <a:prstGeom prst="rect">
            <a:avLst/>
          </a:prstGeom>
        </p:spPr>
      </p:pic>
      <p:sp>
        <p:nvSpPr>
          <p:cNvPr id="57" name="Shape 46"/>
          <p:cNvSpPr/>
          <p:nvPr/>
        </p:nvSpPr>
        <p:spPr>
          <a:xfrm>
            <a:off x="7990840" y="3865879"/>
            <a:ext cx="1475740" cy="581660"/>
          </a:xfrm>
          <a:prstGeom prst="roundRect">
            <a:avLst>
              <a:gd name="adj" fmla="val 8734"/>
            </a:avLst>
          </a:prstGeom>
          <a:solidFill>
            <a:srgbClr val="F4EEE3"/>
          </a:solidFill>
          <a:ln/>
        </p:spPr>
      </p:sp>
      <p:sp>
        <p:nvSpPr>
          <p:cNvPr id="58" name="Text 47"/>
          <p:cNvSpPr/>
          <p:nvPr/>
        </p:nvSpPr>
        <p:spPr>
          <a:xfrm>
            <a:off x="8079740" y="3942079"/>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11 · Compare</a:t>
            </a:r>
            <a:endParaRPr lang="en-US" sz="1200" dirty="0"/>
          </a:p>
        </p:txBody>
      </p:sp>
      <p:sp>
        <p:nvSpPr>
          <p:cNvPr id="59" name="Text 48"/>
          <p:cNvSpPr/>
          <p:nvPr/>
        </p:nvSpPr>
        <p:spPr>
          <a:xfrm>
            <a:off x="8079740" y="4180842"/>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All within 0.06</a:t>
            </a:r>
            <a:endParaRPr lang="en-US" sz="1200" dirty="0"/>
          </a:p>
        </p:txBody>
      </p:sp>
      <p:pic>
        <p:nvPicPr>
          <p:cNvPr id="60" name="Image 9" descr="arrow-right">    </p:cNvPr>
          <p:cNvPicPr>
            <a:picLocks noChangeAspect="1"/>
          </p:cNvPicPr>
          <p:nvPr/>
        </p:nvPicPr>
        <p:blipFill>
          <a:blip r:embed="rId10"/>
          <a:srcRect l="0" r="0" t="0" b="0"/>
          <a:stretch/>
        </p:blipFill>
        <p:spPr>
          <a:xfrm>
            <a:off x="9517380" y="4105914"/>
            <a:ext cx="177800" cy="101600"/>
          </a:xfrm>
          <a:prstGeom prst="rect">
            <a:avLst/>
          </a:prstGeom>
        </p:spPr>
      </p:pic>
      <p:sp>
        <p:nvSpPr>
          <p:cNvPr id="61" name="Shape 49"/>
          <p:cNvSpPr/>
          <p:nvPr/>
        </p:nvSpPr>
        <p:spPr>
          <a:xfrm>
            <a:off x="9745980" y="3865879"/>
            <a:ext cx="1475740" cy="581660"/>
          </a:xfrm>
          <a:prstGeom prst="roundRect">
            <a:avLst>
              <a:gd name="adj" fmla="val 8734"/>
            </a:avLst>
          </a:prstGeom>
          <a:solidFill>
            <a:srgbClr val="F4EEE3"/>
          </a:solidFill>
          <a:ln/>
        </p:spPr>
      </p:sp>
      <p:sp>
        <p:nvSpPr>
          <p:cNvPr id="62" name="Text 50"/>
          <p:cNvSpPr/>
          <p:nvPr/>
        </p:nvSpPr>
        <p:spPr>
          <a:xfrm>
            <a:off x="9834880" y="3942079"/>
            <a:ext cx="13487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B0"/>
                </a:solidFill>
                <a:latin typeface="IBM Plex Sans" pitchFamily="34" charset="0"/>
                <a:ea typeface="IBM Plex Sans" pitchFamily="34" charset="-122"/>
                <a:cs typeface="IBM Plex Sans" pitchFamily="34" charset="-120"/>
              </a:rPr>
              <a:t>12 · Sharper Qs</a:t>
            </a:r>
            <a:endParaRPr lang="en-US" sz="1200" dirty="0"/>
          </a:p>
        </p:txBody>
      </p:sp>
      <p:sp>
        <p:nvSpPr>
          <p:cNvPr id="63" name="Text 51"/>
          <p:cNvSpPr/>
          <p:nvPr/>
        </p:nvSpPr>
        <p:spPr>
          <a:xfrm>
            <a:off x="9834880" y="4180842"/>
            <a:ext cx="13487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B2733"/>
                </a:solidFill>
                <a:latin typeface="IBM Plex Sans" pitchFamily="34" charset="0"/>
                <a:ea typeface="IBM Plex Sans" pitchFamily="34" charset="-122"/>
                <a:cs typeface="IBM Plex Sans" pitchFamily="34" charset="-120"/>
              </a:rPr>
              <a:t>Heat warning</a:t>
            </a:r>
            <a:endParaRPr lang="en-US" sz="1200" dirty="0"/>
          </a:p>
        </p:txBody>
      </p:sp>
      <p:sp>
        <p:nvSpPr>
          <p:cNvPr id="64" name="Shape 52"/>
          <p:cNvSpPr/>
          <p:nvPr/>
        </p:nvSpPr>
        <p:spPr>
          <a:xfrm>
            <a:off x="812800" y="4732021"/>
            <a:ext cx="10566400" cy="476885"/>
          </a:xfrm>
          <a:prstGeom prst="roundRect">
            <a:avLst>
              <a:gd name="adj" fmla="val 15979"/>
            </a:avLst>
          </a:prstGeom>
          <a:solidFill>
            <a:srgbClr val="14263A"/>
          </a:solidFill>
          <a:ln/>
        </p:spPr>
      </p:sp>
      <p:sp>
        <p:nvSpPr>
          <p:cNvPr id="65" name="Text 53"/>
          <p:cNvSpPr/>
          <p:nvPr/>
        </p:nvSpPr>
        <p:spPr>
          <a:xfrm>
            <a:off x="990600" y="4863784"/>
            <a:ext cx="68399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RULES</a:t>
            </a:r>
            <a:endParaRPr lang="en-US" sz="1200" dirty="0"/>
          </a:p>
        </p:txBody>
      </p:sp>
      <p:sp>
        <p:nvSpPr>
          <p:cNvPr id="66" name="Text 54"/>
          <p:cNvSpPr/>
          <p:nvPr/>
        </p:nvSpPr>
        <p:spPr>
          <a:xfrm>
            <a:off x="1738392" y="4859021"/>
            <a:ext cx="8768620"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Fitted on training years only · chosen on validation · test used once · same days as the baselines</a:t>
            </a:r>
            <a:endParaRPr lang="en-US" sz="1300" dirty="0"/>
          </a:p>
        </p:txBody>
      </p:sp>
      <p:sp>
        <p:nvSpPr>
          <p:cNvPr id="67" name="Text 55"/>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68" name="Text 56"/>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13 / 31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STEPS 1–2 · PREPROCESSING AND TIME SPLIT</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Split by time, never at random</a:t>
            </a:r>
            <a:endParaRPr lang="en-US" sz="3200" dirty="0"/>
          </a:p>
        </p:txBody>
      </p:sp>
      <p:sp>
        <p:nvSpPr>
          <p:cNvPr id="4" name="Shape 2"/>
          <p:cNvSpPr/>
          <p:nvPr/>
        </p:nvSpPr>
        <p:spPr>
          <a:xfrm>
            <a:off x="815975" y="1641475"/>
            <a:ext cx="6724650" cy="3379470"/>
          </a:xfrm>
          <a:prstGeom prst="roundRect">
            <a:avLst>
              <a:gd name="adj" fmla="val 2161"/>
            </a:avLst>
          </a:prstGeom>
          <a:solidFill>
            <a:srgbClr val="FFFDF8"/>
          </a:solidFill>
          <a:ln w="6350">
            <a:solidFill>
              <a:srgbClr val="E3DACB"/>
            </a:solidFill>
            <a:prstDash val="solid"/>
          </a:ln>
        </p:spPr>
      </p:sp>
      <p:sp>
        <p:nvSpPr>
          <p:cNvPr id="5" name="Text 3"/>
          <p:cNvSpPr/>
          <p:nvPr/>
        </p:nvSpPr>
        <p:spPr>
          <a:xfrm>
            <a:off x="970280" y="1770379"/>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14</a:t>
            </a:r>
            <a:r>
              <a:rPr lang="en-US" sz="1200" dirty="0">
                <a:solidFill>
                  <a:srgbClr val="5E6672"/>
                </a:solidFill>
                <a:latin typeface="IBM Plex Sans" pitchFamily="34" charset="0"/>
                <a:ea typeface="IBM Plex Sans" pitchFamily="34" charset="-122"/>
                <a:cs typeface="IBM Plex Sans" pitchFamily="34" charset="-120"/>
              </a:rPr>
              <a:t> · Train, validation and test split by time: A temperature, B rain</a:t>
            </a:r>
            <a:endParaRPr lang="en-US" sz="1200" dirty="0"/>
          </a:p>
        </p:txBody>
      </p:sp>
      <p:pic>
        <p:nvPicPr>
          <p:cNvPr id="6" name="Image 0" descr="Train 1990–2019, validation 2020–2022 and test 2023–2025 for temperature; rain split over 2016–2025">    </p:cNvPr>
          <p:cNvPicPr>
            <a:picLocks noChangeAspect="1"/>
          </p:cNvPicPr>
          <p:nvPr/>
        </p:nvPicPr>
        <p:blipFill>
          <a:blip r:embed="rId1"/>
          <a:srcRect l="0" r="0" t="-22" b="-22"/>
          <a:stretch/>
        </p:blipFill>
        <p:spPr>
          <a:xfrm>
            <a:off x="970280" y="2059942"/>
            <a:ext cx="6426200" cy="2832100"/>
          </a:xfrm>
          <a:prstGeom prst="rect">
            <a:avLst/>
          </a:prstGeom>
        </p:spPr>
      </p:pic>
      <p:sp>
        <p:nvSpPr>
          <p:cNvPr id="7" name="Shape 4"/>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8" name="Text 5"/>
          <p:cNvSpPr/>
          <p:nvPr/>
        </p:nvSpPr>
        <p:spPr>
          <a:xfrm>
            <a:off x="7904480" y="1757679"/>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30 / 3 / 3</a:t>
            </a:r>
            <a:endParaRPr lang="en-US" sz="2800" dirty="0"/>
          </a:p>
        </p:txBody>
      </p:sp>
      <p:sp>
        <p:nvSpPr>
          <p:cNvPr id="9" name="Text 6"/>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years of train / validation / test: 10,957 / 1,096 / 1,095 days</a:t>
            </a:r>
            <a:endParaRPr lang="en-US" sz="1200" dirty="0"/>
          </a:p>
        </p:txBody>
      </p:sp>
      <p:sp>
        <p:nvSpPr>
          <p:cNvPr id="10" name="Shape 7"/>
          <p:cNvSpPr/>
          <p:nvPr/>
        </p:nvSpPr>
        <p:spPr>
          <a:xfrm>
            <a:off x="7750175" y="2794639"/>
            <a:ext cx="3625850" cy="1045210"/>
          </a:xfrm>
          <a:prstGeom prst="roundRect">
            <a:avLst>
              <a:gd name="adj" fmla="val 6987"/>
            </a:avLst>
          </a:prstGeom>
          <a:solidFill>
            <a:srgbClr val="FFFDF8"/>
          </a:solidFill>
          <a:ln w="6350">
            <a:solidFill>
              <a:srgbClr val="E3DACB"/>
            </a:solidFill>
            <a:prstDash val="solid"/>
          </a:ln>
        </p:spPr>
      </p:sp>
      <p:sp>
        <p:nvSpPr>
          <p:cNvPr id="11" name="Text 8"/>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18 days</a:t>
            </a:r>
            <a:endParaRPr lang="en-US" sz="2800" dirty="0"/>
          </a:p>
        </p:txBody>
      </p:sp>
      <p:sp>
        <p:nvSpPr>
          <p:cNvPr id="12" name="Text 9"/>
          <p:cNvSpPr/>
          <p:nvPr/>
        </p:nvSpPr>
        <p:spPr>
          <a:xfrm>
            <a:off x="7904480" y="3327400"/>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sudden temperature days caught by a 31-day rolling z-score (fixed threshold: 0); all kept</a:t>
            </a:r>
            <a:endParaRPr lang="en-US" sz="1200" dirty="0"/>
          </a:p>
        </p:txBody>
      </p:sp>
      <p:sp>
        <p:nvSpPr>
          <p:cNvPr id="13" name="Shape 10"/>
          <p:cNvSpPr/>
          <p:nvPr/>
        </p:nvSpPr>
        <p:spPr>
          <a:xfrm>
            <a:off x="7747000" y="3944621"/>
            <a:ext cx="3632200" cy="1174115"/>
          </a:xfrm>
          <a:prstGeom prst="roundRect">
            <a:avLst>
              <a:gd name="adj" fmla="val 6490"/>
            </a:avLst>
          </a:prstGeom>
          <a:solidFill>
            <a:srgbClr val="14263A"/>
          </a:solidFill>
          <a:ln/>
        </p:spPr>
      </p:sp>
      <p:sp>
        <p:nvSpPr>
          <p:cNvPr id="14" name="Text 11"/>
          <p:cNvSpPr/>
          <p:nvPr/>
        </p:nvSpPr>
        <p:spPr>
          <a:xfrm>
            <a:off x="7899400" y="4071621"/>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2"/>
          <p:cNvSpPr/>
          <p:nvPr/>
        </p:nvSpPr>
        <p:spPr>
          <a:xfrm>
            <a:off x="7899400" y="4323079"/>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A random split lets the model see the future. Whole years test every season; the test years are the hottest.</a:t>
            </a:r>
            <a:endParaRPr lang="en-US" sz="1300" dirty="0"/>
          </a:p>
        </p:txBody>
      </p:sp>
      <p:sp>
        <p:nvSpPr>
          <p:cNvPr id="16"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14 / 31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3 · STATIONARITY · ADF + KPSS</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Stationary around a trend: no differencing</a:t>
            </a:r>
            <a:endParaRPr lang="en-US" sz="3200" dirty="0"/>
          </a:p>
        </p:txBody>
      </p:sp>
      <p:sp>
        <p:nvSpPr>
          <p:cNvPr id="4" name="Shape 2"/>
          <p:cNvSpPr/>
          <p:nvPr/>
        </p:nvSpPr>
        <p:spPr>
          <a:xfrm>
            <a:off x="815975" y="1641475"/>
            <a:ext cx="6724650" cy="2503170"/>
          </a:xfrm>
          <a:prstGeom prst="roundRect">
            <a:avLst>
              <a:gd name="adj" fmla="val 2917"/>
            </a:avLst>
          </a:prstGeom>
          <a:solidFill>
            <a:srgbClr val="FFFDF8"/>
          </a:solidFill>
          <a:ln w="6350">
            <a:solidFill>
              <a:srgbClr val="E3DACB"/>
            </a:solidFill>
            <a:prstDash val="solid"/>
          </a:ln>
        </p:spPr>
      </p:sp>
      <p:sp>
        <p:nvSpPr>
          <p:cNvPr id="5" name="Text 3"/>
          <p:cNvSpPr/>
          <p:nvPr/>
        </p:nvSpPr>
        <p:spPr>
          <a:xfrm>
            <a:off x="970280" y="1770379"/>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15</a:t>
            </a:r>
            <a:r>
              <a:rPr lang="en-US" sz="1200" dirty="0">
                <a:solidFill>
                  <a:srgbClr val="5E6672"/>
                </a:solidFill>
                <a:latin typeface="IBM Plex Sans" pitchFamily="34" charset="0"/>
                <a:ea typeface="IBM Plex Sans" pitchFamily="34" charset="-122"/>
                <a:cs typeface="IBM Plex Sans" pitchFamily="34" charset="-120"/>
              </a:rPr>
              <a:t> · Temperature without the season, training years 1990–2019</a:t>
            </a:r>
            <a:endParaRPr lang="en-US" sz="1200" dirty="0"/>
          </a:p>
        </p:txBody>
      </p:sp>
      <p:pic>
        <p:nvPicPr>
          <p:cNvPr id="6" name="Image 0" descr="Season-free temperature 1990–2019 moving around zero, with a 365-day mean drifting slowly up">    </p:cNvPr>
          <p:cNvPicPr>
            <a:picLocks noChangeAspect="1"/>
          </p:cNvPicPr>
          <p:nvPr/>
        </p:nvPicPr>
        <p:blipFill>
          <a:blip r:embed="rId1"/>
          <a:srcRect l="-54" r="-54" t="0" b="0"/>
          <a:stretch/>
        </p:blipFill>
        <p:spPr>
          <a:xfrm>
            <a:off x="970280" y="2059942"/>
            <a:ext cx="6426200" cy="1955800"/>
          </a:xfrm>
          <a:prstGeom prst="rect">
            <a:avLst/>
          </a:prstGeom>
        </p:spPr>
      </p:pic>
      <p:sp>
        <p:nvSpPr>
          <p:cNvPr id="7" name="Shape 4"/>
          <p:cNvSpPr/>
          <p:nvPr/>
        </p:nvSpPr>
        <p:spPr>
          <a:xfrm>
            <a:off x="815975" y="4252596"/>
            <a:ext cx="2169557"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957580" y="43561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&lt; 0.001</a:t>
            </a:r>
            <a:endParaRPr lang="en-US" sz="2800" dirty="0"/>
          </a:p>
        </p:txBody>
      </p:sp>
      <p:sp>
        <p:nvSpPr>
          <p:cNvPr id="9" name="Text 6"/>
          <p:cNvSpPr/>
          <p:nvPr/>
        </p:nvSpPr>
        <p:spPr>
          <a:xfrm>
            <a:off x="957580" y="4772664"/>
            <a:ext cx="194293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ADF p: no unit root in all 3 series</a:t>
            </a:r>
            <a:endParaRPr lang="en-US" sz="1200" dirty="0"/>
          </a:p>
        </p:txBody>
      </p:sp>
      <p:sp>
        <p:nvSpPr>
          <p:cNvPr id="10" name="Shape 7"/>
          <p:cNvSpPr/>
          <p:nvPr/>
        </p:nvSpPr>
        <p:spPr>
          <a:xfrm>
            <a:off x="3093482" y="4252596"/>
            <a:ext cx="2169557"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3235087" y="43561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 0.01</a:t>
            </a:r>
            <a:endParaRPr lang="en-US" sz="2800" dirty="0"/>
          </a:p>
        </p:txBody>
      </p:sp>
      <p:sp>
        <p:nvSpPr>
          <p:cNvPr id="12" name="Text 9"/>
          <p:cNvSpPr/>
          <p:nvPr/>
        </p:nvSpPr>
        <p:spPr>
          <a:xfrm>
            <a:off x="3235087" y="4772664"/>
            <a:ext cx="194293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KPSS (c) p once the season is removed</a:t>
            </a:r>
            <a:endParaRPr lang="en-US" sz="1200" dirty="0"/>
          </a:p>
        </p:txBody>
      </p:sp>
      <p:sp>
        <p:nvSpPr>
          <p:cNvPr id="13" name="Shape 10"/>
          <p:cNvSpPr/>
          <p:nvPr/>
        </p:nvSpPr>
        <p:spPr>
          <a:xfrm>
            <a:off x="5370989" y="4252596"/>
            <a:ext cx="2169636" cy="1019810"/>
          </a:xfrm>
          <a:prstGeom prst="roundRect">
            <a:avLst>
              <a:gd name="adj" fmla="val 7161"/>
            </a:avLst>
          </a:prstGeom>
          <a:solidFill>
            <a:srgbClr val="FFFDF8"/>
          </a:solidFill>
          <a:ln w="6350">
            <a:solidFill>
              <a:srgbClr val="E3DACB"/>
            </a:solidFill>
            <a:prstDash val="solid"/>
          </a:ln>
        </p:spPr>
      </p:sp>
      <p:sp>
        <p:nvSpPr>
          <p:cNvPr id="14" name="Text 11"/>
          <p:cNvSpPr/>
          <p:nvPr/>
        </p:nvSpPr>
        <p:spPr>
          <a:xfrm>
            <a:off x="5512594" y="4356100"/>
            <a:ext cx="194301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 0.10</a:t>
            </a:r>
            <a:endParaRPr lang="en-US" sz="2800" dirty="0"/>
          </a:p>
        </p:txBody>
      </p:sp>
      <p:sp>
        <p:nvSpPr>
          <p:cNvPr id="15" name="Text 12"/>
          <p:cNvSpPr/>
          <p:nvPr/>
        </p:nvSpPr>
        <p:spPr>
          <a:xfrm>
            <a:off x="5512594" y="4772664"/>
            <a:ext cx="194301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KPSS (ct) p: fine around a trend</a:t>
            </a:r>
            <a:endParaRPr lang="en-US" sz="1200" dirty="0"/>
          </a:p>
        </p:txBody>
      </p:sp>
      <p:sp>
        <p:nvSpPr>
          <p:cNvPr id="16" name="Shape 13"/>
          <p:cNvSpPr/>
          <p:nvPr/>
        </p:nvSpPr>
        <p:spPr>
          <a:xfrm>
            <a:off x="7750175" y="1641475"/>
            <a:ext cx="3625850" cy="847090"/>
          </a:xfrm>
          <a:prstGeom prst="roundRect">
            <a:avLst>
              <a:gd name="adj" fmla="val 8621"/>
            </a:avLst>
          </a:prstGeom>
          <a:solidFill>
            <a:srgbClr val="FFFDF8"/>
          </a:solidFill>
          <a:ln w="6350">
            <a:solidFill>
              <a:srgbClr val="E3DACB"/>
            </a:solidFill>
            <a:prstDash val="solid"/>
          </a:ln>
        </p:spPr>
      </p:sp>
      <p:sp>
        <p:nvSpPr>
          <p:cNvPr id="17" name="Text 14"/>
          <p:cNvSpPr/>
          <p:nvPr/>
        </p:nvSpPr>
        <p:spPr>
          <a:xfrm>
            <a:off x="7904480" y="1757679"/>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d = 0, D = 0</a:t>
            </a:r>
            <a:endParaRPr lang="en-US" sz="2800" dirty="0"/>
          </a:p>
        </p:txBody>
      </p:sp>
      <p:sp>
        <p:nvSpPr>
          <p:cNvPr id="18" name="Text 15"/>
          <p:cNvSpPr/>
          <p:nvPr/>
        </p:nvSpPr>
        <p:spPr>
          <a:xfrm>
            <a:off x="7904480" y="2174242"/>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plus a linear trend term in the model</a:t>
            </a:r>
            <a:endParaRPr lang="en-US" sz="1200" dirty="0"/>
          </a:p>
        </p:txBody>
      </p:sp>
      <p:sp>
        <p:nvSpPr>
          <p:cNvPr id="19" name="Shape 16"/>
          <p:cNvSpPr/>
          <p:nvPr/>
        </p:nvSpPr>
        <p:spPr>
          <a:xfrm>
            <a:off x="7750175" y="2596517"/>
            <a:ext cx="3625850" cy="1045210"/>
          </a:xfrm>
          <a:prstGeom prst="roundRect">
            <a:avLst>
              <a:gd name="adj" fmla="val 6987"/>
            </a:avLst>
          </a:prstGeom>
          <a:solidFill>
            <a:srgbClr val="FFFDF8"/>
          </a:solidFill>
          <a:ln w="6350">
            <a:solidFill>
              <a:srgbClr val="E3DACB"/>
            </a:solidFill>
            <a:prstDash val="solid"/>
          </a:ln>
        </p:spPr>
      </p:sp>
      <p:sp>
        <p:nvSpPr>
          <p:cNvPr id="20" name="Text 17"/>
          <p:cNvSpPr/>
          <p:nvPr/>
        </p:nvSpPr>
        <p:spPr>
          <a:xfrm>
            <a:off x="7904480" y="2712721"/>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0.76 → 0.09</a:t>
            </a:r>
            <a:endParaRPr lang="en-US" sz="2800" dirty="0"/>
          </a:p>
        </p:txBody>
      </p:sp>
      <p:sp>
        <p:nvSpPr>
          <p:cNvPr id="21" name="Text 18"/>
          <p:cNvSpPr/>
          <p:nvPr/>
        </p:nvSpPr>
        <p:spPr>
          <a:xfrm>
            <a:off x="7904480" y="3129279"/>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lag-1 ACF after one difference: possible, not needed</a:t>
            </a:r>
            <a:endParaRPr lang="en-US" sz="1200" dirty="0"/>
          </a:p>
        </p:txBody>
      </p:sp>
      <p:sp>
        <p:nvSpPr>
          <p:cNvPr id="22" name="Shape 19"/>
          <p:cNvSpPr/>
          <p:nvPr/>
        </p:nvSpPr>
        <p:spPr>
          <a:xfrm>
            <a:off x="7747000" y="3746500"/>
            <a:ext cx="3632200" cy="1174115"/>
          </a:xfrm>
          <a:prstGeom prst="roundRect">
            <a:avLst>
              <a:gd name="adj" fmla="val 6490"/>
            </a:avLst>
          </a:prstGeom>
          <a:solidFill>
            <a:srgbClr val="14263A"/>
          </a:solidFill>
          <a:ln/>
        </p:spPr>
      </p:sp>
      <p:sp>
        <p:nvSpPr>
          <p:cNvPr id="23" name="Text 20"/>
          <p:cNvSpPr/>
          <p:nvPr/>
        </p:nvSpPr>
        <p:spPr>
          <a:xfrm>
            <a:off x="7899400" y="3873500"/>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4" name="Text 21"/>
          <p:cNvSpPr/>
          <p:nvPr/>
        </p:nvSpPr>
        <p:spPr>
          <a:xfrm>
            <a:off x="7899400" y="4124964"/>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A difference would make every warm day permanent; Task 4 showed temperature returns to normal.</a:t>
            </a:r>
            <a:endParaRPr lang="en-US" sz="1300" dirty="0"/>
          </a:p>
        </p:txBody>
      </p:sp>
      <p:sp>
        <p:nvSpPr>
          <p:cNvPr id="25" name="Text 2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6" name="Text 23"/>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15 / 31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4A · THE SEASON AS SINE AND COSINE</a:t>
            </a:r>
            <a:endParaRPr lang="en-US" sz="1200" dirty="0"/>
          </a:p>
        </p:txBody>
      </p:sp>
      <p:sp>
        <p:nvSpPr>
          <p:cNvPr id="3" name="Text 1"/>
          <p:cNvSpPr/>
          <p:nvPr>
            <p:ph type="title"/>
          </p:nvPr>
        </p:nvSpPr>
        <p:spPr>
          <a:xfrm>
            <a:off x="812800" y="9880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Three waves carry the whole year</a:t>
            </a:r>
            <a:endParaRPr lang="en-US" sz="3200" dirty="0"/>
          </a:p>
        </p:txBody>
      </p:sp>
      <p:sp>
        <p:nvSpPr>
          <p:cNvPr id="4" name="Shape 2"/>
          <p:cNvSpPr/>
          <p:nvPr/>
        </p:nvSpPr>
        <p:spPr>
          <a:xfrm>
            <a:off x="815975" y="1641475"/>
            <a:ext cx="6724650" cy="2503170"/>
          </a:xfrm>
          <a:prstGeom prst="roundRect">
            <a:avLst>
              <a:gd name="adj" fmla="val 2917"/>
            </a:avLst>
          </a:prstGeom>
          <a:solidFill>
            <a:srgbClr val="FFFDF8"/>
          </a:solidFill>
          <a:ln w="6350">
            <a:solidFill>
              <a:srgbClr val="E3DACB"/>
            </a:solidFill>
            <a:prstDash val="solid"/>
          </a:ln>
        </p:spPr>
      </p:sp>
      <p:sp>
        <p:nvSpPr>
          <p:cNvPr id="5" name="Text 3"/>
          <p:cNvSpPr/>
          <p:nvPr/>
        </p:nvSpPr>
        <p:spPr>
          <a:xfrm>
            <a:off x="970280" y="1770385"/>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16</a:t>
            </a:r>
            <a:r>
              <a:rPr lang="en-US" sz="1200" dirty="0">
                <a:solidFill>
                  <a:srgbClr val="5E6672"/>
                </a:solidFill>
                <a:latin typeface="IBM Plex Sans" pitchFamily="34" charset="0"/>
                <a:ea typeface="IBM Plex Sans" pitchFamily="34" charset="-122"/>
                <a:cs typeface="IBM Plex Sans" pitchFamily="34" charset="-120"/>
              </a:rPr>
              <a:t> · What the calendar alone explains (2019): real vs season + trend, K = 3</a:t>
            </a:r>
            <a:endParaRPr lang="en-US" sz="1200" dirty="0"/>
          </a:p>
        </p:txBody>
      </p:sp>
      <p:pic>
        <p:nvPicPr>
          <p:cNvPr id="6" name="Image 0" descr="Real mean temperature in 2019 against the fitted season and trend with three sine/cosine pairs">    </p:cNvPr>
          <p:cNvPicPr>
            <a:picLocks noChangeAspect="1"/>
          </p:cNvPicPr>
          <p:nvPr/>
        </p:nvPicPr>
        <p:blipFill>
          <a:blip r:embed="rId1"/>
          <a:srcRect l="-54" r="-54" t="0" b="0"/>
          <a:stretch/>
        </p:blipFill>
        <p:spPr>
          <a:xfrm>
            <a:off x="970280" y="2059942"/>
            <a:ext cx="6426200" cy="1955800"/>
          </a:xfrm>
          <a:prstGeom prst="rect">
            <a:avLst/>
          </a:prstGeom>
        </p:spPr>
      </p:pic>
      <p:sp>
        <p:nvSpPr>
          <p:cNvPr id="7" name="Shape 4"/>
          <p:cNvSpPr/>
          <p:nvPr/>
        </p:nvSpPr>
        <p:spPr>
          <a:xfrm>
            <a:off x="815975" y="4252602"/>
            <a:ext cx="2169557"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957580" y="43561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88.2 %</a:t>
            </a:r>
            <a:endParaRPr lang="en-US" sz="2800" dirty="0"/>
          </a:p>
        </p:txBody>
      </p:sp>
      <p:sp>
        <p:nvSpPr>
          <p:cNvPr id="9" name="Text 6"/>
          <p:cNvSpPr/>
          <p:nvPr/>
        </p:nvSpPr>
        <p:spPr>
          <a:xfrm>
            <a:off x="957580" y="4772658"/>
            <a:ext cx="194293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explained by one sine/cosine pair</a:t>
            </a:r>
            <a:endParaRPr lang="en-US" sz="1200" dirty="0"/>
          </a:p>
        </p:txBody>
      </p:sp>
      <p:sp>
        <p:nvSpPr>
          <p:cNvPr id="10" name="Shape 7"/>
          <p:cNvSpPr/>
          <p:nvPr/>
        </p:nvSpPr>
        <p:spPr>
          <a:xfrm>
            <a:off x="3093482" y="4252602"/>
            <a:ext cx="2169557"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3235087" y="43561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K = 3</a:t>
            </a:r>
            <a:endParaRPr lang="en-US" sz="2800" dirty="0"/>
          </a:p>
        </p:txBody>
      </p:sp>
      <p:sp>
        <p:nvSpPr>
          <p:cNvPr id="12" name="Text 9"/>
          <p:cNvSpPr/>
          <p:nvPr/>
        </p:nvSpPr>
        <p:spPr>
          <a:xfrm>
            <a:off x="3235087" y="4772658"/>
            <a:ext cx="194293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chosen; a 4th pair gains 0.002 °C</a:t>
            </a:r>
            <a:endParaRPr lang="en-US" sz="1200" dirty="0"/>
          </a:p>
        </p:txBody>
      </p:sp>
      <p:sp>
        <p:nvSpPr>
          <p:cNvPr id="13" name="Shape 10"/>
          <p:cNvSpPr/>
          <p:nvPr/>
        </p:nvSpPr>
        <p:spPr>
          <a:xfrm>
            <a:off x="5370989" y="4252602"/>
            <a:ext cx="2169636" cy="1019810"/>
          </a:xfrm>
          <a:prstGeom prst="roundRect">
            <a:avLst>
              <a:gd name="adj" fmla="val 7161"/>
            </a:avLst>
          </a:prstGeom>
          <a:solidFill>
            <a:srgbClr val="FFFDF8"/>
          </a:solidFill>
          <a:ln w="6350">
            <a:solidFill>
              <a:srgbClr val="E3DACB"/>
            </a:solidFill>
            <a:prstDash val="solid"/>
          </a:ln>
        </p:spPr>
      </p:sp>
      <p:sp>
        <p:nvSpPr>
          <p:cNvPr id="14" name="Text 11"/>
          <p:cNvSpPr/>
          <p:nvPr/>
        </p:nvSpPr>
        <p:spPr>
          <a:xfrm>
            <a:off x="5512594" y="4356100"/>
            <a:ext cx="194301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2.3 °C</a:t>
            </a:r>
            <a:endParaRPr lang="en-US" sz="2800" dirty="0"/>
          </a:p>
        </p:txBody>
      </p:sp>
      <p:sp>
        <p:nvSpPr>
          <p:cNvPr id="15" name="Text 12"/>
          <p:cNvSpPr/>
          <p:nvPr/>
        </p:nvSpPr>
        <p:spPr>
          <a:xfrm>
            <a:off x="5512594" y="4772658"/>
            <a:ext cx="202485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left over for ARIMA to learn</a:t>
            </a:r>
            <a:endParaRPr lang="en-US" sz="1200" dirty="0"/>
          </a:p>
        </p:txBody>
      </p:sp>
      <p:sp>
        <p:nvSpPr>
          <p:cNvPr id="16" name="Shape 13"/>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17" name="Text 14"/>
          <p:cNvSpPr/>
          <p:nvPr/>
        </p:nvSpPr>
        <p:spPr>
          <a:xfrm>
            <a:off x="7904480" y="1757685"/>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+0.27 °C</a:t>
            </a:r>
            <a:endParaRPr lang="en-US" sz="2800" dirty="0"/>
          </a:p>
        </p:txBody>
      </p:sp>
      <p:sp>
        <p:nvSpPr>
          <p:cNvPr id="18" name="Text 15"/>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per 10 years, the learned trend: between H1’s days (+0.23) and nights (+0.41)</a:t>
            </a:r>
            <a:endParaRPr lang="en-US" sz="1200" dirty="0"/>
          </a:p>
        </p:txBody>
      </p:sp>
      <p:sp>
        <p:nvSpPr>
          <p:cNvPr id="19" name="Shape 16"/>
          <p:cNvSpPr/>
          <p:nvPr/>
        </p:nvSpPr>
        <p:spPr>
          <a:xfrm>
            <a:off x="7750175" y="2794633"/>
            <a:ext cx="3625850" cy="1045210"/>
          </a:xfrm>
          <a:prstGeom prst="roundRect">
            <a:avLst>
              <a:gd name="adj" fmla="val 6987"/>
            </a:avLst>
          </a:prstGeom>
          <a:solidFill>
            <a:srgbClr val="FFFDF8"/>
          </a:solidFill>
          <a:ln w="6350">
            <a:solidFill>
              <a:srgbClr val="E3DACB"/>
            </a:solidFill>
            <a:prstDash val="solid"/>
          </a:ln>
        </p:spPr>
      </p:sp>
      <p:sp>
        <p:nvSpPr>
          <p:cNvPr id="20" name="Text 17"/>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6 numbers</a:t>
            </a:r>
            <a:endParaRPr lang="en-US" sz="2800" dirty="0"/>
          </a:p>
        </p:txBody>
      </p:sp>
      <p:sp>
        <p:nvSpPr>
          <p:cNvPr id="21" name="Text 18"/>
          <p:cNvSpPr/>
          <p:nvPr/>
        </p:nvSpPr>
        <p:spPr>
          <a:xfrm>
            <a:off x="7904480" y="3327400"/>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replace a 365-day seasonal SARIMA, too heavy for 10,957 days</a:t>
            </a:r>
            <a:endParaRPr lang="en-US" sz="1200" dirty="0"/>
          </a:p>
        </p:txBody>
      </p:sp>
      <p:sp>
        <p:nvSpPr>
          <p:cNvPr id="22" name="Shape 19"/>
          <p:cNvSpPr/>
          <p:nvPr/>
        </p:nvSpPr>
        <p:spPr>
          <a:xfrm>
            <a:off x="7747000" y="3944627"/>
            <a:ext cx="3632200" cy="951230"/>
          </a:xfrm>
          <a:prstGeom prst="roundRect">
            <a:avLst>
              <a:gd name="adj" fmla="val 8011"/>
            </a:avLst>
          </a:prstGeom>
          <a:solidFill>
            <a:srgbClr val="14263A"/>
          </a:solidFill>
          <a:ln/>
        </p:spPr>
      </p:sp>
      <p:sp>
        <p:nvSpPr>
          <p:cNvPr id="23" name="Text 20"/>
          <p:cNvSpPr/>
          <p:nvPr/>
        </p:nvSpPr>
        <p:spPr>
          <a:xfrm>
            <a:off x="7899400" y="4071627"/>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4" name="Text 21"/>
          <p:cNvSpPr/>
          <p:nvPr/>
        </p:nvSpPr>
        <p:spPr>
          <a:xfrm>
            <a:off x="7899400" y="4323085"/>
            <a:ext cx="342722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Task 4’s “the season rules” became inputs. ARIMA only learns the day-to-day weather.</a:t>
            </a:r>
            <a:endParaRPr lang="en-US" sz="1300" dirty="0"/>
          </a:p>
        </p:txBody>
      </p:sp>
      <p:sp>
        <p:nvSpPr>
          <p:cNvPr id="25" name="Text 2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6" name="Text 23"/>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16 / 31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4B · ACF AND PACF · CHOOSING THE ORDERS</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Today depends on the last three days</a:t>
            </a:r>
            <a:endParaRPr lang="en-US" sz="3200" dirty="0"/>
          </a:p>
        </p:txBody>
      </p:sp>
      <p:sp>
        <p:nvSpPr>
          <p:cNvPr id="4" name="Shape 2"/>
          <p:cNvSpPr/>
          <p:nvPr/>
        </p:nvSpPr>
        <p:spPr>
          <a:xfrm>
            <a:off x="815975" y="1641475"/>
            <a:ext cx="6724650" cy="2388870"/>
          </a:xfrm>
          <a:prstGeom prst="roundRect">
            <a:avLst>
              <a:gd name="adj" fmla="val 3057"/>
            </a:avLst>
          </a:prstGeom>
          <a:solidFill>
            <a:srgbClr val="FFFDF8"/>
          </a:solidFill>
          <a:ln w="6350">
            <a:solidFill>
              <a:srgbClr val="E3DACB"/>
            </a:solidFill>
            <a:prstDash val="solid"/>
          </a:ln>
        </p:spPr>
      </p:sp>
      <p:sp>
        <p:nvSpPr>
          <p:cNvPr id="5" name="Text 3"/>
          <p:cNvSpPr/>
          <p:nvPr/>
        </p:nvSpPr>
        <p:spPr>
          <a:xfrm>
            <a:off x="970280" y="1770385"/>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17</a:t>
            </a:r>
            <a:r>
              <a:rPr lang="en-US" sz="1200" dirty="0">
                <a:solidFill>
                  <a:srgbClr val="5E6672"/>
                </a:solidFill>
                <a:latin typeface="IBM Plex Sans" pitchFamily="34" charset="0"/>
                <a:ea typeface="IBM Plex Sans" pitchFamily="34" charset="-122"/>
                <a:cs typeface="IBM Plex Sans" pitchFamily="34" charset="-120"/>
              </a:rPr>
              <a:t> · ACF and PACF of temperature without season and trend</a:t>
            </a:r>
            <a:endParaRPr lang="en-US" sz="1200" dirty="0"/>
          </a:p>
        </p:txBody>
      </p:sp>
      <p:pic>
        <p:nvPicPr>
          <p:cNvPr id="6" name="Image 0" descr="ACF tails off slowly while the PACF has three clear bars and then stops">    </p:cNvPr>
          <p:cNvPicPr>
            <a:picLocks noChangeAspect="1"/>
          </p:cNvPicPr>
          <p:nvPr/>
        </p:nvPicPr>
        <p:blipFill>
          <a:blip r:embed="rId1"/>
          <a:srcRect l="0" r="0" t="-2972" b="-2972"/>
          <a:stretch/>
        </p:blipFill>
        <p:spPr>
          <a:xfrm>
            <a:off x="970280" y="2059942"/>
            <a:ext cx="6426200" cy="1841500"/>
          </a:xfrm>
          <a:prstGeom prst="rect">
            <a:avLst/>
          </a:prstGeom>
        </p:spPr>
      </p:pic>
      <p:sp>
        <p:nvSpPr>
          <p:cNvPr id="7" name="Shape 4"/>
          <p:cNvSpPr/>
          <p:nvPr/>
        </p:nvSpPr>
        <p:spPr>
          <a:xfrm>
            <a:off x="815975" y="4138302"/>
            <a:ext cx="2169557" cy="821690"/>
          </a:xfrm>
          <a:prstGeom prst="roundRect">
            <a:avLst>
              <a:gd name="adj" fmla="val 8887"/>
            </a:avLst>
          </a:prstGeom>
          <a:solidFill>
            <a:srgbClr val="FFFDF8"/>
          </a:solidFill>
          <a:ln w="6350">
            <a:solidFill>
              <a:srgbClr val="E3DACB"/>
            </a:solidFill>
            <a:prstDash val="solid"/>
          </a:ln>
        </p:spPr>
      </p:sp>
      <p:sp>
        <p:nvSpPr>
          <p:cNvPr id="8" name="Text 5"/>
          <p:cNvSpPr/>
          <p:nvPr/>
        </p:nvSpPr>
        <p:spPr>
          <a:xfrm>
            <a:off x="957580" y="42418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0.76</a:t>
            </a:r>
            <a:endParaRPr lang="en-US" sz="2800" dirty="0"/>
          </a:p>
        </p:txBody>
      </p:sp>
      <p:sp>
        <p:nvSpPr>
          <p:cNvPr id="9" name="Text 6"/>
          <p:cNvSpPr/>
          <p:nvPr/>
        </p:nvSpPr>
        <p:spPr>
          <a:xfrm>
            <a:off x="957580" y="4658358"/>
            <a:ext cx="194293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PACF lag 1 (Task 4: 0.77)</a:t>
            </a:r>
            <a:endParaRPr lang="en-US" sz="1200" dirty="0"/>
          </a:p>
        </p:txBody>
      </p:sp>
      <p:sp>
        <p:nvSpPr>
          <p:cNvPr id="10" name="Shape 7"/>
          <p:cNvSpPr/>
          <p:nvPr/>
        </p:nvSpPr>
        <p:spPr>
          <a:xfrm>
            <a:off x="3093482" y="4138302"/>
            <a:ext cx="2169557" cy="821690"/>
          </a:xfrm>
          <a:prstGeom prst="roundRect">
            <a:avLst>
              <a:gd name="adj" fmla="val 8887"/>
            </a:avLst>
          </a:prstGeom>
          <a:solidFill>
            <a:srgbClr val="FFFDF8"/>
          </a:solidFill>
          <a:ln w="6350">
            <a:solidFill>
              <a:srgbClr val="E3DACB"/>
            </a:solidFill>
            <a:prstDash val="solid"/>
          </a:ln>
        </p:spPr>
      </p:sp>
      <p:sp>
        <p:nvSpPr>
          <p:cNvPr id="11" name="Text 8"/>
          <p:cNvSpPr/>
          <p:nvPr/>
        </p:nvSpPr>
        <p:spPr>
          <a:xfrm>
            <a:off x="3235087" y="42418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−0.24</a:t>
            </a:r>
            <a:endParaRPr lang="en-US" sz="2800" dirty="0"/>
          </a:p>
        </p:txBody>
      </p:sp>
      <p:sp>
        <p:nvSpPr>
          <p:cNvPr id="12" name="Text 9"/>
          <p:cNvSpPr/>
          <p:nvPr/>
        </p:nvSpPr>
        <p:spPr>
          <a:xfrm>
            <a:off x="3235087" y="4658358"/>
            <a:ext cx="194293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PACF lag 2</a:t>
            </a:r>
            <a:endParaRPr lang="en-US" sz="1200" dirty="0"/>
          </a:p>
        </p:txBody>
      </p:sp>
      <p:sp>
        <p:nvSpPr>
          <p:cNvPr id="13" name="Shape 10"/>
          <p:cNvSpPr/>
          <p:nvPr/>
        </p:nvSpPr>
        <p:spPr>
          <a:xfrm>
            <a:off x="5370989" y="4138302"/>
            <a:ext cx="2169636" cy="821690"/>
          </a:xfrm>
          <a:prstGeom prst="roundRect">
            <a:avLst>
              <a:gd name="adj" fmla="val 8887"/>
            </a:avLst>
          </a:prstGeom>
          <a:solidFill>
            <a:srgbClr val="FFFDF8"/>
          </a:solidFill>
          <a:ln w="6350">
            <a:solidFill>
              <a:srgbClr val="E3DACB"/>
            </a:solidFill>
            <a:prstDash val="solid"/>
          </a:ln>
        </p:spPr>
      </p:sp>
      <p:sp>
        <p:nvSpPr>
          <p:cNvPr id="14" name="Text 11"/>
          <p:cNvSpPr/>
          <p:nvPr/>
        </p:nvSpPr>
        <p:spPr>
          <a:xfrm>
            <a:off x="5512594" y="4241800"/>
            <a:ext cx="194301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0.11</a:t>
            </a:r>
            <a:endParaRPr lang="en-US" sz="2800" dirty="0"/>
          </a:p>
        </p:txBody>
      </p:sp>
      <p:sp>
        <p:nvSpPr>
          <p:cNvPr id="15" name="Text 12"/>
          <p:cNvSpPr/>
          <p:nvPr/>
        </p:nvSpPr>
        <p:spPr>
          <a:xfrm>
            <a:off x="5512594" y="4658358"/>
            <a:ext cx="194301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PACF lag 3, then about 0</a:t>
            </a:r>
            <a:endParaRPr lang="en-US" sz="1200" dirty="0"/>
          </a:p>
        </p:txBody>
      </p:sp>
      <p:sp>
        <p:nvSpPr>
          <p:cNvPr id="16" name="Shape 13"/>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17" name="Text 14"/>
          <p:cNvSpPr/>
          <p:nvPr/>
        </p:nvSpPr>
        <p:spPr>
          <a:xfrm>
            <a:off x="7904480" y="1757685"/>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AR(3)</a:t>
            </a:r>
            <a:endParaRPr lang="en-US" sz="2800" dirty="0"/>
          </a:p>
        </p:txBody>
      </p:sp>
      <p:sp>
        <p:nvSpPr>
          <p:cNvPr id="18" name="Text 15"/>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manual ARIMA(3,0,0) = M2, written down before auto_arima ran</a:t>
            </a:r>
            <a:endParaRPr lang="en-US" sz="1200" dirty="0"/>
          </a:p>
        </p:txBody>
      </p:sp>
      <p:sp>
        <p:nvSpPr>
          <p:cNvPr id="19" name="Shape 16"/>
          <p:cNvSpPr/>
          <p:nvPr/>
        </p:nvSpPr>
        <p:spPr>
          <a:xfrm>
            <a:off x="7750175" y="2794633"/>
            <a:ext cx="3625850" cy="1045210"/>
          </a:xfrm>
          <a:prstGeom prst="roundRect">
            <a:avLst>
              <a:gd name="adj" fmla="val 6987"/>
            </a:avLst>
          </a:prstGeom>
          <a:solidFill>
            <a:srgbClr val="FFFDF8"/>
          </a:solidFill>
          <a:ln w="6350">
            <a:solidFill>
              <a:srgbClr val="E3DACB"/>
            </a:solidFill>
            <a:prstDash val="solid"/>
          </a:ln>
        </p:spPr>
      </p:sp>
      <p:sp>
        <p:nvSpPr>
          <p:cNvPr id="20" name="Text 17"/>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(3,0,3)</a:t>
            </a:r>
            <a:endParaRPr lang="en-US" sz="2800" dirty="0"/>
          </a:p>
        </p:txBody>
      </p:sp>
      <p:sp>
        <p:nvSpPr>
          <p:cNvPr id="21" name="Text 18"/>
          <p:cNvSpPr/>
          <p:nvPr/>
        </p:nvSpPr>
        <p:spPr>
          <a:xfrm>
            <a:off x="7904480" y="3327400"/>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auto_arima = M3: AIC −31, but BIC only −9, with 3 more parameters</a:t>
            </a:r>
            <a:endParaRPr lang="en-US" sz="1200" dirty="0"/>
          </a:p>
        </p:txBody>
      </p:sp>
      <p:sp>
        <p:nvSpPr>
          <p:cNvPr id="22" name="Shape 19"/>
          <p:cNvSpPr/>
          <p:nvPr/>
        </p:nvSpPr>
        <p:spPr>
          <a:xfrm>
            <a:off x="7747000" y="3944627"/>
            <a:ext cx="3632200" cy="951230"/>
          </a:xfrm>
          <a:prstGeom prst="roundRect">
            <a:avLst>
              <a:gd name="adj" fmla="val 8011"/>
            </a:avLst>
          </a:prstGeom>
          <a:solidFill>
            <a:srgbClr val="14263A"/>
          </a:solidFill>
          <a:ln/>
        </p:spPr>
      </p:sp>
      <p:sp>
        <p:nvSpPr>
          <p:cNvPr id="23" name="Text 20"/>
          <p:cNvSpPr/>
          <p:nvPr/>
        </p:nvSpPr>
        <p:spPr>
          <a:xfrm>
            <a:off x="7899400" y="4071627"/>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4" name="Text 21"/>
          <p:cNvSpPr/>
          <p:nvPr/>
        </p:nvSpPr>
        <p:spPr>
          <a:xfrm>
            <a:off x="7899400" y="4323085"/>
            <a:ext cx="342722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extra MA terms add little. Both models go forward; validation decides.</a:t>
            </a:r>
            <a:endParaRPr lang="en-US" sz="1300" dirty="0"/>
          </a:p>
        </p:txBody>
      </p:sp>
      <p:sp>
        <p:nvSpPr>
          <p:cNvPr id="25" name="Text 2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6" name="Text 23"/>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17 / 31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5 · FIT FOUR MODELS · RESIDUAL CHECKS</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No memory left, but spring has heavy tails</a:t>
            </a:r>
            <a:endParaRPr lang="en-US" sz="3200" dirty="0"/>
          </a:p>
        </p:txBody>
      </p:sp>
      <p:sp>
        <p:nvSpPr>
          <p:cNvPr id="4" name="Shape 2"/>
          <p:cNvSpPr/>
          <p:nvPr/>
        </p:nvSpPr>
        <p:spPr>
          <a:xfrm>
            <a:off x="815975" y="1641475"/>
            <a:ext cx="5708650" cy="3569970"/>
          </a:xfrm>
          <a:prstGeom prst="roundRect">
            <a:avLst>
              <a:gd name="adj" fmla="val 2046"/>
            </a:avLst>
          </a:prstGeom>
          <a:solidFill>
            <a:srgbClr val="FFFDF8"/>
          </a:solidFill>
          <a:ln w="6350">
            <a:solidFill>
              <a:srgbClr val="E3DACB"/>
            </a:solidFill>
            <a:prstDash val="solid"/>
          </a:ln>
        </p:spPr>
      </p:sp>
      <p:sp>
        <p:nvSpPr>
          <p:cNvPr id="5" name="Text 3"/>
          <p:cNvSpPr/>
          <p:nvPr/>
        </p:nvSpPr>
        <p:spPr>
          <a:xfrm>
            <a:off x="970280" y="1770385"/>
            <a:ext cx="55620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18</a:t>
            </a:r>
            <a:r>
              <a:rPr lang="en-US" sz="1200" dirty="0">
                <a:solidFill>
                  <a:srgbClr val="5E6672"/>
                </a:solidFill>
                <a:latin typeface="IBM Plex Sans" pitchFamily="34" charset="0"/>
                <a:ea typeface="IBM Plex Sans" pitchFamily="34" charset="-122"/>
                <a:cs typeface="IBM Plex Sans" pitchFamily="34" charset="-120"/>
              </a:rPr>
              <a:t> · Residual diagnostics of M2: residuals, histogram, Q-Q, correlogram</a:t>
            </a:r>
            <a:endParaRPr lang="en-US" sz="1200" dirty="0"/>
          </a:p>
        </p:txBody>
      </p:sp>
      <p:pic>
        <p:nvPicPr>
          <p:cNvPr id="6" name="Image 0" descr="M2 residual diagnostics: residuals around zero, a narrow tall histogram, a Q-Q plot bending at both ends, a flat correlogram">    </p:cNvPr>
          <p:cNvPicPr>
            <a:picLocks noChangeAspect="1"/>
          </p:cNvPicPr>
          <p:nvPr/>
        </p:nvPicPr>
        <p:blipFill>
          <a:blip r:embed="rId1"/>
          <a:srcRect l="0" r="0" t="-48" b="-48"/>
          <a:stretch/>
        </p:blipFill>
        <p:spPr>
          <a:xfrm>
            <a:off x="970280" y="2059942"/>
            <a:ext cx="5410200" cy="3022600"/>
          </a:xfrm>
          <a:prstGeom prst="rect">
            <a:avLst/>
          </a:prstGeom>
        </p:spPr>
      </p:pic>
      <p:sp>
        <p:nvSpPr>
          <p:cNvPr id="7" name="Shape 4"/>
          <p:cNvSpPr/>
          <p:nvPr/>
        </p:nvSpPr>
        <p:spPr>
          <a:xfrm>
            <a:off x="6734175" y="1641475"/>
            <a:ext cx="2266950"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6875780" y="1744985"/>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p = 0.26</a:t>
            </a:r>
            <a:endParaRPr lang="en-US" sz="2800" dirty="0"/>
          </a:p>
        </p:txBody>
      </p:sp>
      <p:sp>
        <p:nvSpPr>
          <p:cNvPr id="9" name="Text 6"/>
          <p:cNvSpPr/>
          <p:nvPr/>
        </p:nvSpPr>
        <p:spPr>
          <a:xfrm>
            <a:off x="6875780" y="2161542"/>
            <a:ext cx="204325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Ljung-Box lag 7, M2: passes</a:t>
            </a:r>
            <a:endParaRPr lang="en-US" sz="1200" dirty="0"/>
          </a:p>
        </p:txBody>
      </p:sp>
      <p:sp>
        <p:nvSpPr>
          <p:cNvPr id="10" name="Shape 7"/>
          <p:cNvSpPr/>
          <p:nvPr/>
        </p:nvSpPr>
        <p:spPr>
          <a:xfrm>
            <a:off x="9109075" y="1641475"/>
            <a:ext cx="2266950"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9250680" y="1744985"/>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−1,300</a:t>
            </a:r>
            <a:endParaRPr lang="en-US" sz="2800" dirty="0"/>
          </a:p>
        </p:txBody>
      </p:sp>
      <p:sp>
        <p:nvSpPr>
          <p:cNvPr id="12" name="Text 9"/>
          <p:cNvSpPr/>
          <p:nvPr/>
        </p:nvSpPr>
        <p:spPr>
          <a:xfrm>
            <a:off x="9250680" y="2161542"/>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AIC when the season is added</a:t>
            </a:r>
            <a:endParaRPr lang="en-US" sz="1200" dirty="0"/>
          </a:p>
        </p:txBody>
      </p:sp>
      <p:sp>
        <p:nvSpPr>
          <p:cNvPr id="13" name="Shape 10"/>
          <p:cNvSpPr/>
          <p:nvPr/>
        </p:nvSpPr>
        <p:spPr>
          <a:xfrm>
            <a:off x="6734175" y="2769233"/>
            <a:ext cx="2266950" cy="1019810"/>
          </a:xfrm>
          <a:prstGeom prst="roundRect">
            <a:avLst>
              <a:gd name="adj" fmla="val 7161"/>
            </a:avLst>
          </a:prstGeom>
          <a:solidFill>
            <a:srgbClr val="FFFDF8"/>
          </a:solidFill>
          <a:ln w="6350">
            <a:solidFill>
              <a:srgbClr val="E3DACB"/>
            </a:solidFill>
            <a:prstDash val="solid"/>
          </a:ln>
        </p:spPr>
      </p:sp>
      <p:sp>
        <p:nvSpPr>
          <p:cNvPr id="14" name="Text 11"/>
          <p:cNvSpPr/>
          <p:nvPr/>
        </p:nvSpPr>
        <p:spPr>
          <a:xfrm>
            <a:off x="6875780" y="2872742"/>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5.6</a:t>
            </a:r>
            <a:endParaRPr lang="en-US" sz="2800" dirty="0"/>
          </a:p>
        </p:txBody>
      </p:sp>
      <p:sp>
        <p:nvSpPr>
          <p:cNvPr id="15" name="Text 12"/>
          <p:cNvSpPr/>
          <p:nvPr/>
        </p:nvSpPr>
        <p:spPr>
          <a:xfrm>
            <a:off x="6875780" y="3289300"/>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kurtosis: big misses are common</a:t>
            </a:r>
            <a:endParaRPr lang="en-US" sz="1200" dirty="0"/>
          </a:p>
        </p:txBody>
      </p:sp>
      <p:sp>
        <p:nvSpPr>
          <p:cNvPr id="16" name="Shape 13"/>
          <p:cNvSpPr/>
          <p:nvPr/>
        </p:nvSpPr>
        <p:spPr>
          <a:xfrm>
            <a:off x="9109075" y="2769233"/>
            <a:ext cx="2266950" cy="1019810"/>
          </a:xfrm>
          <a:prstGeom prst="roundRect">
            <a:avLst>
              <a:gd name="adj" fmla="val 7161"/>
            </a:avLst>
          </a:prstGeom>
          <a:solidFill>
            <a:srgbClr val="FFFDF8"/>
          </a:solidFill>
          <a:ln w="6350">
            <a:solidFill>
              <a:srgbClr val="E3DACB"/>
            </a:solidFill>
            <a:prstDash val="solid"/>
          </a:ln>
        </p:spPr>
      </p:sp>
      <p:sp>
        <p:nvSpPr>
          <p:cNvPr id="17" name="Text 14"/>
          <p:cNvSpPr/>
          <p:nvPr/>
        </p:nvSpPr>
        <p:spPr>
          <a:xfrm>
            <a:off x="9250680" y="2872742"/>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3×</a:t>
            </a:r>
            <a:endParaRPr lang="en-US" sz="2800" dirty="0"/>
          </a:p>
        </p:txBody>
      </p:sp>
      <p:sp>
        <p:nvSpPr>
          <p:cNvPr id="18" name="Text 15"/>
          <p:cNvSpPr/>
          <p:nvPr/>
        </p:nvSpPr>
        <p:spPr>
          <a:xfrm>
            <a:off x="9250680" y="3289300"/>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spread in April (2.3 °C) vs August</a:t>
            </a:r>
            <a:endParaRPr lang="en-US" sz="1200" dirty="0"/>
          </a:p>
        </p:txBody>
      </p:sp>
      <p:sp>
        <p:nvSpPr>
          <p:cNvPr id="19" name="Shape 16"/>
          <p:cNvSpPr/>
          <p:nvPr/>
        </p:nvSpPr>
        <p:spPr>
          <a:xfrm>
            <a:off x="6731000" y="3893827"/>
            <a:ext cx="4648200" cy="951230"/>
          </a:xfrm>
          <a:prstGeom prst="roundRect">
            <a:avLst>
              <a:gd name="adj" fmla="val 8011"/>
            </a:avLst>
          </a:prstGeom>
          <a:solidFill>
            <a:srgbClr val="14263A"/>
          </a:solidFill>
          <a:ln/>
        </p:spPr>
      </p:sp>
      <p:sp>
        <p:nvSpPr>
          <p:cNvPr id="20" name="Text 17"/>
          <p:cNvSpPr/>
          <p:nvPr/>
        </p:nvSpPr>
        <p:spPr>
          <a:xfrm>
            <a:off x="6883400" y="4020827"/>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1" name="Text 18"/>
          <p:cNvSpPr/>
          <p:nvPr/>
        </p:nvSpPr>
        <p:spPr>
          <a:xfrm>
            <a:off x="6883400" y="4272285"/>
            <a:ext cx="447370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5 biggest misses are all March–April: Task 4’s storms and desert-wind days. Step 9 tests them directly.</a:t>
            </a:r>
            <a:endParaRPr lang="en-US" sz="1300" dirty="0"/>
          </a:p>
        </p:txBody>
      </p:sp>
      <p:sp>
        <p:nvSpPr>
          <p:cNvPr id="22" name="Text 1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3" name="Text 20"/>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18 / 31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6A · FORECASTING TOMORROW ON VALIDATION</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Every seasonal model beats every baseline</a:t>
            </a:r>
            <a:endParaRPr lang="en-US" sz="3200" dirty="0"/>
          </a:p>
        </p:txBody>
      </p:sp>
      <p:sp>
        <p:nvSpPr>
          <p:cNvPr id="4" name="Shape 2"/>
          <p:cNvSpPr/>
          <p:nvPr/>
        </p:nvSpPr>
        <p:spPr>
          <a:xfrm>
            <a:off x="815975" y="1641475"/>
            <a:ext cx="6724650" cy="3722370"/>
          </a:xfrm>
          <a:prstGeom prst="roundRect">
            <a:avLst>
              <a:gd name="adj" fmla="val 1962"/>
            </a:avLst>
          </a:prstGeom>
          <a:solidFill>
            <a:srgbClr val="FFFDF8"/>
          </a:solidFill>
          <a:ln w="6350">
            <a:solidFill>
              <a:srgbClr val="E3DACB"/>
            </a:solidFill>
            <a:prstDash val="solid"/>
          </a:ln>
        </p:spPr>
      </p:sp>
      <p:sp>
        <p:nvSpPr>
          <p:cNvPr id="5" name="Text 3"/>
          <p:cNvSpPr/>
          <p:nvPr/>
        </p:nvSpPr>
        <p:spPr>
          <a:xfrm>
            <a:off x="970280" y="1770385"/>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19</a:t>
            </a:r>
            <a:r>
              <a:rPr lang="en-US" sz="1200" dirty="0">
                <a:solidFill>
                  <a:srgbClr val="5E6672"/>
                </a:solidFill>
                <a:latin typeface="IBM Plex Sans" pitchFamily="34" charset="0"/>
                <a:ea typeface="IBM Plex Sans" pitchFamily="34" charset="-122"/>
                <a:cs typeface="IBM Plex Sans" pitchFamily="34" charset="-120"/>
              </a:rPr>
              <a:t> · M2 one-day-ahead forecast with 95 % interval: A 2021, B March–April zoom</a:t>
            </a:r>
            <a:endParaRPr lang="en-US" sz="1200" dirty="0"/>
          </a:p>
        </p:txBody>
      </p:sp>
      <p:pic>
        <p:nvPicPr>
          <p:cNvPr id="6" name="Image 0" descr="M2 forecast vs real temperature in 2021 with the 95 % interval, and a zoom showing the forecast reacting one day late to jumps">    </p:cNvPr>
          <p:cNvPicPr>
            <a:picLocks noChangeAspect="1"/>
          </p:cNvPicPr>
          <p:nvPr/>
        </p:nvPicPr>
        <p:blipFill>
          <a:blip r:embed="rId1"/>
          <a:srcRect l="-89" r="-89" t="0" b="0"/>
          <a:stretch/>
        </p:blipFill>
        <p:spPr>
          <a:xfrm>
            <a:off x="970280" y="2059942"/>
            <a:ext cx="6426200" cy="3175000"/>
          </a:xfrm>
          <a:prstGeom prst="rect">
            <a:avLst/>
          </a:prstGeom>
        </p:spPr>
      </p:pic>
      <p:sp>
        <p:nvSpPr>
          <p:cNvPr id="7" name="Shape 4"/>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8" name="Text 5"/>
          <p:cNvSpPr/>
          <p:nvPr/>
        </p:nvSpPr>
        <p:spPr>
          <a:xfrm>
            <a:off x="7904480" y="1757685"/>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0.992 °C</a:t>
            </a:r>
            <a:endParaRPr lang="en-US" sz="2800" dirty="0"/>
          </a:p>
        </p:txBody>
      </p:sp>
      <p:sp>
        <p:nvSpPr>
          <p:cNvPr id="9" name="Text 6"/>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M2 MAE on 2020–2022 vs 1.072 for “tomorrow = today”</a:t>
            </a:r>
            <a:endParaRPr lang="en-US" sz="1200" dirty="0"/>
          </a:p>
        </p:txBody>
      </p:sp>
      <p:sp>
        <p:nvSpPr>
          <p:cNvPr id="10" name="Shape 7"/>
          <p:cNvSpPr/>
          <p:nvPr/>
        </p:nvSpPr>
        <p:spPr>
          <a:xfrm>
            <a:off x="7750175" y="2794633"/>
            <a:ext cx="3625850" cy="1045210"/>
          </a:xfrm>
          <a:prstGeom prst="roundRect">
            <a:avLst>
              <a:gd name="adj" fmla="val 6987"/>
            </a:avLst>
          </a:prstGeom>
          <a:solidFill>
            <a:srgbClr val="FFFDF8"/>
          </a:solidFill>
          <a:ln w="6350">
            <a:solidFill>
              <a:srgbClr val="E3DACB"/>
            </a:solidFill>
            <a:prstDash val="solid"/>
          </a:ln>
        </p:spPr>
      </p:sp>
      <p:sp>
        <p:nvSpPr>
          <p:cNvPr id="11" name="Text 8"/>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−7.5 %</a:t>
            </a:r>
            <a:endParaRPr lang="en-US" sz="2800" dirty="0"/>
          </a:p>
        </p:txBody>
      </p:sp>
      <p:sp>
        <p:nvSpPr>
          <p:cNvPr id="12" name="Text 9"/>
          <p:cNvSpPr/>
          <p:nvPr/>
        </p:nvSpPr>
        <p:spPr>
          <a:xfrm>
            <a:off x="7904480" y="3327400"/>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error vs persistence; M3 0.990, M4 0.994, no-season M1 1.032</a:t>
            </a:r>
            <a:endParaRPr lang="en-US" sz="1200" dirty="0"/>
          </a:p>
        </p:txBody>
      </p:sp>
      <p:sp>
        <p:nvSpPr>
          <p:cNvPr id="13" name="Shape 10"/>
          <p:cNvSpPr/>
          <p:nvPr/>
        </p:nvSpPr>
        <p:spPr>
          <a:xfrm>
            <a:off x="7747000" y="3944627"/>
            <a:ext cx="3632200" cy="1174115"/>
          </a:xfrm>
          <a:prstGeom prst="roundRect">
            <a:avLst>
              <a:gd name="adj" fmla="val 6490"/>
            </a:avLst>
          </a:prstGeom>
          <a:solidFill>
            <a:srgbClr val="14263A"/>
          </a:solidFill>
          <a:ln/>
        </p:spPr>
      </p:sp>
      <p:sp>
        <p:nvSpPr>
          <p:cNvPr id="14" name="Text 11"/>
          <p:cNvSpPr/>
          <p:nvPr/>
        </p:nvSpPr>
        <p:spPr>
          <a:xfrm>
            <a:off x="7899400" y="4071627"/>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2"/>
          <p:cNvSpPr/>
          <p:nvPr/>
        </p:nvSpPr>
        <p:spPr>
          <a:xfrm>
            <a:off x="7899400" y="4323085"/>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Rule set before the scores: simplest wins unless 0.01 °C better → M2. Its weakness: one day late on jumps.</a:t>
            </a:r>
            <a:endParaRPr lang="en-US" sz="1300" dirty="0"/>
          </a:p>
        </p:txBody>
      </p:sp>
      <p:sp>
        <p:nvSpPr>
          <p:cNvPr id="16"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19 / 31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6B · ERROR AND INTERVAL BY MONTH</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Spring is still the hardest season</a:t>
            </a:r>
            <a:endParaRPr lang="en-US" sz="3200" dirty="0"/>
          </a:p>
        </p:txBody>
      </p:sp>
      <p:sp>
        <p:nvSpPr>
          <p:cNvPr id="4" name="Shape 2"/>
          <p:cNvSpPr/>
          <p:nvPr/>
        </p:nvSpPr>
        <p:spPr>
          <a:xfrm>
            <a:off x="815975" y="1616075"/>
            <a:ext cx="10560050" cy="2865120"/>
          </a:xfrm>
          <a:prstGeom prst="roundRect">
            <a:avLst>
              <a:gd name="adj" fmla="val 2549"/>
            </a:avLst>
          </a:prstGeom>
          <a:solidFill>
            <a:srgbClr val="FFFDF8"/>
          </a:solidFill>
          <a:ln w="6350">
            <a:solidFill>
              <a:srgbClr val="E3DACB"/>
            </a:solidFill>
            <a:prstDash val="solid"/>
          </a:ln>
        </p:spPr>
      </p:sp>
      <p:sp>
        <p:nvSpPr>
          <p:cNvPr id="5" name="Text 3"/>
          <p:cNvSpPr/>
          <p:nvPr/>
        </p:nvSpPr>
        <p:spPr>
          <a:xfrm>
            <a:off x="970280" y="1744985"/>
            <a:ext cx="105589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20</a:t>
            </a:r>
            <a:r>
              <a:rPr lang="en-US" sz="1200" dirty="0">
                <a:solidFill>
                  <a:srgbClr val="5E6672"/>
                </a:solidFill>
                <a:latin typeface="IBM Plex Sans" pitchFamily="34" charset="0"/>
                <a:ea typeface="IBM Plex Sans" pitchFamily="34" charset="-122"/>
                <a:cs typeface="IBM Plex Sans" pitchFamily="34" charset="-120"/>
              </a:rPr>
              <a:t> · A error by month, model vs persistence · B real value inside the 95 % interval</a:t>
            </a:r>
            <a:endParaRPr lang="en-US" sz="1200" dirty="0"/>
          </a:p>
        </p:txBody>
      </p:sp>
      <p:pic>
        <p:nvPicPr>
          <p:cNvPr id="6" name="Image 0" descr="Monthly MAE of model vs persistence and monthly coverage of the 95 % interval on 2020–2022">    </p:cNvPr>
          <p:cNvPicPr>
            <a:picLocks noChangeAspect="1"/>
          </p:cNvPicPr>
          <p:nvPr/>
        </p:nvPicPr>
        <p:blipFill>
          <a:blip r:embed="rId1"/>
          <a:srcRect l="-9877" r="-9877" t="0" b="0"/>
          <a:stretch/>
        </p:blipFill>
        <p:spPr>
          <a:xfrm>
            <a:off x="970280" y="2034542"/>
            <a:ext cx="10261600" cy="2317750"/>
          </a:xfrm>
          <a:prstGeom prst="rect">
            <a:avLst/>
          </a:prstGeom>
        </p:spPr>
      </p:pic>
      <p:sp>
        <p:nvSpPr>
          <p:cNvPr id="7" name="Shape 4"/>
          <p:cNvSpPr/>
          <p:nvPr/>
        </p:nvSpPr>
        <p:spPr>
          <a:xfrm>
            <a:off x="815975" y="4665352"/>
            <a:ext cx="3431064"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957580" y="4768850"/>
            <a:ext cx="32422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94.3 %</a:t>
            </a:r>
            <a:endParaRPr lang="en-US" sz="2800" dirty="0"/>
          </a:p>
        </p:txBody>
      </p:sp>
      <p:sp>
        <p:nvSpPr>
          <p:cNvPr id="9" name="Text 6"/>
          <p:cNvSpPr/>
          <p:nvPr/>
        </p:nvSpPr>
        <p:spPr>
          <a:xfrm>
            <a:off x="957580" y="5185408"/>
            <a:ext cx="328628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inside the 95 % interval overall; bias −0.06 °C</a:t>
            </a:r>
            <a:endParaRPr lang="en-US" sz="1200" dirty="0"/>
          </a:p>
        </p:txBody>
      </p:sp>
      <p:sp>
        <p:nvSpPr>
          <p:cNvPr id="10" name="Shape 7"/>
          <p:cNvSpPr/>
          <p:nvPr/>
        </p:nvSpPr>
        <p:spPr>
          <a:xfrm>
            <a:off x="4380389" y="4665352"/>
            <a:ext cx="3431143"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4521994" y="4768850"/>
            <a:ext cx="3242371"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10 of 12</a:t>
            </a:r>
            <a:endParaRPr lang="en-US" sz="2800" dirty="0"/>
          </a:p>
        </p:txBody>
      </p:sp>
      <p:sp>
        <p:nvSpPr>
          <p:cNvPr id="12" name="Text 9"/>
          <p:cNvSpPr/>
          <p:nvPr/>
        </p:nvSpPr>
        <p:spPr>
          <a:xfrm>
            <a:off x="4521994" y="5185408"/>
            <a:ext cx="3242371"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months beat persistence; Mar–Jun errors 1.25–1.74 °C</a:t>
            </a:r>
            <a:endParaRPr lang="en-US" sz="1200" dirty="0"/>
          </a:p>
        </p:txBody>
      </p:sp>
      <p:sp>
        <p:nvSpPr>
          <p:cNvPr id="13" name="Shape 10"/>
          <p:cNvSpPr/>
          <p:nvPr/>
        </p:nvSpPr>
        <p:spPr>
          <a:xfrm>
            <a:off x="7941707" y="4662177"/>
            <a:ext cx="3437493" cy="1026160"/>
          </a:xfrm>
          <a:prstGeom prst="roundRect">
            <a:avLst>
              <a:gd name="adj" fmla="val 7426"/>
            </a:avLst>
          </a:prstGeom>
          <a:solidFill>
            <a:srgbClr val="14263A"/>
          </a:solidFill>
          <a:ln/>
        </p:spPr>
      </p:sp>
      <p:sp>
        <p:nvSpPr>
          <p:cNvPr id="14" name="Text 11"/>
          <p:cNvSpPr/>
          <p:nvPr/>
        </p:nvSpPr>
        <p:spPr>
          <a:xfrm>
            <a:off x="8081407" y="4763777"/>
            <a:ext cx="325283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2"/>
          <p:cNvSpPr/>
          <p:nvPr/>
        </p:nvSpPr>
        <p:spPr>
          <a:xfrm>
            <a:off x="8081407" y="5015235"/>
            <a:ext cx="3252836"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Right on average, wrong by season: 82–87 % in spring, 100 % in summer.</a:t>
            </a:r>
            <a:endParaRPr lang="en-US" sz="1300" dirty="0"/>
          </a:p>
        </p:txBody>
      </p:sp>
      <p:sp>
        <p:nvSpPr>
          <p:cNvPr id="16"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20 / 31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6C · ERROR BY FORECAST HORIZON</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Useful for about a week, then it’s the calendar</a:t>
            </a:r>
            <a:endParaRPr lang="en-US" sz="3200" dirty="0"/>
          </a:p>
        </p:txBody>
      </p:sp>
      <p:sp>
        <p:nvSpPr>
          <p:cNvPr id="4" name="Shape 2"/>
          <p:cNvSpPr/>
          <p:nvPr/>
        </p:nvSpPr>
        <p:spPr>
          <a:xfrm>
            <a:off x="815975" y="1641475"/>
            <a:ext cx="6724650" cy="3169920"/>
          </a:xfrm>
          <a:prstGeom prst="roundRect">
            <a:avLst>
              <a:gd name="adj" fmla="val 2304"/>
            </a:avLst>
          </a:prstGeom>
          <a:solidFill>
            <a:srgbClr val="FFFDF8"/>
          </a:solidFill>
          <a:ln w="6350">
            <a:solidFill>
              <a:srgbClr val="E3DACB"/>
            </a:solidFill>
            <a:prstDash val="solid"/>
          </a:ln>
        </p:spPr>
      </p:sp>
      <p:sp>
        <p:nvSpPr>
          <p:cNvPr id="5" name="Text 3"/>
          <p:cNvSpPr/>
          <p:nvPr/>
        </p:nvSpPr>
        <p:spPr>
          <a:xfrm>
            <a:off x="970280" y="1770385"/>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21</a:t>
            </a:r>
            <a:r>
              <a:rPr lang="en-US" sz="1200" dirty="0">
                <a:solidFill>
                  <a:srgbClr val="5E6672"/>
                </a:solidFill>
                <a:latin typeface="IBM Plex Sans" pitchFamily="34" charset="0"/>
                <a:ea typeface="IBM Plex Sans" pitchFamily="34" charset="-122"/>
                <a:cs typeface="IBM Plex Sans" pitchFamily="34" charset="-120"/>
              </a:rPr>
              <a:t> · MAE 1 to 14 days ahead: model vs persistence vs climatology</a:t>
            </a:r>
            <a:endParaRPr lang="en-US" sz="1200" dirty="0"/>
          </a:p>
        </p:txBody>
      </p:sp>
      <p:pic>
        <p:nvPicPr>
          <p:cNvPr id="6" name="Image 0" descr="Model error rises then flattens near climatology after about a week, while persistence keeps getting worse">    </p:cNvPr>
          <p:cNvPicPr>
            <a:picLocks noChangeAspect="1"/>
          </p:cNvPicPr>
          <p:nvPr/>
        </p:nvPicPr>
        <p:blipFill>
          <a:blip r:embed="rId1"/>
          <a:srcRect l="0" r="0" t="-39" b="-39"/>
          <a:stretch/>
        </p:blipFill>
        <p:spPr>
          <a:xfrm>
            <a:off x="970280" y="2059942"/>
            <a:ext cx="6426200" cy="2622550"/>
          </a:xfrm>
          <a:prstGeom prst="rect">
            <a:avLst/>
          </a:prstGeom>
        </p:spPr>
      </p:pic>
      <p:sp>
        <p:nvSpPr>
          <p:cNvPr id="7" name="Shape 4"/>
          <p:cNvSpPr/>
          <p:nvPr/>
        </p:nvSpPr>
        <p:spPr>
          <a:xfrm>
            <a:off x="7750175" y="1641475"/>
            <a:ext cx="3625850" cy="1045210"/>
          </a:xfrm>
          <a:prstGeom prst="roundRect">
            <a:avLst>
              <a:gd name="adj" fmla="val 6987"/>
            </a:avLst>
          </a:prstGeom>
          <a:solidFill>
            <a:srgbClr val="FFFDF8"/>
          </a:solidFill>
          <a:ln w="6350">
            <a:solidFill>
              <a:srgbClr val="E3DACB"/>
            </a:solidFill>
            <a:prstDash val="solid"/>
          </a:ln>
        </p:spPr>
      </p:sp>
      <p:sp>
        <p:nvSpPr>
          <p:cNvPr id="8" name="Text 5"/>
          <p:cNvSpPr/>
          <p:nvPr/>
        </p:nvSpPr>
        <p:spPr>
          <a:xfrm>
            <a:off x="7904480" y="1757685"/>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 6 days</a:t>
            </a:r>
            <a:endParaRPr lang="en-US" sz="2800" dirty="0"/>
          </a:p>
        </p:txBody>
      </p:sp>
      <p:sp>
        <p:nvSpPr>
          <p:cNvPr id="9" name="Text 6"/>
          <p:cNvSpPr/>
          <p:nvPr/>
        </p:nvSpPr>
        <p:spPr>
          <a:xfrm>
            <a:off x="7904480" y="2174242"/>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beats climatology (day 4: 1.76 vs 1.93 °C); equal from day 7</a:t>
            </a:r>
            <a:endParaRPr lang="en-US" sz="1200" dirty="0"/>
          </a:p>
        </p:txBody>
      </p:sp>
      <p:sp>
        <p:nvSpPr>
          <p:cNvPr id="10" name="Shape 7"/>
          <p:cNvSpPr/>
          <p:nvPr/>
        </p:nvSpPr>
        <p:spPr>
          <a:xfrm>
            <a:off x="7750175" y="2794633"/>
            <a:ext cx="3625850" cy="847090"/>
          </a:xfrm>
          <a:prstGeom prst="roundRect">
            <a:avLst>
              <a:gd name="adj" fmla="val 8621"/>
            </a:avLst>
          </a:prstGeom>
          <a:solidFill>
            <a:srgbClr val="FFFDF8"/>
          </a:solidFill>
          <a:ln w="6350">
            <a:solidFill>
              <a:srgbClr val="E3DACB"/>
            </a:solidFill>
            <a:prstDash val="solid"/>
          </a:ln>
        </p:spPr>
      </p:sp>
      <p:sp>
        <p:nvSpPr>
          <p:cNvPr id="11" name="Text 8"/>
          <p:cNvSpPr/>
          <p:nvPr/>
        </p:nvSpPr>
        <p:spPr>
          <a:xfrm>
            <a:off x="7904480" y="2910842"/>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5.6 → 8.9 °C</a:t>
            </a:r>
            <a:endParaRPr lang="en-US" sz="2800" dirty="0"/>
          </a:p>
        </p:txBody>
      </p:sp>
      <p:sp>
        <p:nvSpPr>
          <p:cNvPr id="12" name="Text 9"/>
          <p:cNvSpPr/>
          <p:nvPr/>
        </p:nvSpPr>
        <p:spPr>
          <a:xfrm>
            <a:off x="7904480" y="3327400"/>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95 % interval width, day 1 → day 7, then flat</a:t>
            </a:r>
            <a:endParaRPr lang="en-US" sz="1200" dirty="0"/>
          </a:p>
        </p:txBody>
      </p:sp>
      <p:sp>
        <p:nvSpPr>
          <p:cNvPr id="13" name="Shape 10"/>
          <p:cNvSpPr/>
          <p:nvPr/>
        </p:nvSpPr>
        <p:spPr>
          <a:xfrm>
            <a:off x="7747000" y="3746500"/>
            <a:ext cx="3632200" cy="1174115"/>
          </a:xfrm>
          <a:prstGeom prst="roundRect">
            <a:avLst>
              <a:gd name="adj" fmla="val 6490"/>
            </a:avLst>
          </a:prstGeom>
          <a:solidFill>
            <a:srgbClr val="14263A"/>
          </a:solidFill>
          <a:ln/>
        </p:spPr>
      </p:sp>
      <p:sp>
        <p:nvSpPr>
          <p:cNvPr id="14" name="Text 11"/>
          <p:cNvSpPr/>
          <p:nvPr/>
        </p:nvSpPr>
        <p:spPr>
          <a:xfrm>
            <a:off x="7899400" y="3873500"/>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2"/>
          <p:cNvSpPr/>
          <p:nvPr/>
        </p:nvSpPr>
        <p:spPr>
          <a:xfrm>
            <a:off x="7899400" y="4124958"/>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Memory lasts days, so a storm warning many days ahead from daily data is not realistic.</a:t>
            </a:r>
            <a:endParaRPr lang="en-US" sz="1300" dirty="0"/>
          </a:p>
        </p:txBody>
      </p:sp>
      <p:sp>
        <p:nvSpPr>
          <p:cNvPr id="16"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21 / 31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7 · WALK-FORWARD VALIDATION</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Better than persistence in every year</a:t>
            </a:r>
            <a:endParaRPr lang="en-US" sz="3200" dirty="0"/>
          </a:p>
        </p:txBody>
      </p:sp>
      <p:sp>
        <p:nvSpPr>
          <p:cNvPr id="4" name="Shape 2"/>
          <p:cNvSpPr/>
          <p:nvPr/>
        </p:nvSpPr>
        <p:spPr>
          <a:xfrm>
            <a:off x="815975" y="1641475"/>
            <a:ext cx="6724650" cy="2782570"/>
          </a:xfrm>
          <a:prstGeom prst="roundRect">
            <a:avLst>
              <a:gd name="adj" fmla="val 2624"/>
            </a:avLst>
          </a:prstGeom>
          <a:solidFill>
            <a:srgbClr val="FFFDF8"/>
          </a:solidFill>
          <a:ln w="6350">
            <a:solidFill>
              <a:srgbClr val="E3DACB"/>
            </a:solidFill>
            <a:prstDash val="solid"/>
          </a:ln>
        </p:spPr>
      </p:sp>
      <p:sp>
        <p:nvSpPr>
          <p:cNvPr id="5" name="Text 3"/>
          <p:cNvSpPr/>
          <p:nvPr/>
        </p:nvSpPr>
        <p:spPr>
          <a:xfrm>
            <a:off x="970280" y="1770385"/>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22</a:t>
            </a:r>
            <a:r>
              <a:rPr lang="en-US" sz="1200" dirty="0">
                <a:solidFill>
                  <a:srgbClr val="5E6672"/>
                </a:solidFill>
                <a:latin typeface="IBM Plex Sans" pitchFamily="34" charset="0"/>
                <a:ea typeface="IBM Plex Sans" pitchFamily="34" charset="-122"/>
                <a:cs typeface="IBM Plex Sans" pitchFamily="34" charset="-120"/>
              </a:rPr>
              <a:t> · M2 vs persistence, 13 test years, each refit on all earlier years</a:t>
            </a:r>
            <a:endParaRPr lang="en-US" sz="1200" dirty="0"/>
          </a:p>
        </p:txBody>
      </p:sp>
      <p:pic>
        <p:nvPicPr>
          <p:cNvPr id="6" name="Image 0" descr="Walk-forward MAE per test year 2010–2022: M2 below persistence every year">    </p:cNvPr>
          <p:cNvPicPr>
            <a:picLocks noChangeAspect="1"/>
          </p:cNvPicPr>
          <p:nvPr/>
        </p:nvPicPr>
        <p:blipFill>
          <a:blip r:embed="rId1"/>
          <a:srcRect l="-136" r="-136" t="0" b="0"/>
          <a:stretch/>
        </p:blipFill>
        <p:spPr>
          <a:xfrm>
            <a:off x="970280" y="2059942"/>
            <a:ext cx="6426200" cy="2235200"/>
          </a:xfrm>
          <a:prstGeom prst="rect">
            <a:avLst/>
          </a:prstGeom>
        </p:spPr>
      </p:pic>
      <p:sp>
        <p:nvSpPr>
          <p:cNvPr id="7" name="Shape 4"/>
          <p:cNvSpPr/>
          <p:nvPr/>
        </p:nvSpPr>
        <p:spPr>
          <a:xfrm>
            <a:off x="815975" y="4532002"/>
            <a:ext cx="2169557"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957580" y="46355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0.991 °C</a:t>
            </a:r>
            <a:endParaRPr lang="en-US" sz="2800" dirty="0"/>
          </a:p>
        </p:txBody>
      </p:sp>
      <p:sp>
        <p:nvSpPr>
          <p:cNvPr id="9" name="Text 6"/>
          <p:cNvSpPr/>
          <p:nvPr/>
        </p:nvSpPr>
        <p:spPr>
          <a:xfrm>
            <a:off x="957580" y="5052058"/>
            <a:ext cx="194293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M2 mean MAE, folds 2020–22</a:t>
            </a:r>
            <a:endParaRPr lang="en-US" sz="1200" dirty="0"/>
          </a:p>
        </p:txBody>
      </p:sp>
      <p:sp>
        <p:nvSpPr>
          <p:cNvPr id="10" name="Shape 7"/>
          <p:cNvSpPr/>
          <p:nvPr/>
        </p:nvSpPr>
        <p:spPr>
          <a:xfrm>
            <a:off x="3093482" y="4532002"/>
            <a:ext cx="2169557"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3235087" y="4635500"/>
            <a:ext cx="194293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5E6672"/>
                </a:solidFill>
                <a:latin typeface="Source Serif 4" pitchFamily="18" charset="0"/>
                <a:ea typeface="Source Serif 4" pitchFamily="18" charset="-122"/>
                <a:cs typeface="Source Serif 4" pitchFamily="18" charset="-120"/>
              </a:rPr>
              <a:t>1.072 °C</a:t>
            </a:r>
            <a:endParaRPr lang="en-US" sz="2800" dirty="0"/>
          </a:p>
        </p:txBody>
      </p:sp>
      <p:sp>
        <p:nvSpPr>
          <p:cNvPr id="12" name="Text 9"/>
          <p:cNvSpPr/>
          <p:nvPr/>
        </p:nvSpPr>
        <p:spPr>
          <a:xfrm>
            <a:off x="3235087" y="5052058"/>
            <a:ext cx="194293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persistence, same folds</a:t>
            </a:r>
            <a:endParaRPr lang="en-US" sz="1200" dirty="0"/>
          </a:p>
        </p:txBody>
      </p:sp>
      <p:sp>
        <p:nvSpPr>
          <p:cNvPr id="13" name="Shape 10"/>
          <p:cNvSpPr/>
          <p:nvPr/>
        </p:nvSpPr>
        <p:spPr>
          <a:xfrm>
            <a:off x="5370989" y="4532002"/>
            <a:ext cx="2169636" cy="1019810"/>
          </a:xfrm>
          <a:prstGeom prst="roundRect">
            <a:avLst>
              <a:gd name="adj" fmla="val 7161"/>
            </a:avLst>
          </a:prstGeom>
          <a:solidFill>
            <a:srgbClr val="FFFDF8"/>
          </a:solidFill>
          <a:ln w="6350">
            <a:solidFill>
              <a:srgbClr val="E3DACB"/>
            </a:solidFill>
            <a:prstDash val="solid"/>
          </a:ln>
        </p:spPr>
      </p:sp>
      <p:sp>
        <p:nvSpPr>
          <p:cNvPr id="14" name="Text 11"/>
          <p:cNvSpPr/>
          <p:nvPr/>
        </p:nvSpPr>
        <p:spPr>
          <a:xfrm>
            <a:off x="5512594" y="4635500"/>
            <a:ext cx="194301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0.07 °C</a:t>
            </a:r>
            <a:endParaRPr lang="en-US" sz="2800" dirty="0"/>
          </a:p>
        </p:txBody>
      </p:sp>
      <p:sp>
        <p:nvSpPr>
          <p:cNvPr id="15" name="Text 12"/>
          <p:cNvSpPr/>
          <p:nvPr/>
        </p:nvSpPr>
        <p:spPr>
          <a:xfrm>
            <a:off x="5512594" y="5052058"/>
            <a:ext cx="194301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M2 range across years (persistence 0.13)</a:t>
            </a:r>
            <a:endParaRPr lang="en-US" sz="1200" dirty="0"/>
          </a:p>
        </p:txBody>
      </p:sp>
      <p:sp>
        <p:nvSpPr>
          <p:cNvPr id="16" name="Shape 13"/>
          <p:cNvSpPr/>
          <p:nvPr/>
        </p:nvSpPr>
        <p:spPr>
          <a:xfrm>
            <a:off x="7750175" y="1641475"/>
            <a:ext cx="3625850" cy="847090"/>
          </a:xfrm>
          <a:prstGeom prst="roundRect">
            <a:avLst>
              <a:gd name="adj" fmla="val 8621"/>
            </a:avLst>
          </a:prstGeom>
          <a:solidFill>
            <a:srgbClr val="FFFDF8"/>
          </a:solidFill>
          <a:ln w="6350">
            <a:solidFill>
              <a:srgbClr val="E3DACB"/>
            </a:solidFill>
            <a:prstDash val="solid"/>
          </a:ln>
        </p:spPr>
      </p:sp>
      <p:sp>
        <p:nvSpPr>
          <p:cNvPr id="17" name="Text 14"/>
          <p:cNvSpPr/>
          <p:nvPr/>
        </p:nvSpPr>
        <p:spPr>
          <a:xfrm>
            <a:off x="7904480" y="1757685"/>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13 of 13</a:t>
            </a:r>
            <a:endParaRPr lang="en-US" sz="2800" dirty="0"/>
          </a:p>
        </p:txBody>
      </p:sp>
      <p:sp>
        <p:nvSpPr>
          <p:cNvPr id="18" name="Text 15"/>
          <p:cNvSpPr/>
          <p:nvPr/>
        </p:nvSpPr>
        <p:spPr>
          <a:xfrm>
            <a:off x="7904480" y="2174242"/>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years M2 beats persistence (2010–2022)</a:t>
            </a:r>
            <a:endParaRPr lang="en-US" sz="1200" dirty="0"/>
          </a:p>
        </p:txBody>
      </p:sp>
      <p:sp>
        <p:nvSpPr>
          <p:cNvPr id="19" name="Shape 16"/>
          <p:cNvSpPr/>
          <p:nvPr/>
        </p:nvSpPr>
        <p:spPr>
          <a:xfrm>
            <a:off x="7750175" y="2596517"/>
            <a:ext cx="3625850" cy="847090"/>
          </a:xfrm>
          <a:prstGeom prst="roundRect">
            <a:avLst>
              <a:gd name="adj" fmla="val 8621"/>
            </a:avLst>
          </a:prstGeom>
          <a:solidFill>
            <a:srgbClr val="FFFDF8"/>
          </a:solidFill>
          <a:ln w="6350">
            <a:solidFill>
              <a:srgbClr val="E3DACB"/>
            </a:solidFill>
            <a:prstDash val="solid"/>
          </a:ln>
        </p:spPr>
      </p:sp>
      <p:sp>
        <p:nvSpPr>
          <p:cNvPr id="20" name="Text 17"/>
          <p:cNvSpPr/>
          <p:nvPr/>
        </p:nvSpPr>
        <p:spPr>
          <a:xfrm>
            <a:off x="7904480" y="2712727"/>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8.8 %</a:t>
            </a:r>
            <a:endParaRPr lang="en-US" sz="2800" dirty="0"/>
          </a:p>
        </p:txBody>
      </p:sp>
      <p:sp>
        <p:nvSpPr>
          <p:cNvPr id="21" name="Text 18"/>
          <p:cNvSpPr/>
          <p:nvPr/>
        </p:nvSpPr>
        <p:spPr>
          <a:xfrm>
            <a:off x="7904480" y="3129285"/>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mean gain: 4.5 % (2018) to 13.2 % (2014)</a:t>
            </a:r>
            <a:endParaRPr lang="en-US" sz="1200" dirty="0"/>
          </a:p>
        </p:txBody>
      </p:sp>
      <p:sp>
        <p:nvSpPr>
          <p:cNvPr id="22" name="Shape 19"/>
          <p:cNvSpPr/>
          <p:nvPr/>
        </p:nvSpPr>
        <p:spPr>
          <a:xfrm>
            <a:off x="7747000" y="3548385"/>
            <a:ext cx="3632200" cy="951230"/>
          </a:xfrm>
          <a:prstGeom prst="roundRect">
            <a:avLst>
              <a:gd name="adj" fmla="val 8011"/>
            </a:avLst>
          </a:prstGeom>
          <a:solidFill>
            <a:srgbClr val="14263A"/>
          </a:solidFill>
          <a:ln/>
        </p:spPr>
      </p:sp>
      <p:sp>
        <p:nvSpPr>
          <p:cNvPr id="23" name="Text 20"/>
          <p:cNvSpPr/>
          <p:nvPr/>
        </p:nvSpPr>
        <p:spPr>
          <a:xfrm>
            <a:off x="7899400" y="3675385"/>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4" name="Text 21"/>
          <p:cNvSpPr/>
          <p:nvPr/>
        </p:nvSpPr>
        <p:spPr>
          <a:xfrm>
            <a:off x="7899400" y="3926842"/>
            <a:ext cx="342722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gain is not luck. M2 is confirmed: as good as M3 and M4, and simpler.</a:t>
            </a:r>
            <a:endParaRPr lang="en-US" sz="1300" dirty="0"/>
          </a:p>
        </p:txBody>
      </p:sp>
      <p:sp>
        <p:nvSpPr>
          <p:cNvPr id="25" name="Text 2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6" name="Text 23"/>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22 / 31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STEP 8 · THE KEY RESULT · FINAL TEST, RUN ONCE</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DF8"/>
                </a:solidFill>
                <a:latin typeface="Source Serif 4" pitchFamily="18" charset="0"/>
                <a:ea typeface="Source Serif 4" pitchFamily="18" charset="-122"/>
                <a:cs typeface="Source Serif 4" pitchFamily="18" charset="-120"/>
              </a:rPr>
              <a:t>0.94 °C on years the model never saw</a:t>
            </a:r>
            <a:endParaRPr lang="en-US" sz="3200" dirty="0"/>
          </a:p>
        </p:txBody>
      </p:sp>
      <p:sp>
        <p:nvSpPr>
          <p:cNvPr id="4" name="Shape 2"/>
          <p:cNvSpPr/>
          <p:nvPr/>
        </p:nvSpPr>
        <p:spPr>
          <a:xfrm>
            <a:off x="812800" y="1638300"/>
            <a:ext cx="6731000" cy="3718560"/>
          </a:xfrm>
          <a:prstGeom prst="roundRect">
            <a:avLst>
              <a:gd name="adj" fmla="val 2049"/>
            </a:avLst>
          </a:prstGeom>
          <a:solidFill>
            <a:srgbClr val="FFFDF8"/>
          </a:solidFill>
          <a:ln/>
        </p:spPr>
      </p:sp>
      <p:sp>
        <p:nvSpPr>
          <p:cNvPr id="5" name="Text 3"/>
          <p:cNvSpPr/>
          <p:nvPr/>
        </p:nvSpPr>
        <p:spPr>
          <a:xfrm>
            <a:off x="965200" y="1765300"/>
            <a:ext cx="66189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23</a:t>
            </a:r>
            <a:r>
              <a:rPr lang="en-US" sz="1200" dirty="0">
                <a:solidFill>
                  <a:srgbClr val="5E6672"/>
                </a:solidFill>
                <a:latin typeface="IBM Plex Sans" pitchFamily="34" charset="0"/>
                <a:ea typeface="IBM Plex Sans" pitchFamily="34" charset="-122"/>
                <a:cs typeface="IBM Plex Sans" pitchFamily="34" charset="-120"/>
              </a:rPr>
              <a:t> · M2 forecast vs real, 2023–2025, with 95 % interval; B zoom March–May 2025</a:t>
            </a:r>
            <a:endParaRPr lang="en-US" sz="1200" dirty="0"/>
          </a:p>
        </p:txBody>
      </p:sp>
      <p:pic>
        <p:nvPicPr>
          <p:cNvPr id="6" name="Image 0" descr="Final test: M2 one-day-ahead forecast follows the real temperature over 2023–2025; the zoom shows the biggest spring misses">    </p:cNvPr>
          <p:cNvPicPr>
            <a:picLocks noChangeAspect="1"/>
          </p:cNvPicPr>
          <p:nvPr/>
        </p:nvPicPr>
        <p:blipFill>
          <a:blip r:embed="rId1"/>
          <a:srcRect l="-89" r="-89" t="0" b="0"/>
          <a:stretch/>
        </p:blipFill>
        <p:spPr>
          <a:xfrm>
            <a:off x="965200" y="2054858"/>
            <a:ext cx="6426200" cy="3175000"/>
          </a:xfrm>
          <a:prstGeom prst="rect">
            <a:avLst/>
          </a:prstGeom>
        </p:spPr>
      </p:pic>
      <p:sp>
        <p:nvSpPr>
          <p:cNvPr id="7" name="Shape 4"/>
          <p:cNvSpPr/>
          <p:nvPr/>
        </p:nvSpPr>
        <p:spPr>
          <a:xfrm>
            <a:off x="7750175" y="1641475"/>
            <a:ext cx="3625850" cy="847090"/>
          </a:xfrm>
          <a:prstGeom prst="roundRect">
            <a:avLst>
              <a:gd name="adj" fmla="val 8621"/>
            </a:avLst>
          </a:prstGeom>
          <a:solidFill>
            <a:srgbClr val="1E3550"/>
          </a:solidFill>
          <a:ln w="6350">
            <a:solidFill>
              <a:srgbClr val="34506E"/>
            </a:solidFill>
            <a:prstDash val="solid"/>
          </a:ln>
        </p:spPr>
      </p:sp>
      <p:sp>
        <p:nvSpPr>
          <p:cNvPr id="8" name="Text 5"/>
          <p:cNvSpPr/>
          <p:nvPr/>
        </p:nvSpPr>
        <p:spPr>
          <a:xfrm>
            <a:off x="7904480" y="1757685"/>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2945E"/>
                </a:solidFill>
                <a:latin typeface="Source Serif 4" pitchFamily="18" charset="0"/>
                <a:ea typeface="Source Serif 4" pitchFamily="18" charset="-122"/>
                <a:cs typeface="Source Serif 4" pitchFamily="18" charset="-120"/>
              </a:rPr>
              <a:t>0.940 °C</a:t>
            </a:r>
            <a:endParaRPr lang="en-US" sz="2800" dirty="0"/>
          </a:p>
        </p:txBody>
      </p:sp>
      <p:sp>
        <p:nvSpPr>
          <p:cNvPr id="9" name="Text 6"/>
          <p:cNvSpPr/>
          <p:nvPr/>
        </p:nvSpPr>
        <p:spPr>
          <a:xfrm>
            <a:off x="7904480" y="2174242"/>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BD8"/>
                </a:solidFill>
                <a:latin typeface="IBM Plex Sans" pitchFamily="34" charset="0"/>
                <a:ea typeface="IBM Plex Sans" pitchFamily="34" charset="-122"/>
                <a:cs typeface="IBM Plex Sans" pitchFamily="34" charset="-120"/>
              </a:rPr>
              <a:t>MAE vs 1.038 for persistence: 9.5 % lower</a:t>
            </a:r>
            <a:endParaRPr lang="en-US" sz="1200" dirty="0"/>
          </a:p>
        </p:txBody>
      </p:sp>
      <p:sp>
        <p:nvSpPr>
          <p:cNvPr id="10" name="Shape 7"/>
          <p:cNvSpPr/>
          <p:nvPr/>
        </p:nvSpPr>
        <p:spPr>
          <a:xfrm>
            <a:off x="7750175" y="2596517"/>
            <a:ext cx="3625850" cy="847090"/>
          </a:xfrm>
          <a:prstGeom prst="roundRect">
            <a:avLst>
              <a:gd name="adj" fmla="val 8621"/>
            </a:avLst>
          </a:prstGeom>
          <a:solidFill>
            <a:srgbClr val="1E3550"/>
          </a:solidFill>
          <a:ln w="6350">
            <a:solidFill>
              <a:srgbClr val="34506E"/>
            </a:solidFill>
            <a:prstDash val="solid"/>
          </a:ln>
        </p:spPr>
      </p:sp>
      <p:sp>
        <p:nvSpPr>
          <p:cNvPr id="11" name="Text 8"/>
          <p:cNvSpPr/>
          <p:nvPr/>
        </p:nvSpPr>
        <p:spPr>
          <a:xfrm>
            <a:off x="7904480" y="2712727"/>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8DB8F2"/>
                </a:solidFill>
                <a:latin typeface="Source Serif 4" pitchFamily="18" charset="0"/>
                <a:ea typeface="Source Serif 4" pitchFamily="18" charset="-122"/>
                <a:cs typeface="Source Serif 4" pitchFamily="18" charset="-120"/>
              </a:rPr>
              <a:t>3 of 3</a:t>
            </a:r>
            <a:endParaRPr lang="en-US" sz="2800" dirty="0"/>
          </a:p>
        </p:txBody>
      </p:sp>
      <p:sp>
        <p:nvSpPr>
          <p:cNvPr id="12" name="Text 9"/>
          <p:cNvSpPr/>
          <p:nvPr/>
        </p:nvSpPr>
        <p:spPr>
          <a:xfrm>
            <a:off x="7904480" y="3129285"/>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BD8"/>
                </a:solidFill>
                <a:latin typeface="IBM Plex Sans" pitchFamily="34" charset="0"/>
                <a:ea typeface="IBM Plex Sans" pitchFamily="34" charset="-122"/>
                <a:cs typeface="IBM Plex Sans" pitchFamily="34" charset="-120"/>
              </a:rPr>
              <a:t>test years won: 0.955 · 0.886 · 0.977 °C</a:t>
            </a:r>
            <a:endParaRPr lang="en-US" sz="1200" dirty="0"/>
          </a:p>
        </p:txBody>
      </p:sp>
      <p:sp>
        <p:nvSpPr>
          <p:cNvPr id="13" name="Shape 10"/>
          <p:cNvSpPr/>
          <p:nvPr/>
        </p:nvSpPr>
        <p:spPr>
          <a:xfrm>
            <a:off x="7750175" y="3551560"/>
            <a:ext cx="3625850" cy="1045210"/>
          </a:xfrm>
          <a:prstGeom prst="roundRect">
            <a:avLst>
              <a:gd name="adj" fmla="val 6987"/>
            </a:avLst>
          </a:prstGeom>
          <a:solidFill>
            <a:srgbClr val="1E3550"/>
          </a:solidFill>
          <a:ln w="6350">
            <a:solidFill>
              <a:srgbClr val="34506E"/>
            </a:solidFill>
            <a:prstDash val="solid"/>
          </a:ln>
        </p:spPr>
      </p:sp>
      <p:sp>
        <p:nvSpPr>
          <p:cNvPr id="14" name="Text 11"/>
          <p:cNvSpPr/>
          <p:nvPr/>
        </p:nvSpPr>
        <p:spPr>
          <a:xfrm>
            <a:off x="7904480" y="3667758"/>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8DB8F2"/>
                </a:solidFill>
                <a:latin typeface="Source Serif 4" pitchFamily="18" charset="0"/>
                <a:ea typeface="Source Serif 4" pitchFamily="18" charset="-122"/>
                <a:cs typeface="Source Serif 4" pitchFamily="18" charset="-120"/>
              </a:rPr>
              <a:t>95.1 %</a:t>
            </a:r>
            <a:endParaRPr lang="en-US" sz="2800" dirty="0"/>
          </a:p>
        </p:txBody>
      </p:sp>
      <p:sp>
        <p:nvSpPr>
          <p:cNvPr id="15" name="Text 12"/>
          <p:cNvSpPr/>
          <p:nvPr/>
        </p:nvSpPr>
        <p:spPr>
          <a:xfrm>
            <a:off x="7904480" y="4084327"/>
            <a:ext cx="341675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BD8"/>
                </a:solidFill>
                <a:latin typeface="IBM Plex Sans" pitchFamily="34" charset="0"/>
                <a:ea typeface="IBM Plex Sans" pitchFamily="34" charset="-122"/>
                <a:cs typeface="IBM Plex Sans" pitchFamily="34" charset="-120"/>
              </a:rPr>
              <a:t>inside the 95 % interval; only 82–85 % in Mar–May</a:t>
            </a:r>
            <a:endParaRPr lang="en-US" sz="1200" dirty="0"/>
          </a:p>
        </p:txBody>
      </p:sp>
      <p:sp>
        <p:nvSpPr>
          <p:cNvPr id="16" name="Text 13"/>
          <p:cNvSpPr/>
          <p:nvPr/>
        </p:nvSpPr>
        <p:spPr>
          <a:xfrm>
            <a:off x="7747000" y="4701542"/>
            <a:ext cx="3632200" cy="623570"/>
          </a:xfrm>
          <a:prstGeom prst="roundRect">
            <a:avLst>
              <a:gd name="adj" fmla="val 10183"/>
            </a:avLst>
          </a:prstGeom>
          <a:solidFill>
            <a:srgbClr val="F2945E"/>
          </a:solidFill>
          <a:ln/>
        </p:spPr>
        <p:txBody>
          <a:bodyPr wrap="square" lIns="108401" tIns="70301" rIns="7055" bIns="44901" rtlCol="0" anchor="t">
            <a:normAutofit/>
          </a:bodyPr>
          <a:lstStyle/>
          <a:p>
            <a:pPr algn="l" indent="0" marL="0">
              <a:lnSpc>
                <a:spcPts val="1755"/>
              </a:lnSpc>
              <a:buNone/>
            </a:pPr>
            <a:r>
              <a:rPr lang="en-US" sz="1300" b="1" dirty="0">
                <a:solidFill>
                  <a:srgbClr val="14263A"/>
                </a:solidFill>
                <a:latin typeface="IBM Plex Sans" pitchFamily="34" charset="0"/>
                <a:ea typeface="IBM Plex Sans" pitchFamily="34" charset="-122"/>
                <a:cs typeface="IBM Plex Sans" pitchFamily="34" charset="-120"/>
              </a:rPr>
              <a:t>Answer: about 10 % better than “tomorrow = today”, in every test year.</a:t>
            </a:r>
            <a:endParaRPr lang="en-US" sz="1300" dirty="0"/>
          </a:p>
        </p:txBody>
      </p:sp>
      <p:sp>
        <p:nvSpPr>
          <p:cNvPr id="17" name="Text 14"/>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8" name="Text 15"/>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Source: NASA POWER, 1990–2025 · 23 / 31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9 · THE STORM STORY (H5)</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One day of surprise, then a quick recovery</a:t>
            </a:r>
            <a:endParaRPr lang="en-US" sz="3200" dirty="0"/>
          </a:p>
        </p:txBody>
      </p:sp>
      <p:sp>
        <p:nvSpPr>
          <p:cNvPr id="4" name="Shape 2"/>
          <p:cNvSpPr/>
          <p:nvPr/>
        </p:nvSpPr>
        <p:spPr>
          <a:xfrm>
            <a:off x="815975" y="1641475"/>
            <a:ext cx="5708650" cy="3783330"/>
          </a:xfrm>
          <a:prstGeom prst="roundRect">
            <a:avLst>
              <a:gd name="adj" fmla="val 1930"/>
            </a:avLst>
          </a:prstGeom>
          <a:solidFill>
            <a:srgbClr val="FFFDF8"/>
          </a:solidFill>
          <a:ln w="6350">
            <a:solidFill>
              <a:srgbClr val="E3DACB"/>
            </a:solidFill>
            <a:prstDash val="solid"/>
          </a:ln>
        </p:spPr>
      </p:sp>
      <p:sp>
        <p:nvSpPr>
          <p:cNvPr id="5" name="Text 3"/>
          <p:cNvSpPr/>
          <p:nvPr/>
        </p:nvSpPr>
        <p:spPr>
          <a:xfrm>
            <a:off x="970280" y="1770385"/>
            <a:ext cx="556204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24</a:t>
            </a:r>
            <a:r>
              <a:rPr lang="en-US" sz="1200" dirty="0">
                <a:solidFill>
                  <a:srgbClr val="5E6672"/>
                </a:solidFill>
                <a:latin typeface="IBM Plex Sans" pitchFamily="34" charset="0"/>
                <a:ea typeface="IBM Plex Sans" pitchFamily="34" charset="-122"/>
                <a:cs typeface="IBM Plex Sans" pitchFamily="34" charset="-120"/>
              </a:rPr>
              <a:t> · Forecast vs real around the March 2020 storm, with Task 4’s storm score</a:t>
            </a:r>
            <a:endParaRPr lang="en-US" sz="1200" dirty="0"/>
          </a:p>
        </p:txBody>
      </p:sp>
      <p:pic>
        <p:nvPicPr>
          <p:cNvPr id="6" name="Image 0" descr="Around 12 March 2020: M2 forecast too warm on the storm day, back on track the day after; storm score peaks at 0.95">    </p:cNvPr>
          <p:cNvPicPr>
            <a:picLocks noChangeAspect="1"/>
          </p:cNvPicPr>
          <p:nvPr/>
        </p:nvPicPr>
        <p:blipFill>
          <a:blip r:embed="rId1"/>
          <a:srcRect l="0" r="0" t="-104" b="-104"/>
          <a:stretch/>
        </p:blipFill>
        <p:spPr>
          <a:xfrm>
            <a:off x="970280" y="2273300"/>
            <a:ext cx="5410200" cy="3022600"/>
          </a:xfrm>
          <a:prstGeom prst="rect">
            <a:avLst/>
          </a:prstGeom>
        </p:spPr>
      </p:pic>
      <p:sp>
        <p:nvSpPr>
          <p:cNvPr id="7" name="Shape 4"/>
          <p:cNvSpPr/>
          <p:nvPr/>
        </p:nvSpPr>
        <p:spPr>
          <a:xfrm>
            <a:off x="6734175" y="1641475"/>
            <a:ext cx="2266950"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6875780" y="1744985"/>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2.95 °C</a:t>
            </a:r>
            <a:endParaRPr lang="en-US" sz="2800" dirty="0"/>
          </a:p>
        </p:txBody>
      </p:sp>
      <p:sp>
        <p:nvSpPr>
          <p:cNvPr id="9" name="Text 6"/>
          <p:cNvSpPr/>
          <p:nvPr/>
        </p:nvSpPr>
        <p:spPr>
          <a:xfrm>
            <a:off x="6875780" y="2161542"/>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miss on 12 Mar 2020; 0.25 the next day</a:t>
            </a:r>
            <a:endParaRPr lang="en-US" sz="1200" dirty="0"/>
          </a:p>
        </p:txBody>
      </p:sp>
      <p:sp>
        <p:nvSpPr>
          <p:cNvPr id="10" name="Shape 7"/>
          <p:cNvSpPr/>
          <p:nvPr/>
        </p:nvSpPr>
        <p:spPr>
          <a:xfrm>
            <a:off x="9109075" y="1641475"/>
            <a:ext cx="2266950"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9250680" y="1744985"/>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1.65 °C</a:t>
            </a:r>
            <a:endParaRPr lang="en-US" sz="2800" dirty="0"/>
          </a:p>
        </p:txBody>
      </p:sp>
      <p:sp>
        <p:nvSpPr>
          <p:cNvPr id="12" name="Text 9"/>
          <p:cNvSpPr/>
          <p:nvPr/>
        </p:nvSpPr>
        <p:spPr>
          <a:xfrm>
            <a:off x="9250680" y="2161542"/>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storm-day error (persistence 1.30)</a:t>
            </a:r>
            <a:endParaRPr lang="en-US" sz="1200" dirty="0"/>
          </a:p>
        </p:txBody>
      </p:sp>
      <p:sp>
        <p:nvSpPr>
          <p:cNvPr id="13" name="Shape 10"/>
          <p:cNvSpPr/>
          <p:nvPr/>
        </p:nvSpPr>
        <p:spPr>
          <a:xfrm>
            <a:off x="6734175" y="2769233"/>
            <a:ext cx="2266950" cy="1019810"/>
          </a:xfrm>
          <a:prstGeom prst="roundRect">
            <a:avLst>
              <a:gd name="adj" fmla="val 7161"/>
            </a:avLst>
          </a:prstGeom>
          <a:solidFill>
            <a:srgbClr val="FFFDF8"/>
          </a:solidFill>
          <a:ln w="6350">
            <a:solidFill>
              <a:srgbClr val="E3DACB"/>
            </a:solidFill>
            <a:prstDash val="solid"/>
          </a:ln>
        </p:spPr>
      </p:sp>
      <p:sp>
        <p:nvSpPr>
          <p:cNvPr id="14" name="Text 11"/>
          <p:cNvSpPr/>
          <p:nvPr/>
        </p:nvSpPr>
        <p:spPr>
          <a:xfrm>
            <a:off x="6875780" y="2872742"/>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1.00 °C</a:t>
            </a:r>
            <a:endParaRPr lang="en-US" sz="2800" dirty="0"/>
          </a:p>
        </p:txBody>
      </p:sp>
      <p:sp>
        <p:nvSpPr>
          <p:cNvPr id="15" name="Text 12"/>
          <p:cNvSpPr/>
          <p:nvPr/>
        </p:nvSpPr>
        <p:spPr>
          <a:xfrm>
            <a:off x="6875780" y="3289300"/>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the day before: no warning sign</a:t>
            </a:r>
            <a:endParaRPr lang="en-US" sz="1200" dirty="0"/>
          </a:p>
        </p:txBody>
      </p:sp>
      <p:sp>
        <p:nvSpPr>
          <p:cNvPr id="16" name="Shape 13"/>
          <p:cNvSpPr/>
          <p:nvPr/>
        </p:nvSpPr>
        <p:spPr>
          <a:xfrm>
            <a:off x="9109075" y="2769233"/>
            <a:ext cx="2266950" cy="1019810"/>
          </a:xfrm>
          <a:prstGeom prst="roundRect">
            <a:avLst>
              <a:gd name="adj" fmla="val 7161"/>
            </a:avLst>
          </a:prstGeom>
          <a:solidFill>
            <a:srgbClr val="FFFDF8"/>
          </a:solidFill>
          <a:ln w="6350">
            <a:solidFill>
              <a:srgbClr val="E3DACB"/>
            </a:solidFill>
            <a:prstDash val="solid"/>
          </a:ln>
        </p:spPr>
      </p:sp>
      <p:sp>
        <p:nvSpPr>
          <p:cNvPr id="17" name="Text 14"/>
          <p:cNvSpPr/>
          <p:nvPr/>
        </p:nvSpPr>
        <p:spPr>
          <a:xfrm>
            <a:off x="9250680" y="2872742"/>
            <a:ext cx="204325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0.93 °C</a:t>
            </a:r>
            <a:endParaRPr lang="en-US" sz="2800" dirty="0"/>
          </a:p>
        </p:txBody>
      </p:sp>
      <p:sp>
        <p:nvSpPr>
          <p:cNvPr id="18" name="Text 15"/>
          <p:cNvSpPr/>
          <p:nvPr/>
        </p:nvSpPr>
        <p:spPr>
          <a:xfrm>
            <a:off x="9250680" y="3289300"/>
            <a:ext cx="204325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every other day (persistence 1.04)</a:t>
            </a:r>
            <a:endParaRPr lang="en-US" sz="1200" dirty="0"/>
          </a:p>
        </p:txBody>
      </p:sp>
      <p:sp>
        <p:nvSpPr>
          <p:cNvPr id="19" name="Shape 16"/>
          <p:cNvSpPr/>
          <p:nvPr/>
        </p:nvSpPr>
        <p:spPr>
          <a:xfrm>
            <a:off x="6731000" y="3893827"/>
            <a:ext cx="4648200" cy="951230"/>
          </a:xfrm>
          <a:prstGeom prst="roundRect">
            <a:avLst>
              <a:gd name="adj" fmla="val 8011"/>
            </a:avLst>
          </a:prstGeom>
          <a:solidFill>
            <a:srgbClr val="14263A"/>
          </a:solidFill>
          <a:ln/>
        </p:spPr>
      </p:sp>
      <p:sp>
        <p:nvSpPr>
          <p:cNvPr id="20" name="Text 17"/>
          <p:cNvSpPr/>
          <p:nvPr/>
        </p:nvSpPr>
        <p:spPr>
          <a:xfrm>
            <a:off x="6883400" y="4020827"/>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1" name="Text 18"/>
          <p:cNvSpPr/>
          <p:nvPr/>
        </p:nvSpPr>
        <p:spPr>
          <a:xfrm>
            <a:off x="6883400" y="4272285"/>
            <a:ext cx="447370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Models win on ordinary days and lose on the days that matter. Task 4’s “no warning” holds for temperature.</a:t>
            </a:r>
            <a:endParaRPr lang="en-US" sz="1300" dirty="0"/>
          </a:p>
        </p:txBody>
      </p:sp>
      <p:sp>
        <p:nvSpPr>
          <p:cNvPr id="22" name="Text 1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3" name="Text 20"/>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24 / 31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9 · ERROR VS TASK 4’S STORM SCORE (H5, H6)</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Both calm and stormy extremes are hard</a:t>
            </a:r>
            <a:endParaRPr lang="en-US" sz="3200" dirty="0"/>
          </a:p>
        </p:txBody>
      </p:sp>
      <p:sp>
        <p:nvSpPr>
          <p:cNvPr id="4" name="Shape 2"/>
          <p:cNvSpPr/>
          <p:nvPr/>
        </p:nvSpPr>
        <p:spPr>
          <a:xfrm>
            <a:off x="815975" y="1616075"/>
            <a:ext cx="10560050" cy="2769870"/>
          </a:xfrm>
          <a:prstGeom prst="roundRect">
            <a:avLst>
              <a:gd name="adj" fmla="val 2636"/>
            </a:avLst>
          </a:prstGeom>
          <a:solidFill>
            <a:srgbClr val="FFFDF8"/>
          </a:solidFill>
          <a:ln w="6350">
            <a:solidFill>
              <a:srgbClr val="E3DACB"/>
            </a:solidFill>
            <a:prstDash val="solid"/>
          </a:ln>
        </p:spPr>
      </p:sp>
      <p:sp>
        <p:nvSpPr>
          <p:cNvPr id="5" name="Text 3"/>
          <p:cNvSpPr/>
          <p:nvPr/>
        </p:nvSpPr>
        <p:spPr>
          <a:xfrm>
            <a:off x="970280" y="1744985"/>
            <a:ext cx="105589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25</a:t>
            </a:r>
            <a:r>
              <a:rPr lang="en-US" sz="1200" dirty="0">
                <a:solidFill>
                  <a:srgbClr val="5E6672"/>
                </a:solidFill>
                <a:latin typeface="IBM Plex Sans" pitchFamily="34" charset="0"/>
                <a:ea typeface="IBM Plex Sans" pitchFamily="34" charset="-122"/>
                <a:cs typeface="IBM Plex Sans" pitchFamily="34" charset="-120"/>
              </a:rPr>
              <a:t> · A error by storm-score group, 2020–2025 (1 = calmest, 10 = stormiest) · B inside the 95 % interval</a:t>
            </a:r>
            <a:endParaRPr lang="en-US" sz="1200" dirty="0"/>
          </a:p>
        </p:txBody>
      </p:sp>
      <p:pic>
        <p:nvPicPr>
          <p:cNvPr id="6" name="Image 0" descr="U-shaped error across storm-score groups: highest for the calmest and stormiest days; interval coverage drops at both ends">    </p:cNvPr>
          <p:cNvPicPr>
            <a:picLocks noChangeAspect="1"/>
          </p:cNvPicPr>
          <p:nvPr/>
        </p:nvPicPr>
        <p:blipFill>
          <a:blip r:embed="rId1"/>
          <a:srcRect l="-12443" r="-12443" t="0" b="0"/>
          <a:stretch/>
        </p:blipFill>
        <p:spPr>
          <a:xfrm>
            <a:off x="970280" y="2034542"/>
            <a:ext cx="10261600" cy="2222500"/>
          </a:xfrm>
          <a:prstGeom prst="rect">
            <a:avLst/>
          </a:prstGeom>
        </p:spPr>
      </p:pic>
      <p:sp>
        <p:nvSpPr>
          <p:cNvPr id="7" name="Shape 4"/>
          <p:cNvSpPr/>
          <p:nvPr/>
        </p:nvSpPr>
        <p:spPr>
          <a:xfrm>
            <a:off x="815975" y="4570102"/>
            <a:ext cx="3431064"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957580" y="4673600"/>
            <a:ext cx="32422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1.40 °C</a:t>
            </a:r>
            <a:endParaRPr lang="en-US" sz="2800" dirty="0"/>
          </a:p>
        </p:txBody>
      </p:sp>
      <p:sp>
        <p:nvSpPr>
          <p:cNvPr id="9" name="Text 6"/>
          <p:cNvSpPr/>
          <p:nvPr/>
        </p:nvSpPr>
        <p:spPr>
          <a:xfrm>
            <a:off x="957580" y="5090158"/>
            <a:ext cx="324228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calmest 10 % of days; middle groups 0.75–0.90</a:t>
            </a:r>
            <a:endParaRPr lang="en-US" sz="1200" dirty="0"/>
          </a:p>
        </p:txBody>
      </p:sp>
      <p:sp>
        <p:nvSpPr>
          <p:cNvPr id="10" name="Shape 7"/>
          <p:cNvSpPr/>
          <p:nvPr/>
        </p:nvSpPr>
        <p:spPr>
          <a:xfrm>
            <a:off x="4380389" y="4570102"/>
            <a:ext cx="3431143"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4521994" y="4673600"/>
            <a:ext cx="3242371"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13 of 25</a:t>
            </a:r>
            <a:endParaRPr lang="en-US" sz="2800" dirty="0"/>
          </a:p>
        </p:txBody>
      </p:sp>
      <p:sp>
        <p:nvSpPr>
          <p:cNvPr id="12" name="Text 9"/>
          <p:cNvSpPr/>
          <p:nvPr/>
        </p:nvSpPr>
        <p:spPr>
          <a:xfrm>
            <a:off x="4521994" y="5090158"/>
            <a:ext cx="3242371"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storms came after a rain day: “rain today” warns of half</a:t>
            </a:r>
            <a:endParaRPr lang="en-US" sz="1200" dirty="0"/>
          </a:p>
        </p:txBody>
      </p:sp>
      <p:sp>
        <p:nvSpPr>
          <p:cNvPr id="13" name="Shape 10"/>
          <p:cNvSpPr/>
          <p:nvPr/>
        </p:nvSpPr>
        <p:spPr>
          <a:xfrm>
            <a:off x="7941707" y="4566927"/>
            <a:ext cx="3437493" cy="1026160"/>
          </a:xfrm>
          <a:prstGeom prst="roundRect">
            <a:avLst>
              <a:gd name="adj" fmla="val 7426"/>
            </a:avLst>
          </a:prstGeom>
          <a:solidFill>
            <a:srgbClr val="14263A"/>
          </a:solidFill>
          <a:ln/>
        </p:spPr>
      </p:sp>
      <p:sp>
        <p:nvSpPr>
          <p:cNvPr id="14" name="Text 11"/>
          <p:cNvSpPr/>
          <p:nvPr/>
        </p:nvSpPr>
        <p:spPr>
          <a:xfrm>
            <a:off x="8081407" y="4668527"/>
            <a:ext cx="325283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2"/>
          <p:cNvSpPr/>
          <p:nvPr/>
        </p:nvSpPr>
        <p:spPr>
          <a:xfrm>
            <a:off x="8081407" y="4919985"/>
            <a:ext cx="3252836"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Both ends are sudden jumps. The calm, hot, dry end looks like Khamasin (H6).</a:t>
            </a:r>
            <a:endParaRPr lang="en-US" sz="1300" dirty="0"/>
          </a:p>
        </p:txBody>
      </p:sp>
      <p:sp>
        <p:nvSpPr>
          <p:cNvPr id="16"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25 / 31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10 · BONUS · SIMPLE RNN AND LSTM</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Deep learning confirms SARIMAX</a:t>
            </a:r>
            <a:endParaRPr lang="en-US" sz="3200" dirty="0"/>
          </a:p>
        </p:txBody>
      </p:sp>
      <p:sp>
        <p:nvSpPr>
          <p:cNvPr id="4" name="Shape 2"/>
          <p:cNvSpPr/>
          <p:nvPr/>
        </p:nvSpPr>
        <p:spPr>
          <a:xfrm>
            <a:off x="815975" y="1641475"/>
            <a:ext cx="6724650" cy="3722370"/>
          </a:xfrm>
          <a:prstGeom prst="roundRect">
            <a:avLst>
              <a:gd name="adj" fmla="val 1962"/>
            </a:avLst>
          </a:prstGeom>
          <a:solidFill>
            <a:srgbClr val="FFFDF8"/>
          </a:solidFill>
          <a:ln w="6350">
            <a:solidFill>
              <a:srgbClr val="E3DACB"/>
            </a:solidFill>
            <a:prstDash val="solid"/>
          </a:ln>
        </p:spPr>
      </p:sp>
      <p:sp>
        <p:nvSpPr>
          <p:cNvPr id="5" name="Text 3"/>
          <p:cNvSpPr/>
          <p:nvPr/>
        </p:nvSpPr>
        <p:spPr>
          <a:xfrm>
            <a:off x="970280" y="1770385"/>
            <a:ext cx="6608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26a</a:t>
            </a:r>
            <a:r>
              <a:rPr lang="en-US" sz="1200" dirty="0">
                <a:solidFill>
                  <a:srgbClr val="5E6672"/>
                </a:solidFill>
                <a:latin typeface="IBM Plex Sans" pitchFamily="34" charset="0"/>
                <a:ea typeface="IBM Plex Sans" pitchFamily="34" charset="-122"/>
                <a:cs typeface="IBM Plex Sans" pitchFamily="34" charset="-120"/>
              </a:rPr>
              <a:t> · SARIMAX vs LSTM vs Simple RNN on the test years: A 2024, B March–May 2025</a:t>
            </a:r>
            <a:endParaRPr lang="en-US" sz="1200" dirty="0"/>
          </a:p>
        </p:txBody>
      </p:sp>
      <p:pic>
        <p:nvPicPr>
          <p:cNvPr id="6" name="Image 0" descr="SARIMAX, LSTM and Simple RNN forecasts nearly overlap and miss the same sudden jumps">    </p:cNvPr>
          <p:cNvPicPr>
            <a:picLocks noChangeAspect="1"/>
          </p:cNvPicPr>
          <p:nvPr/>
        </p:nvPicPr>
        <p:blipFill>
          <a:blip r:embed="rId1"/>
          <a:srcRect l="-89" r="-89" t="0" b="0"/>
          <a:stretch/>
        </p:blipFill>
        <p:spPr>
          <a:xfrm>
            <a:off x="970280" y="2059942"/>
            <a:ext cx="6426200" cy="3175000"/>
          </a:xfrm>
          <a:prstGeom prst="rect">
            <a:avLst/>
          </a:prstGeom>
        </p:spPr>
      </p:pic>
      <p:sp>
        <p:nvSpPr>
          <p:cNvPr id="7" name="Shape 4"/>
          <p:cNvSpPr/>
          <p:nvPr/>
        </p:nvSpPr>
        <p:spPr>
          <a:xfrm>
            <a:off x="7750175" y="1641475"/>
            <a:ext cx="3625850" cy="1421130"/>
          </a:xfrm>
          <a:prstGeom prst="roundRect">
            <a:avLst>
              <a:gd name="adj" fmla="val 5139"/>
            </a:avLst>
          </a:prstGeom>
          <a:solidFill>
            <a:srgbClr val="FFFDF8"/>
          </a:solidFill>
          <a:ln w="6350">
            <a:solidFill>
              <a:srgbClr val="E3DACB"/>
            </a:solidFill>
            <a:prstDash val="solid"/>
          </a:ln>
        </p:spPr>
      </p:sp>
      <p:sp>
        <p:nvSpPr>
          <p:cNvPr id="8" name="Text 5"/>
          <p:cNvSpPr/>
          <p:nvPr/>
        </p:nvSpPr>
        <p:spPr>
          <a:xfrm>
            <a:off x="7904480" y="1770385"/>
            <a:ext cx="3416757"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Fig. 26b</a:t>
            </a:r>
            <a:r>
              <a:rPr lang="en-US" sz="1200" dirty="0">
                <a:solidFill>
                  <a:srgbClr val="5E6672"/>
                </a:solidFill>
                <a:latin typeface="IBM Plex Sans" pitchFamily="34" charset="0"/>
                <a:ea typeface="IBM Plex Sans" pitchFamily="34" charset="-122"/>
                <a:cs typeface="IBM Plex Sans" pitchFamily="34" charset="-120"/>
              </a:rPr>
              <a:t> · Training curves, early stopping</a:t>
            </a:r>
            <a:endParaRPr lang="en-US" sz="1200" dirty="0"/>
          </a:p>
        </p:txBody>
      </p:sp>
      <p:pic>
        <p:nvPicPr>
          <p:cNvPr id="9" name="Image 1" descr="RNN and LSTM training and early-stopping loss; best epochs 9 and 6">    </p:cNvPr>
          <p:cNvPicPr>
            <a:picLocks noChangeAspect="1"/>
          </p:cNvPicPr>
          <p:nvPr/>
        </p:nvPicPr>
        <p:blipFill>
          <a:blip r:embed="rId2"/>
          <a:srcRect l="0" r="0" t="-94" b="-94"/>
          <a:stretch/>
        </p:blipFill>
        <p:spPr>
          <a:xfrm>
            <a:off x="7904480" y="2032000"/>
            <a:ext cx="3327400" cy="901700"/>
          </a:xfrm>
          <a:prstGeom prst="rect">
            <a:avLst/>
          </a:prstGeom>
        </p:spPr>
      </p:pic>
      <p:sp>
        <p:nvSpPr>
          <p:cNvPr id="10" name="Shape 6"/>
          <p:cNvSpPr/>
          <p:nvPr/>
        </p:nvSpPr>
        <p:spPr>
          <a:xfrm>
            <a:off x="7750175" y="3170560"/>
            <a:ext cx="3625850" cy="847090"/>
          </a:xfrm>
          <a:prstGeom prst="roundRect">
            <a:avLst>
              <a:gd name="adj" fmla="val 8621"/>
            </a:avLst>
          </a:prstGeom>
          <a:solidFill>
            <a:srgbClr val="FFFDF8"/>
          </a:solidFill>
          <a:ln w="6350">
            <a:solidFill>
              <a:srgbClr val="E3DACB"/>
            </a:solidFill>
            <a:prstDash val="solid"/>
          </a:ln>
        </p:spPr>
      </p:sp>
      <p:sp>
        <p:nvSpPr>
          <p:cNvPr id="11" name="Text 7"/>
          <p:cNvSpPr/>
          <p:nvPr/>
        </p:nvSpPr>
        <p:spPr>
          <a:xfrm>
            <a:off x="7904480" y="3286758"/>
            <a:ext cx="341675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0.929 °C</a:t>
            </a:r>
            <a:endParaRPr lang="en-US" sz="2800" dirty="0"/>
          </a:p>
        </p:txBody>
      </p:sp>
      <p:sp>
        <p:nvSpPr>
          <p:cNvPr id="12" name="Text 8"/>
          <p:cNvSpPr/>
          <p:nvPr/>
        </p:nvSpPr>
        <p:spPr>
          <a:xfrm>
            <a:off x="7904480" y="3703327"/>
            <a:ext cx="341675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LSTM on test; RNN 0.934, M2 0.940</a:t>
            </a:r>
            <a:endParaRPr lang="en-US" sz="1200" dirty="0"/>
          </a:p>
        </p:txBody>
      </p:sp>
      <p:sp>
        <p:nvSpPr>
          <p:cNvPr id="13" name="Shape 9"/>
          <p:cNvSpPr/>
          <p:nvPr/>
        </p:nvSpPr>
        <p:spPr>
          <a:xfrm>
            <a:off x="7747000" y="4122427"/>
            <a:ext cx="3632200" cy="1174115"/>
          </a:xfrm>
          <a:prstGeom prst="roundRect">
            <a:avLst>
              <a:gd name="adj" fmla="val 6490"/>
            </a:avLst>
          </a:prstGeom>
          <a:solidFill>
            <a:srgbClr val="14263A"/>
          </a:solidFill>
          <a:ln/>
        </p:spPr>
      </p:sp>
      <p:sp>
        <p:nvSpPr>
          <p:cNvPr id="14" name="Text 10"/>
          <p:cNvSpPr/>
          <p:nvPr/>
        </p:nvSpPr>
        <p:spPr>
          <a:xfrm>
            <a:off x="7899400" y="4249427"/>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1"/>
          <p:cNvSpPr/>
          <p:nvPr/>
        </p:nvSpPr>
        <p:spPr>
          <a:xfrm>
            <a:off x="7899400" y="4500885"/>
            <a:ext cx="3427222"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Only 0.011 °C apart. M2 stays: same accuracy, a reliable interval, every part explained.</a:t>
            </a:r>
            <a:endParaRPr lang="en-US" sz="1300" dirty="0"/>
          </a:p>
        </p:txBody>
      </p:sp>
      <p:sp>
        <p:nvSpPr>
          <p:cNvPr id="16" name="Text 1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3"/>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26 / 31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STEP 11 · MODEL COMPARISON, TEST 2023–2025</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Six models, all within 0.06 °C</a:t>
            </a:r>
            <a:endParaRPr lang="en-US" sz="3200" dirty="0"/>
          </a:p>
        </p:txBody>
      </p:sp>
      <p:sp>
        <p:nvSpPr>
          <p:cNvPr id="4" name="Shape 2"/>
          <p:cNvSpPr/>
          <p:nvPr/>
        </p:nvSpPr>
        <p:spPr>
          <a:xfrm>
            <a:off x="815975" y="1616075"/>
            <a:ext cx="10560050" cy="2833370"/>
          </a:xfrm>
          <a:prstGeom prst="roundRect">
            <a:avLst>
              <a:gd name="adj" fmla="val 2577"/>
            </a:avLst>
          </a:prstGeom>
          <a:solidFill>
            <a:srgbClr val="FFFDF8"/>
          </a:solidFill>
          <a:ln w="6350">
            <a:solidFill>
              <a:srgbClr val="E3DACB"/>
            </a:solidFill>
            <a:prstDash val="solid"/>
          </a:ln>
        </p:spPr>
      </p:sp>
      <p:sp>
        <p:nvSpPr>
          <p:cNvPr id="5" name="Text 3"/>
          <p:cNvSpPr/>
          <p:nvPr/>
        </p:nvSpPr>
        <p:spPr>
          <a:xfrm>
            <a:off x="970280" y="1744985"/>
            <a:ext cx="105589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27</a:t>
            </a:r>
            <a:r>
              <a:rPr lang="en-US" sz="1200" dirty="0">
                <a:solidFill>
                  <a:srgbClr val="5E6672"/>
                </a:solidFill>
                <a:latin typeface="IBM Plex Sans" pitchFamily="34" charset="0"/>
                <a:ea typeface="IBM Plex Sans" pitchFamily="34" charset="-122"/>
                <a:cs typeface="IBM Plex Sans" pitchFamily="34" charset="-120"/>
              </a:rPr>
              <a:t> · MAE and RMSE on the test years (lower is better; dashed line: persistence; red: chosen M2)</a:t>
            </a:r>
            <a:endParaRPr lang="en-US" sz="1200" dirty="0"/>
          </a:p>
        </p:txBody>
      </p:sp>
      <p:pic>
        <p:nvPicPr>
          <p:cNvPr id="6" name="Image 0" descr="Bar chart of MAE and RMSE for six models and two baselines; every model beats both baselines">    </p:cNvPr>
          <p:cNvPicPr>
            <a:picLocks noChangeAspect="1"/>
          </p:cNvPicPr>
          <p:nvPr/>
        </p:nvPicPr>
        <p:blipFill>
          <a:blip r:embed="rId1"/>
          <a:srcRect l="-24227" r="-24227" t="0" b="0"/>
          <a:stretch/>
        </p:blipFill>
        <p:spPr>
          <a:xfrm>
            <a:off x="970280" y="2034542"/>
            <a:ext cx="10261600" cy="2286000"/>
          </a:xfrm>
          <a:prstGeom prst="rect">
            <a:avLst/>
          </a:prstGeom>
        </p:spPr>
      </p:pic>
      <p:sp>
        <p:nvSpPr>
          <p:cNvPr id="7" name="Shape 4"/>
          <p:cNvSpPr/>
          <p:nvPr/>
        </p:nvSpPr>
        <p:spPr>
          <a:xfrm>
            <a:off x="815975" y="4633602"/>
            <a:ext cx="3431064" cy="1019810"/>
          </a:xfrm>
          <a:prstGeom prst="roundRect">
            <a:avLst>
              <a:gd name="adj" fmla="val 7161"/>
            </a:avLst>
          </a:prstGeom>
          <a:solidFill>
            <a:srgbClr val="FFFDF8"/>
          </a:solidFill>
          <a:ln w="6350">
            <a:solidFill>
              <a:srgbClr val="E3DACB"/>
            </a:solidFill>
            <a:prstDash val="solid"/>
          </a:ln>
        </p:spPr>
      </p:sp>
      <p:sp>
        <p:nvSpPr>
          <p:cNvPr id="8" name="Text 5"/>
          <p:cNvSpPr/>
          <p:nvPr/>
        </p:nvSpPr>
        <p:spPr>
          <a:xfrm>
            <a:off x="957580" y="4737100"/>
            <a:ext cx="32422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−9.5 %</a:t>
            </a:r>
            <a:endParaRPr lang="en-US" sz="2800" dirty="0"/>
          </a:p>
        </p:txBody>
      </p:sp>
      <p:sp>
        <p:nvSpPr>
          <p:cNvPr id="9" name="Text 6"/>
          <p:cNvSpPr/>
          <p:nvPr/>
        </p:nvSpPr>
        <p:spPr>
          <a:xfrm>
            <a:off x="957580" y="5153658"/>
            <a:ext cx="324228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M2 vs persistence; LSTM −10.5 %, no season −5.2 %</a:t>
            </a:r>
            <a:endParaRPr lang="en-US" sz="1200" dirty="0"/>
          </a:p>
        </p:txBody>
      </p:sp>
      <p:sp>
        <p:nvSpPr>
          <p:cNvPr id="10" name="Shape 7"/>
          <p:cNvSpPr/>
          <p:nvPr/>
        </p:nvSpPr>
        <p:spPr>
          <a:xfrm>
            <a:off x="4380389" y="4633602"/>
            <a:ext cx="3431143"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4521994" y="4737100"/>
            <a:ext cx="3242371"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1.54 °C</a:t>
            </a:r>
            <a:endParaRPr lang="en-US" sz="2800" dirty="0"/>
          </a:p>
        </p:txBody>
      </p:sp>
      <p:sp>
        <p:nvSpPr>
          <p:cNvPr id="12" name="Text 9"/>
          <p:cNvSpPr/>
          <p:nvPr/>
        </p:nvSpPr>
        <p:spPr>
          <a:xfrm>
            <a:off x="4521994" y="5153658"/>
            <a:ext cx="328636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persistence wins the 35 event days (M2 1.90)</a:t>
            </a:r>
            <a:endParaRPr lang="en-US" sz="1200" dirty="0"/>
          </a:p>
        </p:txBody>
      </p:sp>
      <p:sp>
        <p:nvSpPr>
          <p:cNvPr id="13" name="Shape 10"/>
          <p:cNvSpPr/>
          <p:nvPr/>
        </p:nvSpPr>
        <p:spPr>
          <a:xfrm>
            <a:off x="7941707" y="4630427"/>
            <a:ext cx="3437493" cy="1026160"/>
          </a:xfrm>
          <a:prstGeom prst="roundRect">
            <a:avLst>
              <a:gd name="adj" fmla="val 7426"/>
            </a:avLst>
          </a:prstGeom>
          <a:solidFill>
            <a:srgbClr val="14263A"/>
          </a:solidFill>
          <a:ln/>
        </p:spPr>
      </p:sp>
      <p:sp>
        <p:nvSpPr>
          <p:cNvPr id="14" name="Text 11"/>
          <p:cNvSpPr/>
          <p:nvPr/>
        </p:nvSpPr>
        <p:spPr>
          <a:xfrm>
            <a:off x="8081407" y="4732027"/>
            <a:ext cx="325283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2"/>
          <p:cNvSpPr/>
          <p:nvPr/>
        </p:nvSpPr>
        <p:spPr>
          <a:xfrm>
            <a:off x="8081407" y="4983485"/>
            <a:ext cx="3252836"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The season matters most; the model type barely does.</a:t>
            </a:r>
            <a:endParaRPr lang="en-US" sz="1300" dirty="0"/>
          </a:p>
        </p:txBody>
      </p:sp>
      <p:sp>
        <p:nvSpPr>
          <p:cNvPr id="16"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4"/>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27 / 31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4 VS TASK 5 · THE SIX QUESTIONS</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Six questions, answered twice</a:t>
            </a:r>
            <a:endParaRPr lang="en-US" sz="3200" dirty="0"/>
          </a:p>
        </p:txBody>
      </p:sp>
      <p:sp>
        <p:nvSpPr>
          <p:cNvPr id="4" name="Shape 2"/>
          <p:cNvSpPr/>
          <p:nvPr/>
        </p:nvSpPr>
        <p:spPr>
          <a:xfrm>
            <a:off x="815975" y="1641475"/>
            <a:ext cx="3448050" cy="1318260"/>
          </a:xfrm>
          <a:prstGeom prst="roundRect">
            <a:avLst>
              <a:gd name="adj" fmla="val 5539"/>
            </a:avLst>
          </a:prstGeom>
          <a:solidFill>
            <a:srgbClr val="FFFDF8"/>
          </a:solidFill>
          <a:ln w="6350">
            <a:solidFill>
              <a:srgbClr val="E3DACB"/>
            </a:solidFill>
            <a:prstDash val="solid"/>
          </a:ln>
        </p:spPr>
      </p:sp>
      <p:sp>
        <p:nvSpPr>
          <p:cNvPr id="5" name="Text 3"/>
          <p:cNvSpPr/>
          <p:nvPr/>
        </p:nvSpPr>
        <p:spPr>
          <a:xfrm>
            <a:off x="957580" y="1744985"/>
            <a:ext cx="5855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H1</a:t>
            </a:r>
            <a:endParaRPr lang="en-US" sz="2800" dirty="0"/>
          </a:p>
        </p:txBody>
      </p:sp>
      <p:sp>
        <p:nvSpPr>
          <p:cNvPr id="6" name="Text 4"/>
          <p:cNvSpPr/>
          <p:nvPr/>
        </p:nvSpPr>
        <p:spPr>
          <a:xfrm>
            <a:off x="3168491" y="1808485"/>
            <a:ext cx="953929" cy="264160"/>
          </a:xfrm>
          <a:custGeom>
            <a:avLst/>
            <a:gdLst/>
            <a:ahLst/>
            <a:cxnLst/>
            <a:rect l="l" t="t" r="r" b="b"/>
            <a:pathLst>
              <a:path w="953929" h="264160">
                <a:moveTo>
                  <a:pt x="127000" y="0"/>
                </a:moveTo>
                <a:lnTo>
                  <a:pt x="826929" y="0"/>
                </a:lnTo>
                <a:arcTo hR="127000" wR="127000" stAng="16200000" swAng="5400000"/>
                <a:lnTo>
                  <a:pt x="953929" y="137160"/>
                </a:lnTo>
                <a:arcTo hR="127000" wR="127000" stAng="0" swAng="5400000"/>
                <a:lnTo>
                  <a:pt x="127000" y="264160"/>
                </a:lnTo>
                <a:arcTo hR="127000" wR="127000" stAng="5400000" swAng="5400000"/>
                <a:lnTo>
                  <a:pt x="0" y="127000"/>
                </a:lnTo>
                <a:arcTo hR="127000" wR="127000" stAng="10800000" swAng="5400000"/>
                <a:close/>
              </a:path>
            </a:pathLst>
          </a:custGeom>
          <a:solidFill>
            <a:srgbClr val="2563B0"/>
          </a:solidFill>
          <a:ln/>
        </p:spPr>
        <p:txBody>
          <a:bodyPr wrap="none" lIns="0" tIns="0" rIns="0" bIns="0" rtlCol="0" anchor="ctr">
            <a:normAutofit/>
          </a:bodyPr>
          <a:lstStyle/>
          <a:p>
            <a:pPr algn="ctr" indent="0" marL="0">
              <a:lnSpc>
                <a:spcPts val="1680"/>
              </a:lnSpc>
              <a:buNone/>
            </a:pPr>
            <a:r>
              <a:rPr lang="en-US" sz="1200" b="1" dirty="0">
                <a:solidFill>
                  <a:srgbClr val="FFFDF8"/>
                </a:solidFill>
                <a:latin typeface="IBM Plex Sans" pitchFamily="34" charset="0"/>
                <a:ea typeface="IBM Plex Sans" pitchFamily="34" charset="-122"/>
                <a:cs typeface="IBM Plex Sans" pitchFamily="34" charset="-120"/>
              </a:rPr>
              <a:t>Confirmed</a:t>
            </a:r>
            <a:endParaRPr lang="en-US" sz="1200" dirty="0"/>
          </a:p>
        </p:txBody>
      </p:sp>
      <p:sp>
        <p:nvSpPr>
          <p:cNvPr id="7" name="Text 5"/>
          <p:cNvSpPr/>
          <p:nvPr/>
        </p:nvSpPr>
        <p:spPr>
          <a:xfrm>
            <a:off x="957580" y="2174242"/>
            <a:ext cx="330327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nights +0.41, days +0.23 °C a decade</a:t>
            </a:r>
            <a:endParaRPr lang="en-US" sz="1200" dirty="0"/>
          </a:p>
        </p:txBody>
      </p:sp>
      <p:sp>
        <p:nvSpPr>
          <p:cNvPr id="8" name="Text 6"/>
          <p:cNvSpPr/>
          <p:nvPr/>
        </p:nvSpPr>
        <p:spPr>
          <a:xfrm>
            <a:off x="957580" y="2410458"/>
            <a:ext cx="325978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Task 5:</a:t>
            </a:r>
            <a:r>
              <a:rPr lang="en-US" sz="1300" dirty="0">
                <a:solidFill>
                  <a:srgbClr val="1B2733"/>
                </a:solidFill>
                <a:latin typeface="IBM Plex Sans" pitchFamily="34" charset="0"/>
                <a:ea typeface="IBM Plex Sans" pitchFamily="34" charset="-122"/>
                <a:cs typeface="IBM Plex Sans" pitchFamily="34" charset="-120"/>
              </a:rPr>
              <a:t> trend learned, yet 0.13 °C too cold on 2023–25</a:t>
            </a:r>
            <a:endParaRPr lang="en-US" sz="1300" dirty="0"/>
          </a:p>
        </p:txBody>
      </p:sp>
      <p:sp>
        <p:nvSpPr>
          <p:cNvPr id="9" name="Shape 7"/>
          <p:cNvSpPr/>
          <p:nvPr/>
        </p:nvSpPr>
        <p:spPr>
          <a:xfrm>
            <a:off x="4371975" y="1641475"/>
            <a:ext cx="3448050" cy="1318260"/>
          </a:xfrm>
          <a:prstGeom prst="roundRect">
            <a:avLst>
              <a:gd name="adj" fmla="val 5539"/>
            </a:avLst>
          </a:prstGeom>
          <a:solidFill>
            <a:srgbClr val="FFFDF8"/>
          </a:solidFill>
          <a:ln w="6350">
            <a:solidFill>
              <a:srgbClr val="E3DACB"/>
            </a:solidFill>
            <a:prstDash val="solid"/>
          </a:ln>
        </p:spPr>
      </p:sp>
      <p:sp>
        <p:nvSpPr>
          <p:cNvPr id="10" name="Text 8"/>
          <p:cNvSpPr/>
          <p:nvPr/>
        </p:nvSpPr>
        <p:spPr>
          <a:xfrm>
            <a:off x="4513580" y="1744985"/>
            <a:ext cx="5855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H2</a:t>
            </a:r>
            <a:endParaRPr lang="en-US" sz="2800" dirty="0"/>
          </a:p>
        </p:txBody>
      </p:sp>
      <p:sp>
        <p:nvSpPr>
          <p:cNvPr id="11" name="Text 9"/>
          <p:cNvSpPr/>
          <p:nvPr/>
        </p:nvSpPr>
        <p:spPr>
          <a:xfrm>
            <a:off x="6497082" y="1808485"/>
            <a:ext cx="1181338" cy="264160"/>
          </a:xfrm>
          <a:custGeom>
            <a:avLst/>
            <a:gdLst/>
            <a:ahLst/>
            <a:cxnLst/>
            <a:rect l="l" t="t" r="r" b="b"/>
            <a:pathLst>
              <a:path w="1181338" h="264160">
                <a:moveTo>
                  <a:pt x="127000" y="0"/>
                </a:moveTo>
                <a:lnTo>
                  <a:pt x="1054338" y="0"/>
                </a:lnTo>
                <a:arcTo hR="127000" wR="127000" stAng="16200000" swAng="5400000"/>
                <a:lnTo>
                  <a:pt x="1181338" y="137160"/>
                </a:lnTo>
                <a:arcTo hR="127000" wR="127000" stAng="0" swAng="5400000"/>
                <a:lnTo>
                  <a:pt x="127000" y="264160"/>
                </a:lnTo>
                <a:arcTo hR="127000" wR="127000" stAng="5400000" swAng="5400000"/>
                <a:lnTo>
                  <a:pt x="0" y="127000"/>
                </a:lnTo>
                <a:arcTo hR="127000" wR="127000" stAng="10800000" swAng="5400000"/>
                <a:close/>
              </a:path>
            </a:pathLst>
          </a:custGeom>
          <a:solidFill>
            <a:srgbClr val="C4501F"/>
          </a:solidFill>
          <a:ln/>
        </p:spPr>
        <p:txBody>
          <a:bodyPr wrap="none" lIns="0" tIns="0" rIns="0" bIns="0" rtlCol="0" anchor="ctr">
            <a:normAutofit/>
          </a:bodyPr>
          <a:lstStyle/>
          <a:p>
            <a:pPr algn="ctr" indent="0" marL="0">
              <a:lnSpc>
                <a:spcPts val="1680"/>
              </a:lnSpc>
              <a:buNone/>
            </a:pPr>
            <a:r>
              <a:rPr lang="en-US" sz="1200" b="1" dirty="0">
                <a:solidFill>
                  <a:srgbClr val="FFFDF8"/>
                </a:solidFill>
                <a:latin typeface="IBM Plex Sans" pitchFamily="34" charset="0"/>
                <a:ea typeface="IBM Plex Sans" pitchFamily="34" charset="-122"/>
                <a:cs typeface="IBM Plex Sans" pitchFamily="34" charset="-120"/>
              </a:rPr>
              <a:t>Strengthened</a:t>
            </a:r>
            <a:endParaRPr lang="en-US" sz="1200" dirty="0"/>
          </a:p>
        </p:txBody>
      </p:sp>
      <p:sp>
        <p:nvSpPr>
          <p:cNvPr id="12" name="Text 10"/>
          <p:cNvSpPr/>
          <p:nvPr/>
        </p:nvSpPr>
        <p:spPr>
          <a:xfrm>
            <a:off x="4513580" y="2174242"/>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partly; 2023–24 the most extreme</a:t>
            </a:r>
            <a:endParaRPr lang="en-US" sz="1200" dirty="0"/>
          </a:p>
        </p:txBody>
      </p:sp>
      <p:sp>
        <p:nvSpPr>
          <p:cNvPr id="13" name="Text 11"/>
          <p:cNvSpPr/>
          <p:nvPr/>
        </p:nvSpPr>
        <p:spPr>
          <a:xfrm>
            <a:off x="4513580" y="2410458"/>
            <a:ext cx="325978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Task 5:</a:t>
            </a:r>
            <a:r>
              <a:rPr lang="en-US" sz="1300" dirty="0">
                <a:solidFill>
                  <a:srgbClr val="1B2733"/>
                </a:solidFill>
                <a:latin typeface="IBM Plex Sans" pitchFamily="34" charset="0"/>
                <a:ea typeface="IBM Plex Sans" pitchFamily="34" charset="-122"/>
                <a:cs typeface="IBM Plex Sans" pitchFamily="34" charset="-120"/>
              </a:rPr>
              <a:t> 17.2 → 31.0 very hot days a year; warnable ahead</a:t>
            </a:r>
            <a:endParaRPr lang="en-US" sz="1300" dirty="0"/>
          </a:p>
        </p:txBody>
      </p:sp>
      <p:sp>
        <p:nvSpPr>
          <p:cNvPr id="14" name="Shape 12"/>
          <p:cNvSpPr/>
          <p:nvPr/>
        </p:nvSpPr>
        <p:spPr>
          <a:xfrm>
            <a:off x="7927975" y="1641475"/>
            <a:ext cx="3448050" cy="1318260"/>
          </a:xfrm>
          <a:prstGeom prst="roundRect">
            <a:avLst>
              <a:gd name="adj" fmla="val 5539"/>
            </a:avLst>
          </a:prstGeom>
          <a:solidFill>
            <a:srgbClr val="FFFDF8"/>
          </a:solidFill>
          <a:ln w="6350">
            <a:solidFill>
              <a:srgbClr val="E3DACB"/>
            </a:solidFill>
            <a:prstDash val="solid"/>
          </a:ln>
        </p:spPr>
      </p:sp>
      <p:sp>
        <p:nvSpPr>
          <p:cNvPr id="15" name="Text 13"/>
          <p:cNvSpPr/>
          <p:nvPr/>
        </p:nvSpPr>
        <p:spPr>
          <a:xfrm>
            <a:off x="8069580" y="1744985"/>
            <a:ext cx="5855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H3</a:t>
            </a:r>
            <a:endParaRPr lang="en-US" sz="2800" dirty="0"/>
          </a:p>
        </p:txBody>
      </p:sp>
      <p:sp>
        <p:nvSpPr>
          <p:cNvPr id="16" name="Text 14"/>
          <p:cNvSpPr/>
          <p:nvPr/>
        </p:nvSpPr>
        <p:spPr>
          <a:xfrm>
            <a:off x="10670302" y="1808485"/>
            <a:ext cx="564118" cy="264160"/>
          </a:xfrm>
          <a:custGeom>
            <a:avLst/>
            <a:gdLst/>
            <a:ahLst/>
            <a:cxnLst/>
            <a:rect l="l" t="t" r="r" b="b"/>
            <a:pathLst>
              <a:path w="564118" h="264160">
                <a:moveTo>
                  <a:pt x="127000" y="0"/>
                </a:moveTo>
                <a:lnTo>
                  <a:pt x="437118" y="0"/>
                </a:lnTo>
                <a:arcTo hR="127000" wR="127000" stAng="16200000" swAng="5400000"/>
                <a:lnTo>
                  <a:pt x="564118" y="137160"/>
                </a:lnTo>
                <a:arcTo hR="127000" wR="127000" stAng="0" swAng="5400000"/>
                <a:lnTo>
                  <a:pt x="127000" y="264160"/>
                </a:lnTo>
                <a:arcTo hR="127000" wR="127000" stAng="5400000" swAng="5400000"/>
                <a:lnTo>
                  <a:pt x="0" y="127000"/>
                </a:lnTo>
                <a:arcTo hR="127000" wR="127000" stAng="10800000" swAng="5400000"/>
                <a:close/>
              </a:path>
            </a:pathLst>
          </a:custGeom>
          <a:solidFill>
            <a:srgbClr val="E3DACB"/>
          </a:solidFill>
          <a:ln/>
        </p:spPr>
        <p:txBody>
          <a:bodyPr wrap="none" lIns="0" tIns="0" rIns="0" bIns="0" rtlCol="0" anchor="ctr">
            <a:normAutofit/>
          </a:bodyPr>
          <a:lstStyle/>
          <a:p>
            <a:pPr algn="ctr"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Used</a:t>
            </a:r>
            <a:endParaRPr lang="en-US" sz="1200" dirty="0"/>
          </a:p>
        </p:txBody>
      </p:sp>
      <p:sp>
        <p:nvSpPr>
          <p:cNvPr id="17" name="Text 15"/>
          <p:cNvSpPr/>
          <p:nvPr/>
        </p:nvSpPr>
        <p:spPr>
          <a:xfrm>
            <a:off x="8069580" y="2174242"/>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most likely a data change</a:t>
            </a:r>
            <a:endParaRPr lang="en-US" sz="1200" dirty="0"/>
          </a:p>
        </p:txBody>
      </p:sp>
      <p:sp>
        <p:nvSpPr>
          <p:cNvPr id="18" name="Text 16"/>
          <p:cNvSpPr/>
          <p:nvPr/>
        </p:nvSpPr>
        <p:spPr>
          <a:xfrm>
            <a:off x="8069580" y="2410458"/>
            <a:ext cx="325978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Task 5:</a:t>
            </a:r>
            <a:r>
              <a:rPr lang="en-US" sz="1300" dirty="0">
                <a:solidFill>
                  <a:srgbClr val="1B2733"/>
                </a:solidFill>
                <a:latin typeface="IBM Plex Sans" pitchFamily="34" charset="0"/>
                <a:ea typeface="IBM Plex Sans" pitchFamily="34" charset="-122"/>
                <a:cs typeface="IBM Plex Sans" pitchFamily="34" charset="-120"/>
              </a:rPr>
              <a:t> rain and storms use 2016–2025 only</a:t>
            </a:r>
            <a:endParaRPr lang="en-US" sz="1300" dirty="0"/>
          </a:p>
        </p:txBody>
      </p:sp>
      <p:sp>
        <p:nvSpPr>
          <p:cNvPr id="19" name="Shape 17"/>
          <p:cNvSpPr/>
          <p:nvPr/>
        </p:nvSpPr>
        <p:spPr>
          <a:xfrm>
            <a:off x="815975" y="3067683"/>
            <a:ext cx="3448050" cy="1318260"/>
          </a:xfrm>
          <a:prstGeom prst="roundRect">
            <a:avLst>
              <a:gd name="adj" fmla="val 5539"/>
            </a:avLst>
          </a:prstGeom>
          <a:solidFill>
            <a:srgbClr val="FFFDF8"/>
          </a:solidFill>
          <a:ln w="6350">
            <a:solidFill>
              <a:srgbClr val="E3DACB"/>
            </a:solidFill>
            <a:prstDash val="solid"/>
          </a:ln>
        </p:spPr>
      </p:sp>
      <p:sp>
        <p:nvSpPr>
          <p:cNvPr id="20" name="Text 18"/>
          <p:cNvSpPr/>
          <p:nvPr/>
        </p:nvSpPr>
        <p:spPr>
          <a:xfrm>
            <a:off x="957580" y="3171192"/>
            <a:ext cx="5855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H4</a:t>
            </a:r>
            <a:endParaRPr lang="en-US" sz="2800" dirty="0"/>
          </a:p>
        </p:txBody>
      </p:sp>
      <p:sp>
        <p:nvSpPr>
          <p:cNvPr id="21" name="Text 19"/>
          <p:cNvSpPr/>
          <p:nvPr/>
        </p:nvSpPr>
        <p:spPr>
          <a:xfrm>
            <a:off x="3168491" y="3234692"/>
            <a:ext cx="953929" cy="264160"/>
          </a:xfrm>
          <a:custGeom>
            <a:avLst/>
            <a:gdLst/>
            <a:ahLst/>
            <a:cxnLst/>
            <a:rect l="l" t="t" r="r" b="b"/>
            <a:pathLst>
              <a:path w="953929" h="264160">
                <a:moveTo>
                  <a:pt x="127000" y="0"/>
                </a:moveTo>
                <a:lnTo>
                  <a:pt x="826929" y="0"/>
                </a:lnTo>
                <a:arcTo hR="127000" wR="127000" stAng="16200000" swAng="5400000"/>
                <a:lnTo>
                  <a:pt x="953929" y="137160"/>
                </a:lnTo>
                <a:arcTo hR="127000" wR="127000" stAng="0" swAng="5400000"/>
                <a:lnTo>
                  <a:pt x="127000" y="264160"/>
                </a:lnTo>
                <a:arcTo hR="127000" wR="127000" stAng="5400000" swAng="5400000"/>
                <a:lnTo>
                  <a:pt x="0" y="127000"/>
                </a:lnTo>
                <a:arcTo hR="127000" wR="127000" stAng="10800000" swAng="5400000"/>
                <a:close/>
              </a:path>
            </a:pathLst>
          </a:custGeom>
          <a:solidFill>
            <a:srgbClr val="2563B0"/>
          </a:solidFill>
          <a:ln/>
        </p:spPr>
        <p:txBody>
          <a:bodyPr wrap="none" lIns="0" tIns="0" rIns="0" bIns="0" rtlCol="0" anchor="ctr">
            <a:normAutofit/>
          </a:bodyPr>
          <a:lstStyle/>
          <a:p>
            <a:pPr algn="ctr" indent="0" marL="0">
              <a:lnSpc>
                <a:spcPts val="1680"/>
              </a:lnSpc>
              <a:buNone/>
            </a:pPr>
            <a:r>
              <a:rPr lang="en-US" sz="1200" b="1" dirty="0">
                <a:solidFill>
                  <a:srgbClr val="FFFDF8"/>
                </a:solidFill>
                <a:latin typeface="IBM Plex Sans" pitchFamily="34" charset="0"/>
                <a:ea typeface="IBM Plex Sans" pitchFamily="34" charset="-122"/>
                <a:cs typeface="IBM Plex Sans" pitchFamily="34" charset="-120"/>
              </a:rPr>
              <a:t>Confirmed</a:t>
            </a:r>
            <a:endParaRPr lang="en-US" sz="1200" dirty="0"/>
          </a:p>
        </p:txBody>
      </p:sp>
      <p:sp>
        <p:nvSpPr>
          <p:cNvPr id="22" name="Text 20"/>
          <p:cNvSpPr/>
          <p:nvPr/>
        </p:nvSpPr>
        <p:spPr>
          <a:xfrm>
            <a:off x="957580" y="3600450"/>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yes, slowly; 2022 still cold</a:t>
            </a:r>
            <a:endParaRPr lang="en-US" sz="1200" dirty="0"/>
          </a:p>
        </p:txBody>
      </p:sp>
      <p:sp>
        <p:nvSpPr>
          <p:cNvPr id="23" name="Text 21"/>
          <p:cNvSpPr/>
          <p:nvPr/>
        </p:nvSpPr>
        <p:spPr>
          <a:xfrm>
            <a:off x="957580" y="3836677"/>
            <a:ext cx="325978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Task 5:</a:t>
            </a:r>
            <a:r>
              <a:rPr lang="en-US" sz="1300" dirty="0">
                <a:solidFill>
                  <a:srgbClr val="1B2733"/>
                </a:solidFill>
                <a:latin typeface="IBM Plex Sans" pitchFamily="34" charset="0"/>
                <a:ea typeface="IBM Plex Sans" pitchFamily="34" charset="-122"/>
                <a:cs typeface="IBM Plex Sans" pitchFamily="34" charset="-120"/>
              </a:rPr>
              <a:t> cold nights 18.1 → 21.0 → 9.7 a year</a:t>
            </a:r>
            <a:endParaRPr lang="en-US" sz="1300" dirty="0"/>
          </a:p>
        </p:txBody>
      </p:sp>
      <p:sp>
        <p:nvSpPr>
          <p:cNvPr id="24" name="Shape 22"/>
          <p:cNvSpPr/>
          <p:nvPr/>
        </p:nvSpPr>
        <p:spPr>
          <a:xfrm>
            <a:off x="4371975" y="3067683"/>
            <a:ext cx="3448050" cy="1318260"/>
          </a:xfrm>
          <a:prstGeom prst="roundRect">
            <a:avLst>
              <a:gd name="adj" fmla="val 5539"/>
            </a:avLst>
          </a:prstGeom>
          <a:solidFill>
            <a:srgbClr val="FFFDF8"/>
          </a:solidFill>
          <a:ln w="6350">
            <a:solidFill>
              <a:srgbClr val="E3DACB"/>
            </a:solidFill>
            <a:prstDash val="solid"/>
          </a:ln>
        </p:spPr>
      </p:sp>
      <p:sp>
        <p:nvSpPr>
          <p:cNvPr id="25" name="Text 23"/>
          <p:cNvSpPr/>
          <p:nvPr/>
        </p:nvSpPr>
        <p:spPr>
          <a:xfrm>
            <a:off x="4513580" y="3171192"/>
            <a:ext cx="5855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H5</a:t>
            </a:r>
            <a:endParaRPr lang="en-US" sz="2800" dirty="0"/>
          </a:p>
        </p:txBody>
      </p:sp>
      <p:sp>
        <p:nvSpPr>
          <p:cNvPr id="26" name="Text 24"/>
          <p:cNvSpPr/>
          <p:nvPr/>
        </p:nvSpPr>
        <p:spPr>
          <a:xfrm>
            <a:off x="6921341" y="3234692"/>
            <a:ext cx="757079" cy="264160"/>
          </a:xfrm>
          <a:custGeom>
            <a:avLst/>
            <a:gdLst/>
            <a:ahLst/>
            <a:cxnLst/>
            <a:rect l="l" t="t" r="r" b="b"/>
            <a:pathLst>
              <a:path w="757079" h="264160">
                <a:moveTo>
                  <a:pt x="127000" y="0"/>
                </a:moveTo>
                <a:lnTo>
                  <a:pt x="630079" y="0"/>
                </a:lnTo>
                <a:arcTo hR="127000" wR="127000" stAng="16200000" swAng="5400000"/>
                <a:lnTo>
                  <a:pt x="757079" y="137160"/>
                </a:lnTo>
                <a:arcTo hR="127000" wR="127000" stAng="0" swAng="5400000"/>
                <a:lnTo>
                  <a:pt x="127000" y="264160"/>
                </a:lnTo>
                <a:arcTo hR="127000" wR="127000" stAng="5400000" swAng="5400000"/>
                <a:lnTo>
                  <a:pt x="0" y="127000"/>
                </a:lnTo>
                <a:arcTo hR="127000" wR="127000" stAng="10800000" swAng="5400000"/>
                <a:close/>
              </a:path>
            </a:pathLst>
          </a:custGeom>
          <a:solidFill>
            <a:srgbClr val="C4501F"/>
          </a:solidFill>
          <a:ln/>
        </p:spPr>
        <p:txBody>
          <a:bodyPr wrap="none" lIns="0" tIns="0" rIns="0" bIns="0" rtlCol="0" anchor="ctr">
            <a:normAutofit/>
          </a:bodyPr>
          <a:lstStyle/>
          <a:p>
            <a:pPr algn="ctr" indent="0" marL="0">
              <a:lnSpc>
                <a:spcPts val="1680"/>
              </a:lnSpc>
              <a:buNone/>
            </a:pPr>
            <a:r>
              <a:rPr lang="en-US" sz="1200" b="1" dirty="0">
                <a:solidFill>
                  <a:srgbClr val="FFFDF8"/>
                </a:solidFill>
                <a:latin typeface="IBM Plex Sans" pitchFamily="34" charset="0"/>
                <a:ea typeface="IBM Plex Sans" pitchFamily="34" charset="-122"/>
                <a:cs typeface="IBM Plex Sans" pitchFamily="34" charset="-120"/>
              </a:rPr>
              <a:t>Refined</a:t>
            </a:r>
            <a:endParaRPr lang="en-US" sz="1200" dirty="0"/>
          </a:p>
        </p:txBody>
      </p:sp>
      <p:sp>
        <p:nvSpPr>
          <p:cNvPr id="27" name="Text 25"/>
          <p:cNvSpPr/>
          <p:nvPr/>
        </p:nvSpPr>
        <p:spPr>
          <a:xfrm>
            <a:off x="4513580" y="3600450"/>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partly; storms give no warning</a:t>
            </a:r>
            <a:endParaRPr lang="en-US" sz="1200" dirty="0"/>
          </a:p>
        </p:txBody>
      </p:sp>
      <p:sp>
        <p:nvSpPr>
          <p:cNvPr id="28" name="Text 26"/>
          <p:cNvSpPr/>
          <p:nvPr/>
        </p:nvSpPr>
        <p:spPr>
          <a:xfrm>
            <a:off x="4513580" y="3836677"/>
            <a:ext cx="325978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Task 5:</a:t>
            </a:r>
            <a:r>
              <a:rPr lang="en-US" sz="1300" dirty="0">
                <a:solidFill>
                  <a:srgbClr val="1B2733"/>
                </a:solidFill>
                <a:latin typeface="IBM Plex Sans" pitchFamily="34" charset="0"/>
                <a:ea typeface="IBM Plex Sans" pitchFamily="34" charset="-122"/>
                <a:cs typeface="IBM Plex Sans" pitchFamily="34" charset="-120"/>
              </a:rPr>
              <a:t> rain + falling pressure → 20.4 %; dry days: none</a:t>
            </a:r>
            <a:endParaRPr lang="en-US" sz="1300" dirty="0"/>
          </a:p>
        </p:txBody>
      </p:sp>
      <p:sp>
        <p:nvSpPr>
          <p:cNvPr id="29" name="Shape 27"/>
          <p:cNvSpPr/>
          <p:nvPr/>
        </p:nvSpPr>
        <p:spPr>
          <a:xfrm>
            <a:off x="7927975" y="3067683"/>
            <a:ext cx="3448050" cy="1318260"/>
          </a:xfrm>
          <a:prstGeom prst="roundRect">
            <a:avLst>
              <a:gd name="adj" fmla="val 5539"/>
            </a:avLst>
          </a:prstGeom>
          <a:solidFill>
            <a:srgbClr val="FFFDF8"/>
          </a:solidFill>
          <a:ln w="6350">
            <a:solidFill>
              <a:srgbClr val="E3DACB"/>
            </a:solidFill>
            <a:prstDash val="solid"/>
          </a:ln>
        </p:spPr>
      </p:sp>
      <p:sp>
        <p:nvSpPr>
          <p:cNvPr id="30" name="Text 28"/>
          <p:cNvSpPr/>
          <p:nvPr/>
        </p:nvSpPr>
        <p:spPr>
          <a:xfrm>
            <a:off x="8069580" y="3171192"/>
            <a:ext cx="5855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H6</a:t>
            </a:r>
            <a:endParaRPr lang="en-US" sz="2800" dirty="0"/>
          </a:p>
        </p:txBody>
      </p:sp>
      <p:sp>
        <p:nvSpPr>
          <p:cNvPr id="31" name="Text 29"/>
          <p:cNvSpPr/>
          <p:nvPr/>
        </p:nvSpPr>
        <p:spPr>
          <a:xfrm>
            <a:off x="10152936" y="3234692"/>
            <a:ext cx="1081484" cy="264160"/>
          </a:xfrm>
          <a:custGeom>
            <a:avLst/>
            <a:gdLst/>
            <a:ahLst/>
            <a:cxnLst/>
            <a:rect l="l" t="t" r="r" b="b"/>
            <a:pathLst>
              <a:path w="1081484" h="264160">
                <a:moveTo>
                  <a:pt x="127000" y="0"/>
                </a:moveTo>
                <a:lnTo>
                  <a:pt x="954484" y="0"/>
                </a:lnTo>
                <a:arcTo hR="127000" wR="127000" stAng="16200000" swAng="5400000"/>
                <a:lnTo>
                  <a:pt x="1081484" y="137160"/>
                </a:lnTo>
                <a:arcTo hR="127000" wR="127000" stAng="0" swAng="5400000"/>
                <a:lnTo>
                  <a:pt x="127000" y="264160"/>
                </a:lnTo>
                <a:arcTo hR="127000" wR="127000" stAng="5400000" swAng="5400000"/>
                <a:lnTo>
                  <a:pt x="0" y="127000"/>
                </a:lnTo>
                <a:arcTo hR="127000" wR="127000" stAng="10800000" swAng="5400000"/>
                <a:close/>
              </a:path>
            </a:pathLst>
          </a:custGeom>
          <a:solidFill>
            <a:srgbClr val="E3DACB"/>
          </a:solidFill>
          <a:ln/>
        </p:spPr>
        <p:txBody>
          <a:bodyPr wrap="none" lIns="0" tIns="0" rIns="0" bIns="0" rtlCol="0" anchor="ctr">
            <a:normAutofit/>
          </a:bodyPr>
          <a:lstStyle/>
          <a:p>
            <a:pPr algn="ctr"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Not testable</a:t>
            </a:r>
            <a:endParaRPr lang="en-US" sz="1200" dirty="0"/>
          </a:p>
        </p:txBody>
      </p:sp>
      <p:sp>
        <p:nvSpPr>
          <p:cNvPr id="32" name="Text 30"/>
          <p:cNvSpPr/>
          <p:nvPr/>
        </p:nvSpPr>
        <p:spPr>
          <a:xfrm>
            <a:off x="8069580" y="3600450"/>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Task 4: yes; hot, dry, south wind</a:t>
            </a:r>
            <a:endParaRPr lang="en-US" sz="1200" dirty="0"/>
          </a:p>
        </p:txBody>
      </p:sp>
      <p:sp>
        <p:nvSpPr>
          <p:cNvPr id="33" name="Text 31"/>
          <p:cNvSpPr/>
          <p:nvPr/>
        </p:nvSpPr>
        <p:spPr>
          <a:xfrm>
            <a:off x="8069580" y="3836677"/>
            <a:ext cx="325978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733"/>
                </a:solidFill>
                <a:latin typeface="IBM Plex Sans" pitchFamily="34" charset="0"/>
                <a:ea typeface="IBM Plex Sans" pitchFamily="34" charset="-122"/>
                <a:cs typeface="IBM Plex Sans" pitchFamily="34" charset="-120"/>
              </a:rPr>
              <a:t>Task 5:</a:t>
            </a:r>
            <a:r>
              <a:rPr lang="en-US" sz="1300" dirty="0">
                <a:solidFill>
                  <a:srgbClr val="1B2733"/>
                </a:solidFill>
                <a:latin typeface="IBM Plex Sans" pitchFamily="34" charset="0"/>
                <a:ea typeface="IBM Plex Sans" pitchFamily="34" charset="-122"/>
                <a:cs typeface="IBM Plex Sans" pitchFamily="34" charset="-120"/>
              </a:rPr>
              <a:t> no wind direction after 2012; similar pattern</a:t>
            </a:r>
            <a:endParaRPr lang="en-US" sz="1300" dirty="0"/>
          </a:p>
        </p:txBody>
      </p:sp>
      <p:sp>
        <p:nvSpPr>
          <p:cNvPr id="34" name="Shape 32"/>
          <p:cNvSpPr/>
          <p:nvPr/>
        </p:nvSpPr>
        <p:spPr>
          <a:xfrm>
            <a:off x="812800" y="4592327"/>
            <a:ext cx="10566400" cy="476885"/>
          </a:xfrm>
          <a:prstGeom prst="roundRect">
            <a:avLst>
              <a:gd name="adj" fmla="val 15979"/>
            </a:avLst>
          </a:prstGeom>
          <a:solidFill>
            <a:srgbClr val="14263A"/>
          </a:solidFill>
          <a:ln/>
        </p:spPr>
      </p:sp>
      <p:sp>
        <p:nvSpPr>
          <p:cNvPr id="35" name="Text 33"/>
          <p:cNvSpPr/>
          <p:nvPr/>
        </p:nvSpPr>
        <p:spPr>
          <a:xfrm>
            <a:off x="990600" y="4724090"/>
            <a:ext cx="9784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36" name="Text 34"/>
          <p:cNvSpPr/>
          <p:nvPr/>
        </p:nvSpPr>
        <p:spPr>
          <a:xfrm>
            <a:off x="1983740" y="4719327"/>
            <a:ext cx="8943880"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Where both tasks agree, the answer is stronger; where they differ, Task 5 shows which part holds.</a:t>
            </a:r>
            <a:endParaRPr lang="en-US" sz="1300" dirty="0"/>
          </a:p>
        </p:txBody>
      </p:sp>
      <p:sp>
        <p:nvSpPr>
          <p:cNvPr id="37" name="Text 35"/>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8" name="Text 36"/>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28 / 31</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WHY TASK 5 IS MORE ACCURATE</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Measured on the future, not described</a:t>
            </a:r>
            <a:endParaRPr lang="en-US" sz="3200" dirty="0"/>
          </a:p>
        </p:txBody>
      </p:sp>
      <p:sp>
        <p:nvSpPr>
          <p:cNvPr id="4" name="Shape 2"/>
          <p:cNvSpPr/>
          <p:nvPr/>
        </p:nvSpPr>
        <p:spPr>
          <a:xfrm>
            <a:off x="815975" y="1641475"/>
            <a:ext cx="4438650" cy="2419350"/>
          </a:xfrm>
          <a:prstGeom prst="roundRect">
            <a:avLst>
              <a:gd name="adj" fmla="val 3018"/>
            </a:avLst>
          </a:prstGeom>
          <a:solidFill>
            <a:srgbClr val="FFFDF8"/>
          </a:solidFill>
          <a:ln w="6350">
            <a:solidFill>
              <a:srgbClr val="E3DACB"/>
            </a:solidFill>
            <a:prstDash val="solid"/>
          </a:ln>
        </p:spPr>
      </p:sp>
      <p:sp>
        <p:nvSpPr>
          <p:cNvPr id="5" name="Text 3"/>
          <p:cNvSpPr/>
          <p:nvPr/>
        </p:nvSpPr>
        <p:spPr>
          <a:xfrm>
            <a:off x="970280" y="1770385"/>
            <a:ext cx="4253941"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B2733"/>
                </a:solidFill>
                <a:latin typeface="IBM Plex Sans" pitchFamily="34" charset="0"/>
                <a:ea typeface="IBM Plex Sans" pitchFamily="34" charset="-122"/>
                <a:cs typeface="IBM Plex Sans" pitchFamily="34" charset="-120"/>
              </a:rPr>
              <a:t>Fig. 29</a:t>
            </a:r>
            <a:r>
              <a:rPr lang="en-US" sz="1200" dirty="0">
                <a:solidFill>
                  <a:srgbClr val="5E6672"/>
                </a:solidFill>
                <a:latin typeface="IBM Plex Sans" pitchFamily="34" charset="0"/>
                <a:ea typeface="IBM Plex Sans" pitchFamily="34" charset="-122"/>
                <a:cs typeface="IBM Plex Sans" pitchFamily="34" charset="-120"/>
              </a:rPr>
              <a:t> · Walk-forward MAE per test year: every model below persistence</a:t>
            </a:r>
            <a:endParaRPr lang="en-US" sz="1200" dirty="0"/>
          </a:p>
        </p:txBody>
      </p:sp>
      <p:pic>
        <p:nvPicPr>
          <p:cNvPr id="6" name="Image 0" descr="MAE in each test year 2020–2022 for M2, M3, M4 and persistence; all models below persistence every year">    </p:cNvPr>
          <p:cNvPicPr>
            <a:picLocks noChangeAspect="1"/>
          </p:cNvPicPr>
          <p:nvPr/>
        </p:nvPicPr>
        <p:blipFill>
          <a:blip r:embed="rId1"/>
          <a:srcRect l="0" r="0" t="-24" b="-24"/>
          <a:stretch/>
        </p:blipFill>
        <p:spPr>
          <a:xfrm>
            <a:off x="970280" y="2242827"/>
            <a:ext cx="4140200" cy="1689100"/>
          </a:xfrm>
          <a:prstGeom prst="rect">
            <a:avLst/>
          </a:prstGeom>
        </p:spPr>
      </p:pic>
      <p:sp>
        <p:nvSpPr>
          <p:cNvPr id="7" name="Shape 4"/>
          <p:cNvSpPr/>
          <p:nvPr/>
        </p:nvSpPr>
        <p:spPr>
          <a:xfrm>
            <a:off x="812800" y="4165600"/>
            <a:ext cx="4445000" cy="1174115"/>
          </a:xfrm>
          <a:prstGeom prst="roundRect">
            <a:avLst>
              <a:gd name="adj" fmla="val 6490"/>
            </a:avLst>
          </a:prstGeom>
          <a:solidFill>
            <a:srgbClr val="14263A"/>
          </a:solidFill>
          <a:ln/>
        </p:spPr>
      </p:sp>
      <p:sp>
        <p:nvSpPr>
          <p:cNvPr id="8" name="Text 5"/>
          <p:cNvSpPr/>
          <p:nvPr/>
        </p:nvSpPr>
        <p:spPr>
          <a:xfrm>
            <a:off x="965200" y="4292600"/>
            <a:ext cx="426440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9" name="Text 6"/>
          <p:cNvSpPr/>
          <p:nvPr/>
        </p:nvSpPr>
        <p:spPr>
          <a:xfrm>
            <a:off x="965200" y="4544058"/>
            <a:ext cx="4264406"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Task 4 described the target; Task 5 measures it on unseen years, in °C, on fair days. An answer that holds there is evidence, not a pattern.</a:t>
            </a:r>
            <a:endParaRPr lang="en-US" sz="1300" dirty="0"/>
          </a:p>
        </p:txBody>
      </p:sp>
      <p:sp>
        <p:nvSpPr>
          <p:cNvPr id="10" name="Shape 7"/>
          <p:cNvSpPr/>
          <p:nvPr/>
        </p:nvSpPr>
        <p:spPr>
          <a:xfrm>
            <a:off x="5464175" y="1641475"/>
            <a:ext cx="2901950" cy="1019810"/>
          </a:xfrm>
          <a:prstGeom prst="roundRect">
            <a:avLst>
              <a:gd name="adj" fmla="val 7161"/>
            </a:avLst>
          </a:prstGeom>
          <a:solidFill>
            <a:srgbClr val="FFFDF8"/>
          </a:solidFill>
          <a:ln w="6350">
            <a:solidFill>
              <a:srgbClr val="E3DACB"/>
            </a:solidFill>
            <a:prstDash val="solid"/>
          </a:ln>
        </p:spPr>
      </p:sp>
      <p:sp>
        <p:nvSpPr>
          <p:cNvPr id="11" name="Text 8"/>
          <p:cNvSpPr/>
          <p:nvPr/>
        </p:nvSpPr>
        <p:spPr>
          <a:xfrm>
            <a:off x="5605780" y="1744985"/>
            <a:ext cx="26973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2023–25</a:t>
            </a:r>
            <a:endParaRPr lang="en-US" sz="2800" dirty="0"/>
          </a:p>
        </p:txBody>
      </p:sp>
      <p:sp>
        <p:nvSpPr>
          <p:cNvPr id="12" name="Text 9"/>
          <p:cNvSpPr/>
          <p:nvPr/>
        </p:nvSpPr>
        <p:spPr>
          <a:xfrm>
            <a:off x="5605780" y="2161542"/>
            <a:ext cx="269730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judged on years never seen, used once</a:t>
            </a:r>
            <a:endParaRPr lang="en-US" sz="1200" dirty="0"/>
          </a:p>
        </p:txBody>
      </p:sp>
      <p:sp>
        <p:nvSpPr>
          <p:cNvPr id="13" name="Shape 10"/>
          <p:cNvSpPr/>
          <p:nvPr/>
        </p:nvSpPr>
        <p:spPr>
          <a:xfrm>
            <a:off x="8474075" y="1641475"/>
            <a:ext cx="2901950" cy="1019810"/>
          </a:xfrm>
          <a:prstGeom prst="roundRect">
            <a:avLst>
              <a:gd name="adj" fmla="val 7161"/>
            </a:avLst>
          </a:prstGeom>
          <a:solidFill>
            <a:srgbClr val="FFFDF8"/>
          </a:solidFill>
          <a:ln w="6350">
            <a:solidFill>
              <a:srgbClr val="E3DACB"/>
            </a:solidFill>
            <a:prstDash val="solid"/>
          </a:ln>
        </p:spPr>
      </p:sp>
      <p:sp>
        <p:nvSpPr>
          <p:cNvPr id="14" name="Text 11"/>
          <p:cNvSpPr/>
          <p:nvPr/>
        </p:nvSpPr>
        <p:spPr>
          <a:xfrm>
            <a:off x="8615680" y="1744985"/>
            <a:ext cx="26973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a:t>
            </a:r>
            <a:endParaRPr lang="en-US" sz="2800" dirty="0"/>
          </a:p>
        </p:txBody>
      </p:sp>
      <p:sp>
        <p:nvSpPr>
          <p:cNvPr id="15" name="Text 12"/>
          <p:cNvSpPr/>
          <p:nvPr/>
        </p:nvSpPr>
        <p:spPr>
          <a:xfrm>
            <a:off x="8615680" y="2161542"/>
            <a:ext cx="269730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future values in any normal, scaler or model</a:t>
            </a:r>
            <a:endParaRPr lang="en-US" sz="1200" dirty="0"/>
          </a:p>
        </p:txBody>
      </p:sp>
      <p:sp>
        <p:nvSpPr>
          <p:cNvPr id="16" name="Shape 13"/>
          <p:cNvSpPr/>
          <p:nvPr/>
        </p:nvSpPr>
        <p:spPr>
          <a:xfrm>
            <a:off x="5464175" y="2769233"/>
            <a:ext cx="2901950" cy="1019810"/>
          </a:xfrm>
          <a:prstGeom prst="roundRect">
            <a:avLst>
              <a:gd name="adj" fmla="val 7161"/>
            </a:avLst>
          </a:prstGeom>
          <a:solidFill>
            <a:srgbClr val="FFFDF8"/>
          </a:solidFill>
          <a:ln w="6350">
            <a:solidFill>
              <a:srgbClr val="E3DACB"/>
            </a:solidFill>
            <a:prstDash val="solid"/>
          </a:ln>
        </p:spPr>
      </p:sp>
      <p:sp>
        <p:nvSpPr>
          <p:cNvPr id="17" name="Text 14"/>
          <p:cNvSpPr/>
          <p:nvPr/>
        </p:nvSpPr>
        <p:spPr>
          <a:xfrm>
            <a:off x="5605780" y="2872742"/>
            <a:ext cx="26973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13 of 13</a:t>
            </a:r>
            <a:endParaRPr lang="en-US" sz="2800" dirty="0"/>
          </a:p>
        </p:txBody>
      </p:sp>
      <p:sp>
        <p:nvSpPr>
          <p:cNvPr id="18" name="Text 15"/>
          <p:cNvSpPr/>
          <p:nvPr/>
        </p:nvSpPr>
        <p:spPr>
          <a:xfrm>
            <a:off x="5605780" y="3289300"/>
            <a:ext cx="269730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walk-forward years won: not one lucky number</a:t>
            </a:r>
            <a:endParaRPr lang="en-US" sz="1200" dirty="0"/>
          </a:p>
        </p:txBody>
      </p:sp>
      <p:sp>
        <p:nvSpPr>
          <p:cNvPr id="19" name="Shape 16"/>
          <p:cNvSpPr/>
          <p:nvPr/>
        </p:nvSpPr>
        <p:spPr>
          <a:xfrm>
            <a:off x="8474075" y="2769233"/>
            <a:ext cx="2901950" cy="1019810"/>
          </a:xfrm>
          <a:prstGeom prst="roundRect">
            <a:avLst>
              <a:gd name="adj" fmla="val 7161"/>
            </a:avLst>
          </a:prstGeom>
          <a:solidFill>
            <a:srgbClr val="FFFDF8"/>
          </a:solidFill>
          <a:ln w="6350">
            <a:solidFill>
              <a:srgbClr val="E3DACB"/>
            </a:solidFill>
            <a:prstDash val="solid"/>
          </a:ln>
        </p:spPr>
      </p:sp>
      <p:sp>
        <p:nvSpPr>
          <p:cNvPr id="20" name="Text 17"/>
          <p:cNvSpPr/>
          <p:nvPr/>
        </p:nvSpPr>
        <p:spPr>
          <a:xfrm>
            <a:off x="8615680" y="2872742"/>
            <a:ext cx="26973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95.1 %</a:t>
            </a:r>
            <a:endParaRPr lang="en-US" sz="2800" dirty="0"/>
          </a:p>
        </p:txBody>
      </p:sp>
      <p:sp>
        <p:nvSpPr>
          <p:cNvPr id="21" name="Text 18"/>
          <p:cNvSpPr/>
          <p:nvPr/>
        </p:nvSpPr>
        <p:spPr>
          <a:xfrm>
            <a:off x="8615680" y="3289300"/>
            <a:ext cx="269730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every answer gets an error in °C and an interval</a:t>
            </a:r>
            <a:endParaRPr lang="en-US" sz="1200" dirty="0"/>
          </a:p>
        </p:txBody>
      </p:sp>
      <p:sp>
        <p:nvSpPr>
          <p:cNvPr id="22" name="Shape 19"/>
          <p:cNvSpPr/>
          <p:nvPr/>
        </p:nvSpPr>
        <p:spPr>
          <a:xfrm>
            <a:off x="5464175" y="3897002"/>
            <a:ext cx="2901950" cy="1019810"/>
          </a:xfrm>
          <a:prstGeom prst="roundRect">
            <a:avLst>
              <a:gd name="adj" fmla="val 7161"/>
            </a:avLst>
          </a:prstGeom>
          <a:solidFill>
            <a:srgbClr val="FFFDF8"/>
          </a:solidFill>
          <a:ln w="6350">
            <a:solidFill>
              <a:srgbClr val="E3DACB"/>
            </a:solidFill>
            <a:prstDash val="solid"/>
          </a:ln>
        </p:spPr>
      </p:sp>
      <p:sp>
        <p:nvSpPr>
          <p:cNvPr id="23" name="Text 20"/>
          <p:cNvSpPr/>
          <p:nvPr/>
        </p:nvSpPr>
        <p:spPr>
          <a:xfrm>
            <a:off x="5605780" y="4000500"/>
            <a:ext cx="26973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0.11 °C</a:t>
            </a:r>
            <a:endParaRPr lang="en-US" sz="2800" dirty="0"/>
          </a:p>
        </p:txBody>
      </p:sp>
      <p:sp>
        <p:nvSpPr>
          <p:cNvPr id="24" name="Text 21"/>
          <p:cNvSpPr/>
          <p:nvPr/>
        </p:nvSpPr>
        <p:spPr>
          <a:xfrm>
            <a:off x="5605780" y="4417058"/>
            <a:ext cx="269730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real bias on days chosen in advance (not 0.88)</a:t>
            </a:r>
            <a:endParaRPr lang="en-US" sz="1200" dirty="0"/>
          </a:p>
        </p:txBody>
      </p:sp>
      <p:sp>
        <p:nvSpPr>
          <p:cNvPr id="25" name="Shape 22"/>
          <p:cNvSpPr/>
          <p:nvPr/>
        </p:nvSpPr>
        <p:spPr>
          <a:xfrm>
            <a:off x="8474075" y="3897002"/>
            <a:ext cx="2901950" cy="1019810"/>
          </a:xfrm>
          <a:prstGeom prst="roundRect">
            <a:avLst>
              <a:gd name="adj" fmla="val 7161"/>
            </a:avLst>
          </a:prstGeom>
          <a:solidFill>
            <a:srgbClr val="FFFDF8"/>
          </a:solidFill>
          <a:ln w="6350">
            <a:solidFill>
              <a:srgbClr val="E3DACB"/>
            </a:solidFill>
            <a:prstDash val="solid"/>
          </a:ln>
        </p:spPr>
      </p:sp>
      <p:sp>
        <p:nvSpPr>
          <p:cNvPr id="26" name="Text 23"/>
          <p:cNvSpPr/>
          <p:nvPr/>
        </p:nvSpPr>
        <p:spPr>
          <a:xfrm>
            <a:off x="8615680" y="4000500"/>
            <a:ext cx="269730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30×</a:t>
            </a:r>
            <a:endParaRPr lang="en-US" sz="2800" dirty="0"/>
          </a:p>
        </p:txBody>
      </p:sp>
      <p:sp>
        <p:nvSpPr>
          <p:cNvPr id="27" name="Text 24"/>
          <p:cNvSpPr/>
          <p:nvPr/>
        </p:nvSpPr>
        <p:spPr>
          <a:xfrm>
            <a:off x="8615680" y="4417058"/>
            <a:ext cx="269730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storm risk once signs are combined, not alone</a:t>
            </a:r>
            <a:endParaRPr lang="en-US" sz="1200" dirty="0"/>
          </a:p>
        </p:txBody>
      </p:sp>
      <p:sp>
        <p:nvSpPr>
          <p:cNvPr id="28" name="Text 25"/>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9" name="Text 26"/>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29 / 31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TASK 5 · WHAT I LEARNT</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Six lessons from forecasting tomorrow</a:t>
            </a:r>
            <a:endParaRPr lang="en-US" sz="3200" dirty="0"/>
          </a:p>
        </p:txBody>
      </p:sp>
      <p:sp>
        <p:nvSpPr>
          <p:cNvPr id="4" name="Shape 2"/>
          <p:cNvSpPr/>
          <p:nvPr/>
        </p:nvSpPr>
        <p:spPr>
          <a:xfrm>
            <a:off x="815975" y="1641475"/>
            <a:ext cx="3448050" cy="1087120"/>
          </a:xfrm>
          <a:prstGeom prst="roundRect">
            <a:avLst>
              <a:gd name="adj" fmla="val 6717"/>
            </a:avLst>
          </a:prstGeom>
          <a:solidFill>
            <a:srgbClr val="FFFDF8"/>
          </a:solidFill>
          <a:ln w="6350">
            <a:solidFill>
              <a:srgbClr val="E3DACB"/>
            </a:solidFill>
            <a:prstDash val="solid"/>
          </a:ln>
        </p:spPr>
      </p:sp>
      <p:sp>
        <p:nvSpPr>
          <p:cNvPr id="5" name="Text 3"/>
          <p:cNvSpPr/>
          <p:nvPr/>
        </p:nvSpPr>
        <p:spPr>
          <a:xfrm>
            <a:off x="957580" y="1744985"/>
            <a:ext cx="325978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0.011 °C</a:t>
            </a:r>
            <a:endParaRPr lang="en-US" sz="2800" dirty="0"/>
          </a:p>
        </p:txBody>
      </p:sp>
      <p:sp>
        <p:nvSpPr>
          <p:cNvPr id="6" name="Text 4"/>
          <p:cNvSpPr/>
          <p:nvPr/>
        </p:nvSpPr>
        <p:spPr>
          <a:xfrm>
            <a:off x="957580" y="2174242"/>
            <a:ext cx="325978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Simple and explainable can win</a:t>
            </a:r>
            <a:endParaRPr lang="en-US" sz="1300" dirty="0"/>
          </a:p>
        </p:txBody>
      </p:sp>
      <p:sp>
        <p:nvSpPr>
          <p:cNvPr id="7" name="Text 5"/>
          <p:cNvSpPr/>
          <p:nvPr/>
        </p:nvSpPr>
        <p:spPr>
          <a:xfrm>
            <a:off x="957580" y="2426977"/>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M2, 12 parameters, vs the LSTM</a:t>
            </a:r>
            <a:endParaRPr lang="en-US" sz="1200" dirty="0"/>
          </a:p>
        </p:txBody>
      </p:sp>
      <p:sp>
        <p:nvSpPr>
          <p:cNvPr id="8" name="Shape 6"/>
          <p:cNvSpPr/>
          <p:nvPr/>
        </p:nvSpPr>
        <p:spPr>
          <a:xfrm>
            <a:off x="4371975" y="1641475"/>
            <a:ext cx="3448050" cy="1087120"/>
          </a:xfrm>
          <a:prstGeom prst="roundRect">
            <a:avLst>
              <a:gd name="adj" fmla="val 6717"/>
            </a:avLst>
          </a:prstGeom>
          <a:solidFill>
            <a:srgbClr val="FFFDF8"/>
          </a:solidFill>
          <a:ln w="6350">
            <a:solidFill>
              <a:srgbClr val="E3DACB"/>
            </a:solidFill>
            <a:prstDash val="solid"/>
          </a:ln>
        </p:spPr>
      </p:sp>
      <p:sp>
        <p:nvSpPr>
          <p:cNvPr id="9" name="Text 7"/>
          <p:cNvSpPr/>
          <p:nvPr/>
        </p:nvSpPr>
        <p:spPr>
          <a:xfrm>
            <a:off x="4513580" y="1744985"/>
            <a:ext cx="325978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Rule first</a:t>
            </a:r>
            <a:endParaRPr lang="en-US" sz="2800" dirty="0"/>
          </a:p>
        </p:txBody>
      </p:sp>
      <p:sp>
        <p:nvSpPr>
          <p:cNvPr id="10" name="Text 8"/>
          <p:cNvSpPr/>
          <p:nvPr/>
        </p:nvSpPr>
        <p:spPr>
          <a:xfrm>
            <a:off x="4513580" y="2174242"/>
            <a:ext cx="325978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Decide before seeing the scores</a:t>
            </a:r>
            <a:endParaRPr lang="en-US" sz="1300" dirty="0"/>
          </a:p>
        </p:txBody>
      </p:sp>
      <p:sp>
        <p:nvSpPr>
          <p:cNvPr id="11" name="Text 9"/>
          <p:cNvSpPr/>
          <p:nvPr/>
        </p:nvSpPr>
        <p:spPr>
          <a:xfrm>
            <a:off x="4513580" y="2426977"/>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the 0.01 °C rule kept the test honest</a:t>
            </a:r>
            <a:endParaRPr lang="en-US" sz="1200" dirty="0"/>
          </a:p>
        </p:txBody>
      </p:sp>
      <p:sp>
        <p:nvSpPr>
          <p:cNvPr id="12" name="Shape 10"/>
          <p:cNvSpPr/>
          <p:nvPr/>
        </p:nvSpPr>
        <p:spPr>
          <a:xfrm>
            <a:off x="7927975" y="1641475"/>
            <a:ext cx="3448050" cy="1087120"/>
          </a:xfrm>
          <a:prstGeom prst="roundRect">
            <a:avLst>
              <a:gd name="adj" fmla="val 6717"/>
            </a:avLst>
          </a:prstGeom>
          <a:solidFill>
            <a:srgbClr val="FFFDF8"/>
          </a:solidFill>
          <a:ln w="6350">
            <a:solidFill>
              <a:srgbClr val="E3DACB"/>
            </a:solidFill>
            <a:prstDash val="solid"/>
          </a:ln>
        </p:spPr>
      </p:sp>
      <p:sp>
        <p:nvSpPr>
          <p:cNvPr id="13" name="Text 11"/>
          <p:cNvSpPr/>
          <p:nvPr/>
        </p:nvSpPr>
        <p:spPr>
          <a:xfrm>
            <a:off x="8069580" y="1744985"/>
            <a:ext cx="325978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1.65 vs 0.93</a:t>
            </a:r>
            <a:endParaRPr lang="en-US" sz="2800" dirty="0"/>
          </a:p>
        </p:txBody>
      </p:sp>
      <p:sp>
        <p:nvSpPr>
          <p:cNvPr id="14" name="Text 12"/>
          <p:cNvSpPr/>
          <p:nvPr/>
        </p:nvSpPr>
        <p:spPr>
          <a:xfrm>
            <a:off x="8069580" y="2174242"/>
            <a:ext cx="325978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Averages hide the days that matter</a:t>
            </a:r>
            <a:endParaRPr lang="en-US" sz="1300" dirty="0"/>
          </a:p>
        </p:txBody>
      </p:sp>
      <p:sp>
        <p:nvSpPr>
          <p:cNvPr id="15" name="Text 13"/>
          <p:cNvSpPr/>
          <p:nvPr/>
        </p:nvSpPr>
        <p:spPr>
          <a:xfrm>
            <a:off x="8069580" y="2426977"/>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 error, storm day vs ordinary day</a:t>
            </a:r>
            <a:endParaRPr lang="en-US" sz="1200" dirty="0"/>
          </a:p>
        </p:txBody>
      </p:sp>
      <p:sp>
        <p:nvSpPr>
          <p:cNvPr id="16" name="Shape 14"/>
          <p:cNvSpPr/>
          <p:nvPr/>
        </p:nvSpPr>
        <p:spPr>
          <a:xfrm>
            <a:off x="815975" y="2836552"/>
            <a:ext cx="3448050" cy="1087120"/>
          </a:xfrm>
          <a:prstGeom prst="roundRect">
            <a:avLst>
              <a:gd name="adj" fmla="val 6717"/>
            </a:avLst>
          </a:prstGeom>
          <a:solidFill>
            <a:srgbClr val="FFFDF8"/>
          </a:solidFill>
          <a:ln w="6350">
            <a:solidFill>
              <a:srgbClr val="E3DACB"/>
            </a:solidFill>
            <a:prstDash val="solid"/>
          </a:ln>
        </p:spPr>
      </p:sp>
      <p:sp>
        <p:nvSpPr>
          <p:cNvPr id="17" name="Text 15"/>
          <p:cNvSpPr/>
          <p:nvPr/>
        </p:nvSpPr>
        <p:spPr>
          <a:xfrm>
            <a:off x="957580" y="2940050"/>
            <a:ext cx="325978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0.88 vs 0.11</a:t>
            </a:r>
            <a:endParaRPr lang="en-US" sz="2800" dirty="0"/>
          </a:p>
        </p:txBody>
      </p:sp>
      <p:sp>
        <p:nvSpPr>
          <p:cNvPr id="18" name="Text 16"/>
          <p:cNvSpPr/>
          <p:nvPr/>
        </p:nvSpPr>
        <p:spPr>
          <a:xfrm>
            <a:off x="957580" y="3369308"/>
            <a:ext cx="325978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How you pick days is the verdict</a:t>
            </a:r>
            <a:endParaRPr lang="en-US" sz="1300" dirty="0"/>
          </a:p>
        </p:txBody>
      </p:sp>
      <p:sp>
        <p:nvSpPr>
          <p:cNvPr id="19" name="Text 17"/>
          <p:cNvSpPr/>
          <p:nvPr/>
        </p:nvSpPr>
        <p:spPr>
          <a:xfrm>
            <a:off x="957580" y="3622042"/>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°C bias: by outcome vs in advance</a:t>
            </a:r>
            <a:endParaRPr lang="en-US" sz="1200" dirty="0"/>
          </a:p>
        </p:txBody>
      </p:sp>
      <p:sp>
        <p:nvSpPr>
          <p:cNvPr id="20" name="Shape 18"/>
          <p:cNvSpPr/>
          <p:nvPr/>
        </p:nvSpPr>
        <p:spPr>
          <a:xfrm>
            <a:off x="4371975" y="2836552"/>
            <a:ext cx="3448050" cy="1087120"/>
          </a:xfrm>
          <a:prstGeom prst="roundRect">
            <a:avLst>
              <a:gd name="adj" fmla="val 6717"/>
            </a:avLst>
          </a:prstGeom>
          <a:solidFill>
            <a:srgbClr val="FFFDF8"/>
          </a:solidFill>
          <a:ln w="6350">
            <a:solidFill>
              <a:srgbClr val="E3DACB"/>
            </a:solidFill>
            <a:prstDash val="solid"/>
          </a:ln>
        </p:spPr>
      </p:sp>
      <p:sp>
        <p:nvSpPr>
          <p:cNvPr id="21" name="Text 19"/>
          <p:cNvSpPr/>
          <p:nvPr/>
        </p:nvSpPr>
        <p:spPr>
          <a:xfrm>
            <a:off x="4513580" y="2940050"/>
            <a:ext cx="325978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15 storms</a:t>
            </a:r>
            <a:endParaRPr lang="en-US" sz="2800" dirty="0"/>
          </a:p>
        </p:txBody>
      </p:sp>
      <p:sp>
        <p:nvSpPr>
          <p:cNvPr id="22" name="Text 20"/>
          <p:cNvSpPr/>
          <p:nvPr/>
        </p:nvSpPr>
        <p:spPr>
          <a:xfrm>
            <a:off x="4513580" y="3369308"/>
            <a:ext cx="325978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Rare events can’t train a model</a:t>
            </a:r>
            <a:endParaRPr lang="en-US" sz="1300" dirty="0"/>
          </a:p>
        </p:txBody>
      </p:sp>
      <p:sp>
        <p:nvSpPr>
          <p:cNvPr id="23" name="Text 21"/>
          <p:cNvSpPr/>
          <p:nvPr/>
        </p:nvSpPr>
        <p:spPr>
          <a:xfrm>
            <a:off x="4513580" y="3622042"/>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keep a rule; warn about heat instead</a:t>
            </a:r>
            <a:endParaRPr lang="en-US" sz="1200" dirty="0"/>
          </a:p>
        </p:txBody>
      </p:sp>
      <p:sp>
        <p:nvSpPr>
          <p:cNvPr id="24" name="Shape 22"/>
          <p:cNvSpPr/>
          <p:nvPr/>
        </p:nvSpPr>
        <p:spPr>
          <a:xfrm>
            <a:off x="7927975" y="2836552"/>
            <a:ext cx="3448050" cy="1087120"/>
          </a:xfrm>
          <a:prstGeom prst="roundRect">
            <a:avLst>
              <a:gd name="adj" fmla="val 6717"/>
            </a:avLst>
          </a:prstGeom>
          <a:solidFill>
            <a:srgbClr val="FFFDF8"/>
          </a:solidFill>
          <a:ln w="6350">
            <a:solidFill>
              <a:srgbClr val="E3DACB"/>
            </a:solidFill>
            <a:prstDash val="solid"/>
          </a:ln>
        </p:spPr>
      </p:sp>
      <p:sp>
        <p:nvSpPr>
          <p:cNvPr id="25" name="Text 23"/>
          <p:cNvSpPr/>
          <p:nvPr/>
        </p:nvSpPr>
        <p:spPr>
          <a:xfrm>
            <a:off x="8069580" y="2940050"/>
            <a:ext cx="325978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~1 week</a:t>
            </a:r>
            <a:endParaRPr lang="en-US" sz="2800" dirty="0"/>
          </a:p>
        </p:txBody>
      </p:sp>
      <p:sp>
        <p:nvSpPr>
          <p:cNvPr id="26" name="Text 24"/>
          <p:cNvSpPr/>
          <p:nvPr/>
        </p:nvSpPr>
        <p:spPr>
          <a:xfrm>
            <a:off x="8069580" y="3369308"/>
            <a:ext cx="325978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2733"/>
                </a:solidFill>
                <a:latin typeface="IBM Plex Sans" pitchFamily="34" charset="0"/>
                <a:ea typeface="IBM Plex Sans" pitchFamily="34" charset="-122"/>
                <a:cs typeface="IBM Plex Sans" pitchFamily="34" charset="-120"/>
              </a:rPr>
              <a:t>Know the forecast’s limits</a:t>
            </a:r>
            <a:endParaRPr lang="en-US" sz="1300" dirty="0"/>
          </a:p>
        </p:txBody>
      </p:sp>
      <p:sp>
        <p:nvSpPr>
          <p:cNvPr id="27" name="Text 25"/>
          <p:cNvSpPr/>
          <p:nvPr/>
        </p:nvSpPr>
        <p:spPr>
          <a:xfrm>
            <a:off x="8069580" y="3622042"/>
            <a:ext cx="32597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672"/>
                </a:solidFill>
                <a:latin typeface="IBM Plex Sans" pitchFamily="34" charset="0"/>
                <a:ea typeface="IBM Plex Sans" pitchFamily="34" charset="-122"/>
                <a:cs typeface="IBM Plex Sans" pitchFamily="34" charset="-120"/>
              </a:rPr>
              <a:t>useful range; spring interval too narrow</a:t>
            </a:r>
            <a:endParaRPr lang="en-US" sz="1200" dirty="0"/>
          </a:p>
        </p:txBody>
      </p:sp>
      <p:sp>
        <p:nvSpPr>
          <p:cNvPr id="28" name="Shape 26"/>
          <p:cNvSpPr/>
          <p:nvPr/>
        </p:nvSpPr>
        <p:spPr>
          <a:xfrm>
            <a:off x="812800" y="4130042"/>
            <a:ext cx="10566400" cy="699770"/>
          </a:xfrm>
          <a:prstGeom prst="roundRect">
            <a:avLst>
              <a:gd name="adj" fmla="val 10889"/>
            </a:avLst>
          </a:prstGeom>
          <a:solidFill>
            <a:srgbClr val="14263A"/>
          </a:solidFill>
          <a:ln/>
        </p:spPr>
      </p:sp>
      <p:sp>
        <p:nvSpPr>
          <p:cNvPr id="29" name="Text 27"/>
          <p:cNvSpPr/>
          <p:nvPr/>
        </p:nvSpPr>
        <p:spPr>
          <a:xfrm>
            <a:off x="990600" y="4373252"/>
            <a:ext cx="172077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BIGGEST LESSON</a:t>
            </a:r>
            <a:endParaRPr lang="en-US" sz="1200" dirty="0"/>
          </a:p>
        </p:txBody>
      </p:sp>
      <p:sp>
        <p:nvSpPr>
          <p:cNvPr id="30" name="Text 28"/>
          <p:cNvSpPr/>
          <p:nvPr/>
        </p:nvSpPr>
        <p:spPr>
          <a:xfrm>
            <a:off x="2711371" y="4257042"/>
            <a:ext cx="8744731"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A sharp question beats a complex model: asking it in advance, on fair days, changed more answers than the LSTM did.</a:t>
            </a:r>
            <a:endParaRPr lang="en-US" sz="1300" dirty="0"/>
          </a:p>
        </p:txBody>
      </p:sp>
      <p:sp>
        <p:nvSpPr>
          <p:cNvPr id="31" name="Text 2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2" name="Text 30"/>
          <p:cNvSpPr/>
          <p:nvPr/>
        </p:nvSpPr>
        <p:spPr>
          <a:xfrm>
            <a:off x="6146800" y="6238242"/>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30 / 31</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ph type="title"/>
          </p:nvPr>
        </p:nvSpPr>
        <p:spPr>
          <a:xfrm>
            <a:off x="812800" y="9880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DF8"/>
                </a:solidFill>
                <a:latin typeface="Source Serif 4" pitchFamily="18" charset="0"/>
                <a:ea typeface="Source Serif 4" pitchFamily="18" charset="-122"/>
                <a:cs typeface="Source Serif 4" pitchFamily="18" charset="-120"/>
              </a:rPr>
              <a:t>The calendar and yesterday, proven on the future</a:t>
            </a:r>
            <a:endParaRPr lang="en-US" sz="3200" dirty="0"/>
          </a:p>
        </p:txBody>
      </p:sp>
      <p:sp>
        <p:nvSpPr>
          <p:cNvPr id="4" name="Text 2"/>
          <p:cNvSpPr/>
          <p:nvPr/>
        </p:nvSpPr>
        <p:spPr>
          <a:xfrm>
            <a:off x="812800" y="1638300"/>
            <a:ext cx="656666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WHAT THE TWO TASKS SHOW</a:t>
            </a:r>
            <a:endParaRPr lang="en-US" sz="1200" dirty="0"/>
          </a:p>
        </p:txBody>
      </p:sp>
      <p:sp>
        <p:nvSpPr>
          <p:cNvPr id="5" name="Text 3"/>
          <p:cNvSpPr/>
          <p:nvPr/>
        </p:nvSpPr>
        <p:spPr>
          <a:xfrm>
            <a:off x="812800" y="1927858"/>
            <a:ext cx="6566662"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Temperature:</a:t>
            </a:r>
            <a:r>
              <a:rPr lang="en-US" sz="1300" dirty="0">
                <a:solidFill>
                  <a:srgbClr val="BFCBD8"/>
                </a:solidFill>
                <a:latin typeface="IBM Plex Sans" pitchFamily="34" charset="0"/>
                <a:ea typeface="IBM Plex Sans" pitchFamily="34" charset="-122"/>
                <a:cs typeface="IBM Plex Sans" pitchFamily="34" charset="-120"/>
              </a:rPr>
              <a:t> M2 forecasts tomorrow with 0.94 °C error, 9.5 % below “tomorrow = today”.</a:t>
            </a:r>
            <a:endParaRPr lang="en-US" sz="1300" dirty="0"/>
          </a:p>
        </p:txBody>
      </p:sp>
      <p:sp>
        <p:nvSpPr>
          <p:cNvPr id="6" name="Text 4"/>
          <p:cNvSpPr/>
          <p:nvPr/>
        </p:nvSpPr>
        <p:spPr>
          <a:xfrm>
            <a:off x="812800" y="2449835"/>
            <a:ext cx="656666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Heat:</a:t>
            </a:r>
            <a:r>
              <a:rPr lang="en-US" sz="1300" dirty="0">
                <a:solidFill>
                  <a:srgbClr val="BFCBD8"/>
                </a:solidFill>
                <a:latin typeface="IBM Plex Sans" pitchFamily="34" charset="0"/>
                <a:ea typeface="IBM Plex Sans" pitchFamily="34" charset="-122"/>
                <a:cs typeface="IBM Plex Sans" pitchFamily="34" charset="-120"/>
              </a:rPr>
              <a:t> very hot days nearly doubled; 77 % can be warned of a day ahead.</a:t>
            </a:r>
            <a:endParaRPr lang="en-US" sz="1300" dirty="0"/>
          </a:p>
        </p:txBody>
      </p:sp>
      <p:sp>
        <p:nvSpPr>
          <p:cNvPr id="7" name="Text 5"/>
          <p:cNvSpPr/>
          <p:nvPr/>
        </p:nvSpPr>
        <p:spPr>
          <a:xfrm>
            <a:off x="812800" y="2748930"/>
            <a:ext cx="656666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Storms:</a:t>
            </a:r>
            <a:r>
              <a:rPr lang="en-US" sz="1300" dirty="0">
                <a:solidFill>
                  <a:srgbClr val="BFCBD8"/>
                </a:solidFill>
                <a:latin typeface="IBM Plex Sans" pitchFamily="34" charset="0"/>
                <a:ea typeface="IBM Plex Sans" pitchFamily="34" charset="-122"/>
                <a:cs typeface="IBM Plex Sans" pitchFamily="34" charset="-120"/>
              </a:rPr>
              <a:t> rain + falling pressure gives a 1-in-5 warning; dry-day storms give none.</a:t>
            </a:r>
            <a:endParaRPr lang="en-US" sz="1300" dirty="0"/>
          </a:p>
        </p:txBody>
      </p:sp>
      <p:sp>
        <p:nvSpPr>
          <p:cNvPr id="8" name="Text 6"/>
          <p:cNvSpPr/>
          <p:nvPr/>
        </p:nvSpPr>
        <p:spPr>
          <a:xfrm>
            <a:off x="812800" y="3048000"/>
            <a:ext cx="656666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Rain:</a:t>
            </a:r>
            <a:r>
              <a:rPr lang="en-US" sz="1300" dirty="0">
                <a:solidFill>
                  <a:srgbClr val="BFCBD8"/>
                </a:solidFill>
                <a:latin typeface="IBM Plex Sans" pitchFamily="34" charset="0"/>
                <a:ea typeface="IBM Plex Sans" pitchFamily="34" charset="-122"/>
                <a:cs typeface="IBM Plex Sans" pitchFamily="34" charset="-120"/>
              </a:rPr>
              <a:t> “rain today” stays the best forecast (F1 0.47).</a:t>
            </a:r>
            <a:endParaRPr lang="en-US" sz="1300" dirty="0"/>
          </a:p>
        </p:txBody>
      </p:sp>
      <p:sp>
        <p:nvSpPr>
          <p:cNvPr id="9" name="Text 7"/>
          <p:cNvSpPr/>
          <p:nvPr/>
        </p:nvSpPr>
        <p:spPr>
          <a:xfrm>
            <a:off x="812800" y="3347095"/>
            <a:ext cx="656666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Models:</a:t>
            </a:r>
            <a:r>
              <a:rPr lang="en-US" sz="1300" dirty="0">
                <a:solidFill>
                  <a:srgbClr val="BFCBD8"/>
                </a:solidFill>
                <a:latin typeface="IBM Plex Sans" pitchFamily="34" charset="0"/>
                <a:ea typeface="IBM Plex Sans" pitchFamily="34" charset="-122"/>
                <a:cs typeface="IBM Plex Sans" pitchFamily="34" charset="-120"/>
              </a:rPr>
              <a:t> the LSTM confirms SARIMAX; the season matters most.</a:t>
            </a:r>
            <a:endParaRPr lang="en-US" sz="1300" dirty="0"/>
          </a:p>
        </p:txBody>
      </p:sp>
      <p:sp>
        <p:nvSpPr>
          <p:cNvPr id="10" name="Shape 8"/>
          <p:cNvSpPr/>
          <p:nvPr/>
        </p:nvSpPr>
        <p:spPr>
          <a:xfrm>
            <a:off x="7445375" y="1641475"/>
            <a:ext cx="3930650" cy="2087880"/>
          </a:xfrm>
          <a:prstGeom prst="roundRect">
            <a:avLst>
              <a:gd name="adj" fmla="val 3498"/>
            </a:avLst>
          </a:prstGeom>
          <a:solidFill>
            <a:srgbClr val="1E3550"/>
          </a:solidFill>
          <a:ln w="6350">
            <a:solidFill>
              <a:srgbClr val="34506E"/>
            </a:solidFill>
            <a:prstDash val="solid"/>
          </a:ln>
        </p:spPr>
      </p:sp>
      <p:sp>
        <p:nvSpPr>
          <p:cNvPr id="11" name="Text 9"/>
          <p:cNvSpPr/>
          <p:nvPr/>
        </p:nvSpPr>
        <p:spPr>
          <a:xfrm>
            <a:off x="7625080" y="1795785"/>
            <a:ext cx="367837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DB8F2"/>
                </a:solidFill>
                <a:latin typeface="IBM Plex Sans" pitchFamily="34" charset="0"/>
                <a:ea typeface="IBM Plex Sans" pitchFamily="34" charset="-122"/>
                <a:cs typeface="IBM Plex Sans" pitchFamily="34" charset="-120"/>
              </a:rPr>
              <a:t>LIMITS AND NEXT STEPS</a:t>
            </a:r>
            <a:endParaRPr lang="en-US" sz="1200" dirty="0"/>
          </a:p>
        </p:txBody>
      </p:sp>
      <p:sp>
        <p:nvSpPr>
          <p:cNvPr id="12" name="Text 10"/>
          <p:cNvSpPr/>
          <p:nvPr/>
        </p:nvSpPr>
        <p:spPr>
          <a:xfrm>
            <a:off x="7625080" y="2085342"/>
            <a:ext cx="367837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Interval:</a:t>
            </a:r>
            <a:r>
              <a:rPr lang="en-US" sz="1300" dirty="0">
                <a:solidFill>
                  <a:srgbClr val="BFCBD8"/>
                </a:solidFill>
                <a:latin typeface="IBM Plex Sans" pitchFamily="34" charset="0"/>
                <a:ea typeface="IBM Plex Sans" pitchFamily="34" charset="-122"/>
                <a:cs typeface="IBM Plex Sans" pitchFamily="34" charset="-120"/>
              </a:rPr>
              <a:t> too narrow in spring → a width that changes with the season.</a:t>
            </a:r>
            <a:endParaRPr lang="en-US" sz="1300" dirty="0"/>
          </a:p>
        </p:txBody>
      </p:sp>
      <p:sp>
        <p:nvSpPr>
          <p:cNvPr id="13" name="Text 11"/>
          <p:cNvSpPr/>
          <p:nvPr/>
        </p:nvSpPr>
        <p:spPr>
          <a:xfrm>
            <a:off x="7625080" y="2607320"/>
            <a:ext cx="367837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Sudden jumps:</a:t>
            </a:r>
            <a:r>
              <a:rPr lang="en-US" sz="1300" dirty="0">
                <a:solidFill>
                  <a:srgbClr val="BFCBD8"/>
                </a:solidFill>
                <a:latin typeface="IBM Plex Sans" pitchFamily="34" charset="0"/>
                <a:ea typeface="IBM Plex Sans" pitchFamily="34" charset="-122"/>
                <a:cs typeface="IBM Plex Sans" pitchFamily="34" charset="-120"/>
              </a:rPr>
              <a:t> missed on day one → hourly pressure or satellite data.</a:t>
            </a:r>
            <a:endParaRPr lang="en-US" sz="1300" dirty="0"/>
          </a:p>
        </p:txBody>
      </p:sp>
      <p:sp>
        <p:nvSpPr>
          <p:cNvPr id="14" name="Text 12"/>
          <p:cNvSpPr/>
          <p:nvPr/>
        </p:nvSpPr>
        <p:spPr>
          <a:xfrm>
            <a:off x="7625080" y="3129285"/>
            <a:ext cx="367837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IBM Plex Sans" pitchFamily="34" charset="0"/>
                <a:ea typeface="IBM Plex Sans" pitchFamily="34" charset="-122"/>
                <a:cs typeface="IBM Plex Sans" pitchFamily="34" charset="-120"/>
              </a:rPr>
              <a:t>Warnings:</a:t>
            </a:r>
            <a:r>
              <a:rPr lang="en-US" sz="1300" dirty="0">
                <a:solidFill>
                  <a:srgbClr val="BFCBD8"/>
                </a:solidFill>
                <a:latin typeface="IBM Plex Sans" pitchFamily="34" charset="0"/>
                <a:ea typeface="IBM Plex Sans" pitchFamily="34" charset="-122"/>
                <a:cs typeface="IBM Plex Sans" pitchFamily="34" charset="-120"/>
              </a:rPr>
              <a:t> check the heat warning and storm rule on more years.</a:t>
            </a:r>
            <a:endParaRPr lang="en-US" sz="1300" dirty="0"/>
          </a:p>
        </p:txBody>
      </p:sp>
      <p:sp>
        <p:nvSpPr>
          <p:cNvPr id="15" name="Text 13"/>
          <p:cNvSpPr/>
          <p:nvPr/>
        </p:nvSpPr>
        <p:spPr>
          <a:xfrm>
            <a:off x="812800" y="3935735"/>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FDF8"/>
                </a:solidFill>
                <a:latin typeface="Source Serif 4" pitchFamily="18" charset="0"/>
                <a:ea typeface="Source Serif 4" pitchFamily="18" charset="-122"/>
                <a:cs typeface="Source Serif 4" pitchFamily="18" charset="-120"/>
              </a:rPr>
              <a:t>Thank you. Questions?</a:t>
            </a:r>
            <a:endParaRPr lang="en-US" sz="2800" dirty="0"/>
          </a:p>
        </p:txBody>
      </p:sp>
      <p:sp>
        <p:nvSpPr>
          <p:cNvPr id="16" name="Text 14"/>
          <p:cNvSpPr/>
          <p:nvPr/>
        </p:nvSpPr>
        <p:spPr>
          <a:xfrm>
            <a:off x="812800" y="6238255"/>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5"/>
          <p:cNvSpPr/>
          <p:nvPr/>
        </p:nvSpPr>
        <p:spPr>
          <a:xfrm>
            <a:off x="6146800" y="6238255"/>
            <a:ext cx="5232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Source: NASA POWER, 1990–2025 · 31 / 31</a:t>
            </a:r>
            <a:endParaRPr lang="en-US" sz="1200" dirty="0"/>
          </a:p>
        </p:txBody>
      </p:sp>
    </p:spTree>
  </p:cSld>
  <p:clrMapOvr>
    <a:masterClrMapping/>
  </p:clrMapOvr>
</p:sld>
</file>

<file path=ppt/theme/theme1.xml><?xml version="1.0" encoding="utf-8"?>
<a:theme xmlns:a="http://schemas.openxmlformats.org/drawingml/2006/main" name="Cairo Weather: Task 4 → Task 5">
  <a:themeElements>
    <a:clrScheme name="Cairo Weather: Task 4 → Task 5">
      <a:dk1>
        <a:srgbClr val="1B2733"/>
      </a:dk1>
      <a:lt1>
        <a:srgbClr val="F4EEE3"/>
      </a:lt1>
      <a:dk2>
        <a:srgbClr val="51595F"/>
      </a:dk2>
      <a:lt2>
        <a:srgbClr val="DEDAD1"/>
      </a:lt2>
      <a:accent1>
        <a:srgbClr val="C4501F"/>
      </a:accent1>
      <a:accent2>
        <a:srgbClr val="2563B0"/>
      </a:accent2>
      <a:accent3>
        <a:srgbClr val="F2945E"/>
      </a:accent3>
      <a:accent4>
        <a:srgbClr val="A9C1E3"/>
      </a:accent4>
      <a:accent5>
        <a:srgbClr val="1E3550"/>
      </a:accent5>
      <a:accent6>
        <a:srgbClr val="8DB8F2"/>
      </a:accent6>
      <a:hlink>
        <a:srgbClr val="0563C1"/>
      </a:hlink>
      <a:folHlink>
        <a:srgbClr val="954F72"/>
      </a:folHlink>
    </a:clrScheme>
    <a:fontScheme name="Cairo Weather: Task 4 → Task 5">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Cairo Weather: Task 4 → Task 5</dc:title>
  <dc:subject/>
  <dc:creator/>
  <cp:lastModifiedBy/>
  <cp:revision>1</cp:revision>
  <dcterms:created xsi:type="dcterms:W3CDTF">2026-10-21T12:56:05Z</dcterms:created>
  <dcterms:modified xsi:type="dcterms:W3CDTF">2026-10-21T12:56:05Z</dcterms:modified>
</cp:coreProperties>
</file>